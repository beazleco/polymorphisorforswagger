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 in one line: the business defines the interface, the interface is mapped onto the System of Record, and the System of Record never reaches back to change the interface's shape. Every example in this deck is taken from the credit card mapping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BIAN service domain interface answers a business question. A System of Record interface answers an implementation question. Neither is derivable from the other, which is why letting the second one set the shape of the first is not a shortcut but a change of authorship.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is not aesthetic. If the product sets the shape, then the product's release schedule sets your contract's release schedule, and the consumers absorb it. The standard has become a projection of one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anti-corruption layer argument in BIAN terms. The contract faces the business; the mapping faces the product. Consumers depend only on the contract, so a product change or a product replacement stops at the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categories of leak, each measured in the reference workbook. The last one is the tell: a vendor's misspelling of account, with three c's, appears in twelve mappings. Nothing in a business vocabulary would ever produce that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Twenty-two such pairs in this workbook alone. The point is not that the vendor chose badly, but that the vendor chose for a different purpose, and that a second vendor would choose differently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Ninety-five mappings in this workbook carry two or more levels of the vendor's own nesting. The misspelling in the first example, account with three c's, is now a permanent feature of that product's API and would become a permanent feature of any contract that copied its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operations in this workbook are served by more than one product call: three, five and three. In each case the decomposition reflects how the vendor built their screens, not how the business divides the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examples are real. Enabling a card is a business Initiate; the product happens to implement it as a PUT to an activate resource. Updating a card's details is a business Update; the product implements it as a DELETE to a cancel resource.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of Record is authoritative about coverage and silent about shape. This is why the Polymorphizer only ever subtracts: it uses the SOR to decide presence, and takes every name, every level of nesting and every operation boundary from the analyst's BIAN-shaped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ordinary events over the life of a product. In the upper row each one propagates to every consumer. In the lower row each one stops at the mapping. The cost is the same work done once, in the right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reason for adopting a standard in the first place assumes the contract is independent of what implements it. A contract shaped by the product delivers none of them, while still costing the effort of the mapping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design review needs questions that can be answered from the artefact rather than from opinion. These six can, and each one found something in the reference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Consumers depend on the contract. The contract depends on the business. The mapping depends on both, and is the only thing that does. Data flows up through the mapping at run time; shape never flows up at design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to leave people with: coverage comes from the System of Record, shape comes from the business. A tool that only ever subtracts cannot cross that line, which is why the generator has no ability to rename or restructure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321040" y="-1737360"/>
            <a:ext cx="6309360" cy="6309360"/>
          </a:xfrm>
          <a:prstGeom prst="ellipse">
            <a:avLst/>
          </a:prstGeom>
          <a:solidFill>
            <a:srgbClr val="141C46"/>
          </a:solidFill>
          <a:ln w="12700">
            <a:solidFill>
              <a:srgbClr val="333333"/>
            </a:solidFill>
            <a:prstDash val="solid"/>
          </a:ln>
        </p:spPr>
      </p:sp>
      <p:sp>
        <p:nvSpPr>
          <p:cNvPr id="3" name="Shape 1"/>
          <p:cNvSpPr/>
          <p:nvPr/>
        </p:nvSpPr>
        <p:spPr>
          <a:xfrm>
            <a:off x="10241280" y="3566160"/>
            <a:ext cx="2926080" cy="2926080"/>
          </a:xfrm>
          <a:prstGeom prst="ellipse">
            <a:avLst/>
          </a:prstGeom>
          <a:solidFill>
            <a:srgbClr val="141C46"/>
          </a:solidFill>
          <a:ln w="12700">
            <a:solidFill>
              <a:srgbClr val="333333"/>
            </a:solidFill>
            <a:prstDash val="solid"/>
          </a:ln>
        </p:spPr>
      </p:sp>
      <p:sp>
        <p:nvSpPr>
          <p:cNvPr id="4" name="Text 2"/>
          <p:cNvSpPr txBox="1"/>
          <p:nvPr/>
        </p:nvSpPr>
        <p:spPr>
          <a:xfrm>
            <a:off x="566928" y="1783080"/>
            <a:ext cx="768096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One direction of travel</a:t>
            </a:r>
            <a:endParaRPr lang="en-US" sz="4400" dirty="0"/>
          </a:p>
        </p:txBody>
      </p:sp>
      <p:sp>
        <p:nvSpPr>
          <p:cNvPr id="5" name="Text 3"/>
          <p:cNvSpPr txBox="1"/>
          <p:nvPr/>
        </p:nvSpPr>
        <p:spPr>
          <a:xfrm>
            <a:off x="566928" y="2670048"/>
            <a:ext cx="7498080" cy="822960"/>
          </a:xfrm>
          <a:prstGeom prst="rect">
            <a:avLst/>
          </a:prstGeom>
          <a:noFill/>
          <a:ln/>
        </p:spPr>
        <p:txBody>
          <a:bodyPr wrap="square" lIns="0" tIns="0" rIns="0" bIns="0" rtlCol="0" anchor="t"/>
          <a:lstStyle/>
          <a:p>
            <a:pPr indent="0" marL="0">
              <a:buNone/>
            </a:pPr>
            <a:r>
              <a:rPr lang="en-US" sz="1800" dirty="0">
                <a:solidFill>
                  <a:srgbClr val="CADCFC"/>
                </a:solidFill>
                <a:latin typeface="Calibri" pitchFamily="34" charset="0"/>
                <a:ea typeface="Calibri" pitchFamily="34" charset="-122"/>
                <a:cs typeface="Calibri" pitchFamily="34" charset="-120"/>
              </a:rPr>
              <a:t>Why the shape of a System of Record must not reach the BIAN interface</a:t>
            </a:r>
            <a:endParaRPr lang="en-US" sz="1800" dirty="0"/>
          </a:p>
        </p:txBody>
      </p:sp>
      <p:sp>
        <p:nvSpPr>
          <p:cNvPr id="6" name="Shape 4"/>
          <p:cNvSpPr/>
          <p:nvPr/>
        </p:nvSpPr>
        <p:spPr>
          <a:xfrm>
            <a:off x="566928" y="3794760"/>
            <a:ext cx="2286000" cy="475488"/>
          </a:xfrm>
          <a:prstGeom prst="roundRect">
            <a:avLst>
              <a:gd name="adj" fmla="val 15385"/>
            </a:avLst>
          </a:prstGeom>
          <a:solidFill>
            <a:srgbClr val="CADCFC"/>
          </a:solidFill>
          <a:ln w="12700">
            <a:solidFill>
              <a:srgbClr val="E2E8F1"/>
            </a:solidFill>
            <a:prstDash val="solid"/>
          </a:ln>
        </p:spPr>
      </p:sp>
      <p:sp>
        <p:nvSpPr>
          <p:cNvPr id="7" name="Text 5"/>
          <p:cNvSpPr txBox="1"/>
          <p:nvPr/>
        </p:nvSpPr>
        <p:spPr>
          <a:xfrm>
            <a:off x="640080" y="3794760"/>
            <a:ext cx="2139696" cy="47548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The business</a:t>
            </a:r>
            <a:endParaRPr lang="en-US" sz="1200" dirty="0"/>
          </a:p>
        </p:txBody>
      </p:sp>
      <p:sp>
        <p:nvSpPr>
          <p:cNvPr id="8" name="Shape 6"/>
          <p:cNvSpPr/>
          <p:nvPr/>
        </p:nvSpPr>
        <p:spPr>
          <a:xfrm>
            <a:off x="2907792" y="4032504"/>
            <a:ext cx="530352" cy="0"/>
          </a:xfrm>
          <a:prstGeom prst="line">
            <a:avLst/>
          </a:prstGeom>
          <a:noFill/>
          <a:ln w="28575">
            <a:solidFill>
              <a:srgbClr val="C9A227"/>
            </a:solidFill>
            <a:prstDash val="solid"/>
            <a:tailEnd type="triangle"/>
          </a:ln>
        </p:spPr>
      </p:sp>
      <p:sp>
        <p:nvSpPr>
          <p:cNvPr id="9" name="Shape 7"/>
          <p:cNvSpPr/>
          <p:nvPr/>
        </p:nvSpPr>
        <p:spPr>
          <a:xfrm>
            <a:off x="3493008" y="3794760"/>
            <a:ext cx="2286000" cy="475488"/>
          </a:xfrm>
          <a:prstGeom prst="roundRect">
            <a:avLst>
              <a:gd name="adj" fmla="val 15385"/>
            </a:avLst>
          </a:prstGeom>
          <a:solidFill>
            <a:srgbClr val="FFFFFF"/>
          </a:solidFill>
          <a:ln w="12700">
            <a:solidFill>
              <a:srgbClr val="CDD6E0"/>
            </a:solidFill>
            <a:prstDash val="solid"/>
          </a:ln>
        </p:spPr>
      </p:sp>
      <p:sp>
        <p:nvSpPr>
          <p:cNvPr id="10" name="Text 8"/>
          <p:cNvSpPr txBox="1"/>
          <p:nvPr/>
        </p:nvSpPr>
        <p:spPr>
          <a:xfrm>
            <a:off x="3566160" y="3794760"/>
            <a:ext cx="2139696" cy="47548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BIAN interface</a:t>
            </a:r>
            <a:endParaRPr lang="en-US" sz="1200" dirty="0"/>
          </a:p>
        </p:txBody>
      </p:sp>
      <p:sp>
        <p:nvSpPr>
          <p:cNvPr id="11" name="Shape 9"/>
          <p:cNvSpPr/>
          <p:nvPr/>
        </p:nvSpPr>
        <p:spPr>
          <a:xfrm>
            <a:off x="5833872" y="4032504"/>
            <a:ext cx="530352" cy="0"/>
          </a:xfrm>
          <a:prstGeom prst="line">
            <a:avLst/>
          </a:prstGeom>
          <a:noFill/>
          <a:ln w="28575">
            <a:solidFill>
              <a:srgbClr val="C9A227"/>
            </a:solidFill>
            <a:prstDash val="solid"/>
            <a:tailEnd type="triangle"/>
          </a:ln>
        </p:spPr>
      </p:sp>
      <p:sp>
        <p:nvSpPr>
          <p:cNvPr id="12" name="Shape 10"/>
          <p:cNvSpPr/>
          <p:nvPr/>
        </p:nvSpPr>
        <p:spPr>
          <a:xfrm>
            <a:off x="6419088" y="3794760"/>
            <a:ext cx="2286000" cy="475488"/>
          </a:xfrm>
          <a:prstGeom prst="roundRect">
            <a:avLst>
              <a:gd name="adj" fmla="val 15385"/>
            </a:avLst>
          </a:prstGeom>
          <a:solidFill>
            <a:srgbClr val="F6EFE2"/>
          </a:solidFill>
          <a:ln w="12700">
            <a:solidFill>
              <a:srgbClr val="DCC79E"/>
            </a:solidFill>
            <a:prstDash val="solid"/>
          </a:ln>
        </p:spPr>
      </p:sp>
      <p:sp>
        <p:nvSpPr>
          <p:cNvPr id="13" name="Text 11"/>
          <p:cNvSpPr txBox="1"/>
          <p:nvPr/>
        </p:nvSpPr>
        <p:spPr>
          <a:xfrm>
            <a:off x="6492240" y="3794760"/>
            <a:ext cx="2139696" cy="475488"/>
          </a:xfrm>
          <a:prstGeom prst="rect">
            <a:avLst/>
          </a:prstGeom>
          <a:noFill/>
          <a:ln/>
        </p:spPr>
        <p:txBody>
          <a:bodyPr wrap="square" lIns="0" tIns="0" rIns="0" bIns="0" rtlCol="0" anchor="ctr"/>
          <a:lstStyle/>
          <a:p>
            <a:pPr algn="ctr" indent="0" marL="0">
              <a:buNone/>
            </a:pPr>
            <a:r>
              <a:rPr lang="en-US" sz="1200" b="1" dirty="0">
                <a:solidFill>
                  <a:srgbClr val="6E4B1F"/>
                </a:solidFill>
                <a:latin typeface="Calibri" pitchFamily="34" charset="0"/>
                <a:ea typeface="Calibri" pitchFamily="34" charset="-122"/>
                <a:cs typeface="Calibri" pitchFamily="34" charset="-120"/>
              </a:rPr>
              <a:t>System of Record</a:t>
            </a:r>
            <a:endParaRPr lang="en-US" sz="1200" dirty="0"/>
          </a:p>
        </p:txBody>
      </p:sp>
      <p:sp>
        <p:nvSpPr>
          <p:cNvPr id="14" name="Text 12"/>
          <p:cNvSpPr txBox="1"/>
          <p:nvPr/>
        </p:nvSpPr>
        <p:spPr>
          <a:xfrm>
            <a:off x="566928" y="4507992"/>
            <a:ext cx="8229600" cy="365760"/>
          </a:xfrm>
          <a:prstGeom prst="rect">
            <a:avLst/>
          </a:prstGeom>
          <a:noFill/>
          <a:ln/>
        </p:spPr>
        <p:txBody>
          <a:bodyPr wrap="square" lIns="0" tIns="0" rIns="0" bIns="0" rtlCol="0" anchor="ctr"/>
          <a:lstStyle/>
          <a:p>
            <a:pPr indent="0" marL="0">
              <a:buNone/>
            </a:pPr>
            <a:r>
              <a:rPr lang="en-US" sz="1250" i="1" dirty="0">
                <a:solidFill>
                  <a:srgbClr val="C9A227"/>
                </a:solidFill>
                <a:latin typeface="Calibri" pitchFamily="34" charset="0"/>
                <a:ea typeface="Calibri" pitchFamily="34" charset="-122"/>
                <a:cs typeface="Calibri" pitchFamily="34" charset="-120"/>
              </a:rPr>
              <a:t>Definition flows one way. Nothing flows back.</a:t>
            </a:r>
            <a:endParaRPr lang="en-US" sz="1250" dirty="0"/>
          </a:p>
        </p:txBody>
      </p:sp>
      <p:sp>
        <p:nvSpPr>
          <p:cNvPr id="15" name="Text 13"/>
          <p:cNvSpPr txBox="1"/>
          <p:nvPr/>
        </p:nvSpPr>
        <p:spPr>
          <a:xfrm>
            <a:off x="566928" y="6035040"/>
            <a:ext cx="4572000" cy="292608"/>
          </a:xfrm>
          <a:prstGeom prst="rect">
            <a:avLst/>
          </a:prstGeom>
          <a:noFill/>
          <a:ln/>
        </p:spPr>
        <p:txBody>
          <a:bodyPr wrap="square" lIns="0" tIns="0" rIns="0" bIns="0" rtlCol="0" anchor="ctr"/>
          <a:lstStyle/>
          <a:p>
            <a:pPr indent="0" marL="0">
              <a:buNone/>
            </a:pPr>
            <a:r>
              <a:rPr lang="en-US" sz="1100" dirty="0">
                <a:solidFill>
                  <a:srgbClr val="9FBEEA"/>
                </a:solidFill>
                <a:latin typeface="Calibri" pitchFamily="34" charset="0"/>
                <a:ea typeface="Calibri" pitchFamily="34" charset="-122"/>
                <a:cs typeface="Calibri" pitchFamily="34" charset="-120"/>
              </a:rPr>
              <a:t>CC&amp;C Solutions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713232"/>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Two interfaces, two entirely different jobs</a:t>
            </a:r>
            <a:endParaRPr lang="en-US" sz="3400" dirty="0"/>
          </a:p>
        </p:txBody>
      </p:sp>
      <p:sp>
        <p:nvSpPr>
          <p:cNvPr id="3" name="Text 1"/>
          <p:cNvSpPr txBox="1"/>
          <p:nvPr/>
        </p:nvSpPr>
        <p:spPr>
          <a:xfrm>
            <a:off x="566928" y="1115568"/>
            <a:ext cx="11057839" cy="384048"/>
          </a:xfrm>
          <a:prstGeom prst="rect">
            <a:avLst/>
          </a:prstGeom>
          <a:noFill/>
          <a:ln/>
        </p:spPr>
        <p:txBody>
          <a:bodyPr wrap="square" lIns="0" tIns="0" rIns="0" bIns="0" rtlCol="0" anchor="t"/>
          <a:lstStyle/>
          <a:p>
            <a:pPr indent="0" marL="0">
              <a:buNone/>
            </a:pPr>
            <a:r>
              <a:rPr lang="en-US" sz="1400" dirty="0">
                <a:solidFill>
                  <a:srgbClr val="5C6A7A"/>
                </a:solidFill>
                <a:latin typeface="Calibri" pitchFamily="34" charset="0"/>
                <a:ea typeface="Calibri" pitchFamily="34" charset="-122"/>
                <a:cs typeface="Calibri" pitchFamily="34" charset="-120"/>
              </a:rPr>
              <a:t>They are not two versions of the same thing, so one cannot be derived from the other.</a:t>
            </a:r>
            <a:endParaRPr lang="en-US" sz="1400" dirty="0"/>
          </a:p>
        </p:txBody>
      </p:sp>
      <p:sp>
        <p:nvSpPr>
          <p:cNvPr id="4" name="Shape 2"/>
          <p:cNvSpPr/>
          <p:nvPr/>
        </p:nvSpPr>
        <p:spPr>
          <a:xfrm>
            <a:off x="566928" y="1828800"/>
            <a:ext cx="5349240" cy="3246120"/>
          </a:xfrm>
          <a:prstGeom prst="roundRect">
            <a:avLst>
              <a:gd name="adj" fmla="val 2254"/>
            </a:avLst>
          </a:prstGeom>
          <a:solidFill>
            <a:srgbClr val="F4F7FB"/>
          </a:solidFill>
          <a:ln w="12700">
            <a:solidFill>
              <a:srgbClr val="E2E8F1"/>
            </a:solidFill>
            <a:prstDash val="solid"/>
          </a:ln>
          <a:effectLst>
            <a:outerShdw sx="100000" sy="100000" kx="0" ky="0" algn="bl" rotWithShape="0" blurRad="101600" dist="17780" dir="5400000">
              <a:srgbClr val="9AA7B8">
                <a:alpha val="20000"/>
              </a:srgbClr>
            </a:outerShdw>
          </a:effectLst>
        </p:spPr>
      </p:sp>
      <p:sp>
        <p:nvSpPr>
          <p:cNvPr id="5" name="Shape 3"/>
          <p:cNvSpPr/>
          <p:nvPr/>
        </p:nvSpPr>
        <p:spPr>
          <a:xfrm>
            <a:off x="822960" y="2066544"/>
            <a:ext cx="1828800" cy="237744"/>
          </a:xfrm>
          <a:prstGeom prst="roundRect">
            <a:avLst>
              <a:gd name="adj" fmla="val 50000"/>
            </a:avLst>
          </a:prstGeom>
          <a:solidFill>
            <a:srgbClr val="CADCFC"/>
          </a:solidFill>
          <a:ln w="9525">
            <a:solidFill>
              <a:srgbClr val="9FBEEA"/>
            </a:solidFill>
            <a:prstDash val="solid"/>
          </a:ln>
        </p:spPr>
      </p:sp>
      <p:sp>
        <p:nvSpPr>
          <p:cNvPr id="6" name="Text 4"/>
          <p:cNvSpPr txBox="1"/>
          <p:nvPr/>
        </p:nvSpPr>
        <p:spPr>
          <a:xfrm>
            <a:off x="822960" y="2066544"/>
            <a:ext cx="1828800" cy="237744"/>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THE BIAN INTERFACE</a:t>
            </a:r>
            <a:endParaRPr lang="en-US" sz="950" dirty="0"/>
          </a:p>
        </p:txBody>
      </p:sp>
      <p:sp>
        <p:nvSpPr>
          <p:cNvPr id="7" name="Text 5"/>
          <p:cNvSpPr txBox="1"/>
          <p:nvPr/>
        </p:nvSpPr>
        <p:spPr>
          <a:xfrm>
            <a:off x="822960" y="2487168"/>
            <a:ext cx="1417320" cy="457200"/>
          </a:xfrm>
          <a:prstGeom prst="rect">
            <a:avLst/>
          </a:prstGeom>
          <a:noFill/>
          <a:ln/>
        </p:spPr>
        <p:txBody>
          <a:bodyPr wrap="square" lIns="0" tIns="0" rIns="0" bIns="0" rtlCol="0" anchor="t"/>
          <a:lstStyle/>
          <a:p>
            <a:pPr indent="0" marL="0">
              <a:buNone/>
            </a:pPr>
            <a:r>
              <a:rPr lang="en-US" sz="1050" b="1" dirty="0">
                <a:solidFill>
                  <a:srgbClr val="1E2761"/>
                </a:solidFill>
                <a:latin typeface="Calibri" pitchFamily="34" charset="0"/>
                <a:ea typeface="Calibri" pitchFamily="34" charset="-122"/>
                <a:cs typeface="Calibri" pitchFamily="34" charset="-120"/>
              </a:rPr>
              <a:t>What it is</a:t>
            </a:r>
            <a:endParaRPr lang="en-US" sz="1050" dirty="0"/>
          </a:p>
        </p:txBody>
      </p:sp>
      <p:sp>
        <p:nvSpPr>
          <p:cNvPr id="8" name="Text 6"/>
          <p:cNvSpPr txBox="1"/>
          <p:nvPr/>
        </p:nvSpPr>
        <p:spPr>
          <a:xfrm>
            <a:off x="2322576" y="2487168"/>
            <a:ext cx="3337560" cy="457200"/>
          </a:xfrm>
          <a:prstGeom prst="rect">
            <a:avLst/>
          </a:prstGeom>
          <a:noFill/>
          <a:ln/>
        </p:spPr>
        <p:txBody>
          <a:bodyPr wrap="square" lIns="0" tIns="0" rIns="0" bIns="0" rtlCol="0" anchor="t"/>
          <a:lstStyle/>
          <a:p>
            <a:pPr indent="0" marL="0">
              <a:buNone/>
            </a:pPr>
            <a:r>
              <a:rPr lang="en-US" sz="1100" dirty="0">
                <a:solidFill>
                  <a:srgbClr val="16202C"/>
                </a:solidFill>
                <a:latin typeface="Calibri" pitchFamily="34" charset="0"/>
                <a:ea typeface="Calibri" pitchFamily="34" charset="-122"/>
                <a:cs typeface="Calibri" pitchFamily="34" charset="-120"/>
              </a:rPr>
              <a:t>A statement of a business capability's boundary</a:t>
            </a:r>
            <a:endParaRPr lang="en-US" sz="1100" dirty="0"/>
          </a:p>
        </p:txBody>
      </p:sp>
      <p:sp>
        <p:nvSpPr>
          <p:cNvPr id="9" name="Text 7"/>
          <p:cNvSpPr txBox="1"/>
          <p:nvPr/>
        </p:nvSpPr>
        <p:spPr>
          <a:xfrm>
            <a:off x="822960" y="2999232"/>
            <a:ext cx="1417320" cy="457200"/>
          </a:xfrm>
          <a:prstGeom prst="rect">
            <a:avLst/>
          </a:prstGeom>
          <a:noFill/>
          <a:ln/>
        </p:spPr>
        <p:txBody>
          <a:bodyPr wrap="square" lIns="0" tIns="0" rIns="0" bIns="0" rtlCol="0" anchor="t"/>
          <a:lstStyle/>
          <a:p>
            <a:pPr indent="0" marL="0">
              <a:buNone/>
            </a:pPr>
            <a:r>
              <a:rPr lang="en-US" sz="1050" b="1" dirty="0">
                <a:solidFill>
                  <a:srgbClr val="1E2761"/>
                </a:solidFill>
                <a:latin typeface="Calibri" pitchFamily="34" charset="0"/>
                <a:ea typeface="Calibri" pitchFamily="34" charset="-122"/>
                <a:cs typeface="Calibri" pitchFamily="34" charset="-120"/>
              </a:rPr>
              <a:t>Who defines it</a:t>
            </a:r>
            <a:endParaRPr lang="en-US" sz="1050" dirty="0"/>
          </a:p>
        </p:txBody>
      </p:sp>
      <p:sp>
        <p:nvSpPr>
          <p:cNvPr id="10" name="Text 8"/>
          <p:cNvSpPr txBox="1"/>
          <p:nvPr/>
        </p:nvSpPr>
        <p:spPr>
          <a:xfrm>
            <a:off x="2322576" y="2999232"/>
            <a:ext cx="3337560" cy="457200"/>
          </a:xfrm>
          <a:prstGeom prst="rect">
            <a:avLst/>
          </a:prstGeom>
          <a:noFill/>
          <a:ln/>
        </p:spPr>
        <p:txBody>
          <a:bodyPr wrap="square" lIns="0" tIns="0" rIns="0" bIns="0" rtlCol="0" anchor="t"/>
          <a:lstStyle/>
          <a:p>
            <a:pPr indent="0" marL="0">
              <a:buNone/>
            </a:pPr>
            <a:r>
              <a:rPr lang="en-US" sz="1100" dirty="0">
                <a:solidFill>
                  <a:srgbClr val="16202C"/>
                </a:solidFill>
                <a:latin typeface="Calibri" pitchFamily="34" charset="0"/>
                <a:ea typeface="Calibri" pitchFamily="34" charset="-122"/>
                <a:cs typeface="Calibri" pitchFamily="34" charset="-120"/>
              </a:rPr>
              <a:t>The business, through the service domain and its action terms</a:t>
            </a:r>
            <a:endParaRPr lang="en-US" sz="1100" dirty="0"/>
          </a:p>
        </p:txBody>
      </p:sp>
      <p:sp>
        <p:nvSpPr>
          <p:cNvPr id="11" name="Text 9"/>
          <p:cNvSpPr txBox="1"/>
          <p:nvPr/>
        </p:nvSpPr>
        <p:spPr>
          <a:xfrm>
            <a:off x="822960" y="3511296"/>
            <a:ext cx="1417320" cy="457200"/>
          </a:xfrm>
          <a:prstGeom prst="rect">
            <a:avLst/>
          </a:prstGeom>
          <a:noFill/>
          <a:ln/>
        </p:spPr>
        <p:txBody>
          <a:bodyPr wrap="square" lIns="0" tIns="0" rIns="0" bIns="0" rtlCol="0" anchor="t"/>
          <a:lstStyle/>
          <a:p>
            <a:pPr indent="0" marL="0">
              <a:buNone/>
            </a:pPr>
            <a:r>
              <a:rPr lang="en-US" sz="1050" b="1" dirty="0">
                <a:solidFill>
                  <a:srgbClr val="1E2761"/>
                </a:solidFill>
                <a:latin typeface="Calibri" pitchFamily="34" charset="0"/>
                <a:ea typeface="Calibri" pitchFamily="34" charset="-122"/>
                <a:cs typeface="Calibri" pitchFamily="34" charset="-120"/>
              </a:rPr>
              <a:t>Whose words</a:t>
            </a:r>
            <a:endParaRPr lang="en-US" sz="1050" dirty="0"/>
          </a:p>
        </p:txBody>
      </p:sp>
      <p:sp>
        <p:nvSpPr>
          <p:cNvPr id="12" name="Text 10"/>
          <p:cNvSpPr txBox="1"/>
          <p:nvPr/>
        </p:nvSpPr>
        <p:spPr>
          <a:xfrm>
            <a:off x="2322576" y="3511296"/>
            <a:ext cx="3337560" cy="457200"/>
          </a:xfrm>
          <a:prstGeom prst="rect">
            <a:avLst/>
          </a:prstGeom>
          <a:noFill/>
          <a:ln/>
        </p:spPr>
        <p:txBody>
          <a:bodyPr wrap="square" lIns="0" tIns="0" rIns="0" bIns="0" rtlCol="0" anchor="t"/>
          <a:lstStyle/>
          <a:p>
            <a:pPr indent="0" marL="0">
              <a:buNone/>
            </a:pPr>
            <a:r>
              <a:rPr lang="en-US" sz="1100" dirty="0">
                <a:solidFill>
                  <a:srgbClr val="16202C"/>
                </a:solidFill>
                <a:latin typeface="Calibri" pitchFamily="34" charset="0"/>
                <a:ea typeface="Calibri" pitchFamily="34" charset="-122"/>
                <a:cs typeface="Calibri" pitchFamily="34" charset="-120"/>
              </a:rPr>
              <a:t>Banking's: issued device, party, behaviour qualifier</a:t>
            </a:r>
            <a:endParaRPr lang="en-US" sz="1100" dirty="0"/>
          </a:p>
        </p:txBody>
      </p:sp>
      <p:sp>
        <p:nvSpPr>
          <p:cNvPr id="13" name="Text 11"/>
          <p:cNvSpPr txBox="1"/>
          <p:nvPr/>
        </p:nvSpPr>
        <p:spPr>
          <a:xfrm>
            <a:off x="822960" y="4023360"/>
            <a:ext cx="1417320" cy="457200"/>
          </a:xfrm>
          <a:prstGeom prst="rect">
            <a:avLst/>
          </a:prstGeom>
          <a:noFill/>
          <a:ln/>
        </p:spPr>
        <p:txBody>
          <a:bodyPr wrap="square" lIns="0" tIns="0" rIns="0" bIns="0" rtlCol="0" anchor="t"/>
          <a:lstStyle/>
          <a:p>
            <a:pPr indent="0" marL="0">
              <a:buNone/>
            </a:pPr>
            <a:r>
              <a:rPr lang="en-US" sz="1050" b="1" dirty="0">
                <a:solidFill>
                  <a:srgbClr val="1E2761"/>
                </a:solidFill>
                <a:latin typeface="Calibri" pitchFamily="34" charset="0"/>
                <a:ea typeface="Calibri" pitchFamily="34" charset="-122"/>
                <a:cs typeface="Calibri" pitchFamily="34" charset="-120"/>
              </a:rPr>
              <a:t>When it changes</a:t>
            </a:r>
            <a:endParaRPr lang="en-US" sz="1050" dirty="0"/>
          </a:p>
        </p:txBody>
      </p:sp>
      <p:sp>
        <p:nvSpPr>
          <p:cNvPr id="14" name="Text 12"/>
          <p:cNvSpPr txBox="1"/>
          <p:nvPr/>
        </p:nvSpPr>
        <p:spPr>
          <a:xfrm>
            <a:off x="2322576" y="4023360"/>
            <a:ext cx="3337560" cy="457200"/>
          </a:xfrm>
          <a:prstGeom prst="rect">
            <a:avLst/>
          </a:prstGeom>
          <a:noFill/>
          <a:ln/>
        </p:spPr>
        <p:txBody>
          <a:bodyPr wrap="square" lIns="0" tIns="0" rIns="0" bIns="0" rtlCol="0" anchor="t"/>
          <a:lstStyle/>
          <a:p>
            <a:pPr indent="0" marL="0">
              <a:buNone/>
            </a:pPr>
            <a:r>
              <a:rPr lang="en-US" sz="1100" dirty="0">
                <a:solidFill>
                  <a:srgbClr val="16202C"/>
                </a:solidFill>
                <a:latin typeface="Calibri" pitchFamily="34" charset="0"/>
                <a:ea typeface="Calibri" pitchFamily="34" charset="-122"/>
                <a:cs typeface="Calibri" pitchFamily="34" charset="-120"/>
              </a:rPr>
              <a:t>When the capability changes, which is rarely</a:t>
            </a:r>
            <a:endParaRPr lang="en-US" sz="1100" dirty="0"/>
          </a:p>
        </p:txBody>
      </p:sp>
      <p:sp>
        <p:nvSpPr>
          <p:cNvPr id="15" name="Text 13"/>
          <p:cNvSpPr txBox="1"/>
          <p:nvPr/>
        </p:nvSpPr>
        <p:spPr>
          <a:xfrm>
            <a:off x="822960" y="4535424"/>
            <a:ext cx="1417320" cy="457200"/>
          </a:xfrm>
          <a:prstGeom prst="rect">
            <a:avLst/>
          </a:prstGeom>
          <a:noFill/>
          <a:ln/>
        </p:spPr>
        <p:txBody>
          <a:bodyPr wrap="square" lIns="0" tIns="0" rIns="0" bIns="0" rtlCol="0" anchor="t"/>
          <a:lstStyle/>
          <a:p>
            <a:pPr indent="0" marL="0">
              <a:buNone/>
            </a:pPr>
            <a:r>
              <a:rPr lang="en-US" sz="1050" b="1" dirty="0">
                <a:solidFill>
                  <a:srgbClr val="1E2761"/>
                </a:solidFill>
                <a:latin typeface="Calibri" pitchFamily="34" charset="0"/>
                <a:ea typeface="Calibri" pitchFamily="34" charset="-122"/>
                <a:cs typeface="Calibri" pitchFamily="34" charset="-120"/>
              </a:rPr>
              <a:t>How many exist</a:t>
            </a:r>
            <a:endParaRPr lang="en-US" sz="1050" dirty="0"/>
          </a:p>
        </p:txBody>
      </p:sp>
      <p:sp>
        <p:nvSpPr>
          <p:cNvPr id="16" name="Text 14"/>
          <p:cNvSpPr txBox="1"/>
          <p:nvPr/>
        </p:nvSpPr>
        <p:spPr>
          <a:xfrm>
            <a:off x="2322576" y="4535424"/>
            <a:ext cx="3337560" cy="457200"/>
          </a:xfrm>
          <a:prstGeom prst="rect">
            <a:avLst/>
          </a:prstGeom>
          <a:noFill/>
          <a:ln/>
        </p:spPr>
        <p:txBody>
          <a:bodyPr wrap="square" lIns="0" tIns="0" rIns="0" bIns="0" rtlCol="0" anchor="t"/>
          <a:lstStyle/>
          <a:p>
            <a:pPr indent="0" marL="0">
              <a:buNone/>
            </a:pPr>
            <a:r>
              <a:rPr lang="en-US" sz="1100" dirty="0">
                <a:solidFill>
                  <a:srgbClr val="16202C"/>
                </a:solidFill>
                <a:latin typeface="Calibri" pitchFamily="34" charset="0"/>
                <a:ea typeface="Calibri" pitchFamily="34" charset="-122"/>
                <a:cs typeface="Calibri" pitchFamily="34" charset="-120"/>
              </a:rPr>
              <a:t>One per service domain, whatever sits behind it</a:t>
            </a:r>
            <a:endParaRPr lang="en-US" sz="1100" dirty="0"/>
          </a:p>
        </p:txBody>
      </p:sp>
      <p:sp>
        <p:nvSpPr>
          <p:cNvPr id="17" name="Shape 15"/>
          <p:cNvSpPr/>
          <p:nvPr/>
        </p:nvSpPr>
        <p:spPr>
          <a:xfrm>
            <a:off x="6236208" y="1828800"/>
            <a:ext cx="5349240" cy="3246120"/>
          </a:xfrm>
          <a:prstGeom prst="roundRect">
            <a:avLst>
              <a:gd name="adj" fmla="val 2254"/>
            </a:avLst>
          </a:prstGeom>
          <a:solidFill>
            <a:srgbClr val="F6EFE2"/>
          </a:solidFill>
          <a:ln w="12700">
            <a:solidFill>
              <a:srgbClr val="DCC79E"/>
            </a:solidFill>
            <a:prstDash val="solid"/>
          </a:ln>
          <a:effectLst>
            <a:outerShdw sx="100000" sy="100000" kx="0" ky="0" algn="bl" rotWithShape="0" blurRad="101600" dist="17780" dir="5400000">
              <a:srgbClr val="9AA7B8">
                <a:alpha val="20000"/>
              </a:srgbClr>
            </a:outerShdw>
          </a:effectLst>
        </p:spPr>
      </p:sp>
      <p:sp>
        <p:nvSpPr>
          <p:cNvPr id="18" name="Shape 16"/>
          <p:cNvSpPr/>
          <p:nvPr/>
        </p:nvSpPr>
        <p:spPr>
          <a:xfrm>
            <a:off x="6492240" y="2066544"/>
            <a:ext cx="2834640" cy="237744"/>
          </a:xfrm>
          <a:prstGeom prst="roundRect">
            <a:avLst>
              <a:gd name="adj" fmla="val 50000"/>
            </a:avLst>
          </a:prstGeom>
          <a:solidFill>
            <a:srgbClr val="F6EFE2"/>
          </a:solidFill>
          <a:ln w="9525">
            <a:solidFill>
              <a:srgbClr val="DCC79E"/>
            </a:solidFill>
            <a:prstDash val="solid"/>
          </a:ln>
        </p:spPr>
      </p:sp>
      <p:sp>
        <p:nvSpPr>
          <p:cNvPr id="19" name="Text 17"/>
          <p:cNvSpPr txBox="1"/>
          <p:nvPr/>
        </p:nvSpPr>
        <p:spPr>
          <a:xfrm>
            <a:off x="6492240" y="2066544"/>
            <a:ext cx="2834640" cy="237744"/>
          </a:xfrm>
          <a:prstGeom prst="rect">
            <a:avLst/>
          </a:prstGeom>
          <a:noFill/>
          <a:ln/>
        </p:spPr>
        <p:txBody>
          <a:bodyPr wrap="square" lIns="0" tIns="0" rIns="0" bIns="0" rtlCol="0" anchor="ctr"/>
          <a:lstStyle/>
          <a:p>
            <a:pPr algn="ctr" indent="0" marL="0">
              <a:buNone/>
            </a:pPr>
            <a:r>
              <a:rPr lang="en-US" sz="950" b="1" dirty="0">
                <a:solidFill>
                  <a:srgbClr val="6E4B1F"/>
                </a:solidFill>
                <a:latin typeface="Calibri" pitchFamily="34" charset="0"/>
                <a:ea typeface="Calibri" pitchFamily="34" charset="-122"/>
                <a:cs typeface="Calibri" pitchFamily="34" charset="-120"/>
              </a:rPr>
              <a:t>THE SYSTEM OF RECORD INTERFACE</a:t>
            </a:r>
            <a:endParaRPr lang="en-US" sz="950" dirty="0"/>
          </a:p>
        </p:txBody>
      </p:sp>
      <p:sp>
        <p:nvSpPr>
          <p:cNvPr id="20" name="Text 18"/>
          <p:cNvSpPr txBox="1"/>
          <p:nvPr/>
        </p:nvSpPr>
        <p:spPr>
          <a:xfrm>
            <a:off x="6492240" y="2487168"/>
            <a:ext cx="1417320" cy="457200"/>
          </a:xfrm>
          <a:prstGeom prst="rect">
            <a:avLst/>
          </a:prstGeom>
          <a:noFill/>
          <a:ln/>
        </p:spPr>
        <p:txBody>
          <a:bodyPr wrap="square" lIns="0" tIns="0" rIns="0" bIns="0" rtlCol="0" anchor="t"/>
          <a:lstStyle/>
          <a:p>
            <a:pPr indent="0" marL="0">
              <a:buNone/>
            </a:pPr>
            <a:r>
              <a:rPr lang="en-US" sz="1050" b="1" dirty="0">
                <a:solidFill>
                  <a:srgbClr val="6E4B1F"/>
                </a:solidFill>
                <a:latin typeface="Calibri" pitchFamily="34" charset="0"/>
                <a:ea typeface="Calibri" pitchFamily="34" charset="-122"/>
                <a:cs typeface="Calibri" pitchFamily="34" charset="-120"/>
              </a:rPr>
              <a:t>What it is</a:t>
            </a:r>
            <a:endParaRPr lang="en-US" sz="1050" dirty="0"/>
          </a:p>
        </p:txBody>
      </p:sp>
      <p:sp>
        <p:nvSpPr>
          <p:cNvPr id="21" name="Text 19"/>
          <p:cNvSpPr txBox="1"/>
          <p:nvPr/>
        </p:nvSpPr>
        <p:spPr>
          <a:xfrm>
            <a:off x="7991856" y="2487168"/>
            <a:ext cx="3337560" cy="457200"/>
          </a:xfrm>
          <a:prstGeom prst="rect">
            <a:avLst/>
          </a:prstGeom>
          <a:noFill/>
          <a:ln/>
        </p:spPr>
        <p:txBody>
          <a:bodyPr wrap="square" lIns="0" tIns="0" rIns="0" bIns="0" rtlCol="0" anchor="t"/>
          <a:lstStyle/>
          <a:p>
            <a:pPr indent="0" marL="0">
              <a:buNone/>
            </a:pPr>
            <a:r>
              <a:rPr lang="en-US" sz="1100" dirty="0">
                <a:solidFill>
                  <a:srgbClr val="16202C"/>
                </a:solidFill>
                <a:latin typeface="Calibri" pitchFamily="34" charset="0"/>
                <a:ea typeface="Calibri" pitchFamily="34" charset="-122"/>
                <a:cs typeface="Calibri" pitchFamily="34" charset="-120"/>
              </a:rPr>
              <a:t>A statement of how one product stores and moves data</a:t>
            </a:r>
            <a:endParaRPr lang="en-US" sz="1100" dirty="0"/>
          </a:p>
        </p:txBody>
      </p:sp>
      <p:sp>
        <p:nvSpPr>
          <p:cNvPr id="22" name="Text 20"/>
          <p:cNvSpPr txBox="1"/>
          <p:nvPr/>
        </p:nvSpPr>
        <p:spPr>
          <a:xfrm>
            <a:off x="6492240" y="2999232"/>
            <a:ext cx="1417320" cy="457200"/>
          </a:xfrm>
          <a:prstGeom prst="rect">
            <a:avLst/>
          </a:prstGeom>
          <a:noFill/>
          <a:ln/>
        </p:spPr>
        <p:txBody>
          <a:bodyPr wrap="square" lIns="0" tIns="0" rIns="0" bIns="0" rtlCol="0" anchor="t"/>
          <a:lstStyle/>
          <a:p>
            <a:pPr indent="0" marL="0">
              <a:buNone/>
            </a:pPr>
            <a:r>
              <a:rPr lang="en-US" sz="1050" b="1" dirty="0">
                <a:solidFill>
                  <a:srgbClr val="6E4B1F"/>
                </a:solidFill>
                <a:latin typeface="Calibri" pitchFamily="34" charset="0"/>
                <a:ea typeface="Calibri" pitchFamily="34" charset="-122"/>
                <a:cs typeface="Calibri" pitchFamily="34" charset="-120"/>
              </a:rPr>
              <a:t>Who defines it</a:t>
            </a:r>
            <a:endParaRPr lang="en-US" sz="1050" dirty="0"/>
          </a:p>
        </p:txBody>
      </p:sp>
      <p:sp>
        <p:nvSpPr>
          <p:cNvPr id="23" name="Text 21"/>
          <p:cNvSpPr txBox="1"/>
          <p:nvPr/>
        </p:nvSpPr>
        <p:spPr>
          <a:xfrm>
            <a:off x="7991856" y="2999232"/>
            <a:ext cx="3337560" cy="457200"/>
          </a:xfrm>
          <a:prstGeom prst="rect">
            <a:avLst/>
          </a:prstGeom>
          <a:noFill/>
          <a:ln/>
        </p:spPr>
        <p:txBody>
          <a:bodyPr wrap="square" lIns="0" tIns="0" rIns="0" bIns="0" rtlCol="0" anchor="t"/>
          <a:lstStyle/>
          <a:p>
            <a:pPr indent="0" marL="0">
              <a:buNone/>
            </a:pPr>
            <a:r>
              <a:rPr lang="en-US" sz="1100" dirty="0">
                <a:solidFill>
                  <a:srgbClr val="16202C"/>
                </a:solidFill>
                <a:latin typeface="Calibri" pitchFamily="34" charset="0"/>
                <a:ea typeface="Calibri" pitchFamily="34" charset="-122"/>
                <a:cs typeface="Calibri" pitchFamily="34" charset="-120"/>
              </a:rPr>
              <a:t>The vendor, through their data model and release plan</a:t>
            </a:r>
            <a:endParaRPr lang="en-US" sz="1100" dirty="0"/>
          </a:p>
        </p:txBody>
      </p:sp>
      <p:sp>
        <p:nvSpPr>
          <p:cNvPr id="24" name="Text 22"/>
          <p:cNvSpPr txBox="1"/>
          <p:nvPr/>
        </p:nvSpPr>
        <p:spPr>
          <a:xfrm>
            <a:off x="6492240" y="3511296"/>
            <a:ext cx="1417320" cy="457200"/>
          </a:xfrm>
          <a:prstGeom prst="rect">
            <a:avLst/>
          </a:prstGeom>
          <a:noFill/>
          <a:ln/>
        </p:spPr>
        <p:txBody>
          <a:bodyPr wrap="square" lIns="0" tIns="0" rIns="0" bIns="0" rtlCol="0" anchor="t"/>
          <a:lstStyle/>
          <a:p>
            <a:pPr indent="0" marL="0">
              <a:buNone/>
            </a:pPr>
            <a:r>
              <a:rPr lang="en-US" sz="1050" b="1" dirty="0">
                <a:solidFill>
                  <a:srgbClr val="6E4B1F"/>
                </a:solidFill>
                <a:latin typeface="Calibri" pitchFamily="34" charset="0"/>
                <a:ea typeface="Calibri" pitchFamily="34" charset="-122"/>
                <a:cs typeface="Calibri" pitchFamily="34" charset="-120"/>
              </a:rPr>
              <a:t>Whose words</a:t>
            </a:r>
            <a:endParaRPr lang="en-US" sz="1050" dirty="0"/>
          </a:p>
        </p:txBody>
      </p:sp>
      <p:sp>
        <p:nvSpPr>
          <p:cNvPr id="25" name="Text 23"/>
          <p:cNvSpPr txBox="1"/>
          <p:nvPr/>
        </p:nvSpPr>
        <p:spPr>
          <a:xfrm>
            <a:off x="7991856" y="3511296"/>
            <a:ext cx="3337560" cy="457200"/>
          </a:xfrm>
          <a:prstGeom prst="rect">
            <a:avLst/>
          </a:prstGeom>
          <a:noFill/>
          <a:ln/>
        </p:spPr>
        <p:txBody>
          <a:bodyPr wrap="square" lIns="0" tIns="0" rIns="0" bIns="0" rtlCol="0" anchor="t"/>
          <a:lstStyle/>
          <a:p>
            <a:pPr indent="0" marL="0">
              <a:buNone/>
            </a:pPr>
            <a:r>
              <a:rPr lang="en-US" sz="1100" dirty="0">
                <a:solidFill>
                  <a:srgbClr val="16202C"/>
                </a:solidFill>
                <a:latin typeface="Calibri" pitchFamily="34" charset="0"/>
                <a:ea typeface="Calibri" pitchFamily="34" charset="-122"/>
                <a:cs typeface="Calibri" pitchFamily="34" charset="-120"/>
              </a:rPr>
              <a:t>The product's: cardToken, panSequence, posEntryMode</a:t>
            </a:r>
            <a:endParaRPr lang="en-US" sz="1100" dirty="0"/>
          </a:p>
        </p:txBody>
      </p:sp>
      <p:sp>
        <p:nvSpPr>
          <p:cNvPr id="26" name="Text 24"/>
          <p:cNvSpPr txBox="1"/>
          <p:nvPr/>
        </p:nvSpPr>
        <p:spPr>
          <a:xfrm>
            <a:off x="6492240" y="4023360"/>
            <a:ext cx="1417320" cy="457200"/>
          </a:xfrm>
          <a:prstGeom prst="rect">
            <a:avLst/>
          </a:prstGeom>
          <a:noFill/>
          <a:ln/>
        </p:spPr>
        <p:txBody>
          <a:bodyPr wrap="square" lIns="0" tIns="0" rIns="0" bIns="0" rtlCol="0" anchor="t"/>
          <a:lstStyle/>
          <a:p>
            <a:pPr indent="0" marL="0">
              <a:buNone/>
            </a:pPr>
            <a:r>
              <a:rPr lang="en-US" sz="1050" b="1" dirty="0">
                <a:solidFill>
                  <a:srgbClr val="6E4B1F"/>
                </a:solidFill>
                <a:latin typeface="Calibri" pitchFamily="34" charset="0"/>
                <a:ea typeface="Calibri" pitchFamily="34" charset="-122"/>
                <a:cs typeface="Calibri" pitchFamily="34" charset="-120"/>
              </a:rPr>
              <a:t>When it changes</a:t>
            </a:r>
            <a:endParaRPr lang="en-US" sz="1050" dirty="0"/>
          </a:p>
        </p:txBody>
      </p:sp>
      <p:sp>
        <p:nvSpPr>
          <p:cNvPr id="27" name="Text 25"/>
          <p:cNvSpPr txBox="1"/>
          <p:nvPr/>
        </p:nvSpPr>
        <p:spPr>
          <a:xfrm>
            <a:off x="7991856" y="4023360"/>
            <a:ext cx="3337560" cy="457200"/>
          </a:xfrm>
          <a:prstGeom prst="rect">
            <a:avLst/>
          </a:prstGeom>
          <a:noFill/>
          <a:ln/>
        </p:spPr>
        <p:txBody>
          <a:bodyPr wrap="square" lIns="0" tIns="0" rIns="0" bIns="0" rtlCol="0" anchor="t"/>
          <a:lstStyle/>
          <a:p>
            <a:pPr indent="0" marL="0">
              <a:buNone/>
            </a:pPr>
            <a:r>
              <a:rPr lang="en-US" sz="1100" dirty="0">
                <a:solidFill>
                  <a:srgbClr val="16202C"/>
                </a:solidFill>
                <a:latin typeface="Calibri" pitchFamily="34" charset="0"/>
                <a:ea typeface="Calibri" pitchFamily="34" charset="-122"/>
                <a:cs typeface="Calibri" pitchFamily="34" charset="-120"/>
              </a:rPr>
              <a:t>On the vendor's schedule, and on replacement</a:t>
            </a:r>
            <a:endParaRPr lang="en-US" sz="1100" dirty="0"/>
          </a:p>
        </p:txBody>
      </p:sp>
      <p:sp>
        <p:nvSpPr>
          <p:cNvPr id="28" name="Text 26"/>
          <p:cNvSpPr txBox="1"/>
          <p:nvPr/>
        </p:nvSpPr>
        <p:spPr>
          <a:xfrm>
            <a:off x="6492240" y="4535424"/>
            <a:ext cx="1417320" cy="457200"/>
          </a:xfrm>
          <a:prstGeom prst="rect">
            <a:avLst/>
          </a:prstGeom>
          <a:noFill/>
          <a:ln/>
        </p:spPr>
        <p:txBody>
          <a:bodyPr wrap="square" lIns="0" tIns="0" rIns="0" bIns="0" rtlCol="0" anchor="t"/>
          <a:lstStyle/>
          <a:p>
            <a:pPr indent="0" marL="0">
              <a:buNone/>
            </a:pPr>
            <a:r>
              <a:rPr lang="en-US" sz="1050" b="1" dirty="0">
                <a:solidFill>
                  <a:srgbClr val="6E4B1F"/>
                </a:solidFill>
                <a:latin typeface="Calibri" pitchFamily="34" charset="0"/>
                <a:ea typeface="Calibri" pitchFamily="34" charset="-122"/>
                <a:cs typeface="Calibri" pitchFamily="34" charset="-120"/>
              </a:rPr>
              <a:t>How many exist</a:t>
            </a:r>
            <a:endParaRPr lang="en-US" sz="1050" dirty="0"/>
          </a:p>
        </p:txBody>
      </p:sp>
      <p:sp>
        <p:nvSpPr>
          <p:cNvPr id="29" name="Text 27"/>
          <p:cNvSpPr txBox="1"/>
          <p:nvPr/>
        </p:nvSpPr>
        <p:spPr>
          <a:xfrm>
            <a:off x="7991856" y="4535424"/>
            <a:ext cx="3337560" cy="457200"/>
          </a:xfrm>
          <a:prstGeom prst="rect">
            <a:avLst/>
          </a:prstGeom>
          <a:noFill/>
          <a:ln/>
        </p:spPr>
        <p:txBody>
          <a:bodyPr wrap="square" lIns="0" tIns="0" rIns="0" bIns="0" rtlCol="0" anchor="t"/>
          <a:lstStyle/>
          <a:p>
            <a:pPr indent="0" marL="0">
              <a:buNone/>
            </a:pPr>
            <a:r>
              <a:rPr lang="en-US" sz="1100" dirty="0">
                <a:solidFill>
                  <a:srgbClr val="16202C"/>
                </a:solidFill>
                <a:latin typeface="Calibri" pitchFamily="34" charset="0"/>
                <a:ea typeface="Calibri" pitchFamily="34" charset="-122"/>
                <a:cs typeface="Calibri" pitchFamily="34" charset="-120"/>
              </a:rPr>
              <a:t>As many as the estate happens to contain</a:t>
            </a:r>
            <a:endParaRPr lang="en-US" sz="1100" dirty="0"/>
          </a:p>
        </p:txBody>
      </p:sp>
      <p:sp>
        <p:nvSpPr>
          <p:cNvPr id="30" name="Shape 28"/>
          <p:cNvSpPr/>
          <p:nvPr/>
        </p:nvSpPr>
        <p:spPr>
          <a:xfrm>
            <a:off x="566928" y="5367528"/>
            <a:ext cx="11057839" cy="640080"/>
          </a:xfrm>
          <a:prstGeom prst="roundRect">
            <a:avLst>
              <a:gd name="adj" fmla="val 11429"/>
            </a:avLst>
          </a:prstGeom>
          <a:solidFill>
            <a:srgbClr val="1E2761"/>
          </a:solidFill>
          <a:ln w="12700">
            <a:solidFill>
              <a:srgbClr val="1E2761"/>
            </a:solidFill>
            <a:prstDash val="solid"/>
          </a:ln>
        </p:spPr>
      </p:sp>
      <p:sp>
        <p:nvSpPr>
          <p:cNvPr id="31" name="Text 29"/>
          <p:cNvSpPr txBox="1"/>
          <p:nvPr/>
        </p:nvSpPr>
        <p:spPr>
          <a:xfrm>
            <a:off x="841248" y="5367528"/>
            <a:ext cx="10509199" cy="6400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Different authors, different vocabularies, different rates of change.  </a:t>
            </a:r>
            <a:pPr indent="0" marL="0">
              <a:buNone/>
            </a:pPr>
            <a:r>
              <a:rPr lang="en-US" sz="1250" dirty="0">
                <a:solidFill>
                  <a:srgbClr val="CADCFC"/>
                </a:solidFill>
                <a:latin typeface="Calibri" pitchFamily="34" charset="0"/>
                <a:ea typeface="Calibri" pitchFamily="34" charset="-122"/>
                <a:cs typeface="Calibri" pitchFamily="34" charset="-120"/>
              </a:rPr>
              <a:t>A contract that inherits its shape from the second one has quietly changed author.</a:t>
            </a:r>
            <a:endParaRPr lang="en-US" sz="1300" dirty="0"/>
          </a:p>
        </p:txBody>
      </p:sp>
      <p:sp>
        <p:nvSpPr>
          <p:cNvPr id="32" name="Text 30"/>
          <p:cNvSpPr txBox="1"/>
          <p:nvPr/>
        </p:nvSpPr>
        <p:spPr>
          <a:xfrm>
            <a:off x="566928" y="6455664"/>
            <a:ext cx="5486400" cy="256032"/>
          </a:xfrm>
          <a:prstGeom prst="rect">
            <a:avLst/>
          </a:prstGeom>
          <a:noFill/>
          <a:ln/>
        </p:spPr>
        <p:txBody>
          <a:bodyPr wrap="square" lIns="0" tIns="0" rIns="0" bIns="0" rtlCol="0" anchor="ctr"/>
          <a:lstStyle/>
          <a:p>
            <a:pPr indent="0" marL="0">
              <a:buNone/>
            </a:pPr>
            <a:r>
              <a:rPr lang="en-US" sz="850" dirty="0">
                <a:solidFill>
                  <a:srgbClr val="8A97A6"/>
                </a:solidFill>
                <a:latin typeface="Calibri" pitchFamily="34" charset="0"/>
                <a:ea typeface="Calibri" pitchFamily="34" charset="-122"/>
                <a:cs typeface="Calibri" pitchFamily="34" charset="-120"/>
              </a:rPr>
              <a:t>The BIAN interface and the System of Record  ·  CC&amp;C Solutions</a:t>
            </a:r>
            <a:endParaRPr lang="en-US" sz="850" dirty="0"/>
          </a:p>
        </p:txBody>
      </p:sp>
      <p:sp>
        <p:nvSpPr>
          <p:cNvPr id="33" name="Text 31"/>
          <p:cNvSpPr txBox="1"/>
          <p:nvPr/>
        </p:nvSpPr>
        <p:spPr>
          <a:xfrm>
            <a:off x="11076127" y="6455664"/>
            <a:ext cx="548640" cy="256032"/>
          </a:xfrm>
          <a:prstGeom prst="rect">
            <a:avLst/>
          </a:prstGeom>
          <a:noFill/>
          <a:ln/>
        </p:spPr>
        <p:txBody>
          <a:bodyPr wrap="square" lIns="0" tIns="0" rIns="0" bIns="0" rtlCol="0" anchor="ctr"/>
          <a:lstStyle/>
          <a:p>
            <a:pPr algn="r" indent="0" marL="0">
              <a:buNone/>
            </a:pPr>
            <a:r>
              <a:rPr lang="en-US" sz="900" dirty="0">
                <a:solidFill>
                  <a:srgbClr val="8A97A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713232"/>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Drawn the wrong way, the vendor writes your contract</a:t>
            </a:r>
            <a:endParaRPr lang="en-US" sz="3400" dirty="0"/>
          </a:p>
        </p:txBody>
      </p:sp>
      <p:sp>
        <p:nvSpPr>
          <p:cNvPr id="3" name="Text 1"/>
          <p:cNvSpPr txBox="1"/>
          <p:nvPr/>
        </p:nvSpPr>
        <p:spPr>
          <a:xfrm>
            <a:off x="566928" y="1115568"/>
            <a:ext cx="5943600" cy="384048"/>
          </a:xfrm>
          <a:prstGeom prst="rect">
            <a:avLst/>
          </a:prstGeom>
          <a:noFill/>
          <a:ln/>
        </p:spPr>
        <p:txBody>
          <a:bodyPr wrap="square" lIns="0" tIns="0" rIns="0" bIns="0" rtlCol="0" anchor="t"/>
          <a:lstStyle/>
          <a:p>
            <a:pPr indent="0" marL="0">
              <a:buNone/>
            </a:pPr>
            <a:r>
              <a:rPr lang="en-US" sz="1400" dirty="0">
                <a:solidFill>
                  <a:srgbClr val="5C6A7A"/>
                </a:solidFill>
                <a:latin typeface="Calibri" pitchFamily="34" charset="0"/>
                <a:ea typeface="Calibri" pitchFamily="34" charset="-122"/>
                <a:cs typeface="Calibri" pitchFamily="34" charset="-120"/>
              </a:rPr>
              <a:t>If the shape comes from the product, then every product change is a contract change.</a:t>
            </a:r>
            <a:endParaRPr lang="en-US" sz="1400" dirty="0"/>
          </a:p>
        </p:txBody>
      </p:sp>
      <p:sp>
        <p:nvSpPr>
          <p:cNvPr id="4" name="Shape 2"/>
          <p:cNvSpPr/>
          <p:nvPr/>
        </p:nvSpPr>
        <p:spPr>
          <a:xfrm>
            <a:off x="566928" y="2194560"/>
            <a:ext cx="2377440" cy="566928"/>
          </a:xfrm>
          <a:prstGeom prst="roundRect">
            <a:avLst>
              <a:gd name="adj" fmla="val 12903"/>
            </a:avLst>
          </a:prstGeom>
          <a:solidFill>
            <a:srgbClr val="F6EFE2"/>
          </a:solidFill>
          <a:ln w="12700">
            <a:solidFill>
              <a:srgbClr val="DCC79E"/>
            </a:solidFill>
            <a:prstDash val="solid"/>
          </a:ln>
        </p:spPr>
      </p:sp>
      <p:sp>
        <p:nvSpPr>
          <p:cNvPr id="5" name="Text 3"/>
          <p:cNvSpPr txBox="1"/>
          <p:nvPr/>
        </p:nvSpPr>
        <p:spPr>
          <a:xfrm>
            <a:off x="640080" y="2194560"/>
            <a:ext cx="2231136" cy="566928"/>
          </a:xfrm>
          <a:prstGeom prst="rect">
            <a:avLst/>
          </a:prstGeom>
          <a:noFill/>
          <a:ln/>
        </p:spPr>
        <p:txBody>
          <a:bodyPr wrap="square" lIns="0" tIns="0" rIns="0" bIns="0" rtlCol="0" anchor="ctr"/>
          <a:lstStyle/>
          <a:p>
            <a:pPr algn="ctr" indent="0" marL="0">
              <a:buNone/>
            </a:pPr>
            <a:r>
              <a:rPr lang="en-US" sz="1200" b="1" dirty="0">
                <a:solidFill>
                  <a:srgbClr val="6E4B1F"/>
                </a:solidFill>
                <a:latin typeface="Calibri" pitchFamily="34" charset="0"/>
                <a:ea typeface="Calibri" pitchFamily="34" charset="-122"/>
                <a:cs typeface="Calibri" pitchFamily="34" charset="-120"/>
              </a:rPr>
              <a:t>System of Record</a:t>
            </a:r>
            <a:endParaRPr lang="en-US" sz="1200" dirty="0"/>
          </a:p>
        </p:txBody>
      </p:sp>
      <p:sp>
        <p:nvSpPr>
          <p:cNvPr id="6" name="Shape 4"/>
          <p:cNvSpPr/>
          <p:nvPr/>
        </p:nvSpPr>
        <p:spPr>
          <a:xfrm>
            <a:off x="2999232" y="2478024"/>
            <a:ext cx="621792" cy="0"/>
          </a:xfrm>
          <a:prstGeom prst="line">
            <a:avLst/>
          </a:prstGeom>
          <a:noFill/>
          <a:ln w="28575">
            <a:solidFill>
              <a:srgbClr val="6E4B1F"/>
            </a:solidFill>
            <a:prstDash val="solid"/>
            <a:tailEnd type="triangle"/>
          </a:ln>
        </p:spPr>
      </p:sp>
      <p:sp>
        <p:nvSpPr>
          <p:cNvPr id="7" name="Text 5"/>
          <p:cNvSpPr txBox="1"/>
          <p:nvPr/>
        </p:nvSpPr>
        <p:spPr>
          <a:xfrm>
            <a:off x="2944368" y="1938528"/>
            <a:ext cx="731520" cy="256032"/>
          </a:xfrm>
          <a:prstGeom prst="rect">
            <a:avLst/>
          </a:prstGeom>
          <a:noFill/>
          <a:ln/>
        </p:spPr>
        <p:txBody>
          <a:bodyPr wrap="square" lIns="0" tIns="0" rIns="0" bIns="0" rtlCol="0" anchor="ctr"/>
          <a:lstStyle/>
          <a:p>
            <a:pPr algn="ctr" indent="0" marL="0">
              <a:buNone/>
            </a:pPr>
            <a:r>
              <a:rPr lang="en-US" sz="950" b="1" dirty="0">
                <a:solidFill>
                  <a:srgbClr val="6E4B1F"/>
                </a:solidFill>
                <a:latin typeface="Calibri" pitchFamily="34" charset="0"/>
                <a:ea typeface="Calibri" pitchFamily="34" charset="-122"/>
                <a:cs typeface="Calibri" pitchFamily="34" charset="-120"/>
              </a:rPr>
              <a:t>shapes</a:t>
            </a:r>
            <a:endParaRPr lang="en-US" sz="950" dirty="0"/>
          </a:p>
        </p:txBody>
      </p:sp>
      <p:sp>
        <p:nvSpPr>
          <p:cNvPr id="8" name="Shape 6"/>
          <p:cNvSpPr/>
          <p:nvPr/>
        </p:nvSpPr>
        <p:spPr>
          <a:xfrm>
            <a:off x="3675888" y="2194560"/>
            <a:ext cx="2377440" cy="566928"/>
          </a:xfrm>
          <a:prstGeom prst="roundRect">
            <a:avLst>
              <a:gd name="adj" fmla="val 12903"/>
            </a:avLst>
          </a:prstGeom>
          <a:solidFill>
            <a:srgbClr val="FDEAEA"/>
          </a:solidFill>
          <a:ln w="12700">
            <a:solidFill>
              <a:srgbClr val="F0B8B8"/>
            </a:solidFill>
            <a:prstDash val="solid"/>
          </a:ln>
        </p:spPr>
      </p:sp>
      <p:sp>
        <p:nvSpPr>
          <p:cNvPr id="9" name="Text 7"/>
          <p:cNvSpPr txBox="1"/>
          <p:nvPr/>
        </p:nvSpPr>
        <p:spPr>
          <a:xfrm>
            <a:off x="3749040" y="2194560"/>
            <a:ext cx="2231136" cy="566928"/>
          </a:xfrm>
          <a:prstGeom prst="rect">
            <a:avLst/>
          </a:prstGeom>
          <a:noFill/>
          <a:ln/>
        </p:spPr>
        <p:txBody>
          <a:bodyPr wrap="square" lIns="0" tIns="0" rIns="0" bIns="0" rtlCol="0" anchor="ctr"/>
          <a:lstStyle/>
          <a:p>
            <a:pPr algn="ctr" indent="0" marL="0">
              <a:buNone/>
            </a:pPr>
            <a:r>
              <a:rPr lang="en-US" sz="1200" b="1" dirty="0">
                <a:solidFill>
                  <a:srgbClr val="A11B1B"/>
                </a:solidFill>
                <a:latin typeface="Calibri" pitchFamily="34" charset="0"/>
                <a:ea typeface="Calibri" pitchFamily="34" charset="-122"/>
                <a:cs typeface="Calibri" pitchFamily="34" charset="-120"/>
              </a:rPr>
              <a:t>“BIAN” interface</a:t>
            </a:r>
            <a:endParaRPr lang="en-US" sz="1200" dirty="0"/>
          </a:p>
        </p:txBody>
      </p:sp>
      <p:sp>
        <p:nvSpPr>
          <p:cNvPr id="10" name="Shape 8"/>
          <p:cNvSpPr/>
          <p:nvPr/>
        </p:nvSpPr>
        <p:spPr>
          <a:xfrm>
            <a:off x="6108192" y="2478024"/>
            <a:ext cx="621792" cy="0"/>
          </a:xfrm>
          <a:prstGeom prst="line">
            <a:avLst/>
          </a:prstGeom>
          <a:noFill/>
          <a:ln w="28575">
            <a:solidFill>
              <a:srgbClr val="A11B1B"/>
            </a:solidFill>
            <a:prstDash val="solid"/>
            <a:tailEnd type="triangle"/>
          </a:ln>
        </p:spPr>
      </p:sp>
      <p:sp>
        <p:nvSpPr>
          <p:cNvPr id="11" name="Text 9"/>
          <p:cNvSpPr txBox="1"/>
          <p:nvPr/>
        </p:nvSpPr>
        <p:spPr>
          <a:xfrm>
            <a:off x="6053328" y="1938528"/>
            <a:ext cx="731520" cy="256032"/>
          </a:xfrm>
          <a:prstGeom prst="rect">
            <a:avLst/>
          </a:prstGeom>
          <a:noFill/>
          <a:ln/>
        </p:spPr>
        <p:txBody>
          <a:bodyPr wrap="square" lIns="0" tIns="0" rIns="0" bIns="0" rtlCol="0" anchor="ctr"/>
          <a:lstStyle/>
          <a:p>
            <a:pPr algn="ctr" indent="0" marL="0">
              <a:buNone/>
            </a:pPr>
            <a:r>
              <a:rPr lang="en-US" sz="950" b="1" dirty="0">
                <a:solidFill>
                  <a:srgbClr val="A11B1B"/>
                </a:solidFill>
                <a:latin typeface="Calibri" pitchFamily="34" charset="0"/>
                <a:ea typeface="Calibri" pitchFamily="34" charset="-122"/>
                <a:cs typeface="Calibri" pitchFamily="34" charset="-120"/>
              </a:rPr>
              <a:t>binds</a:t>
            </a:r>
            <a:endParaRPr lang="en-US" sz="950" dirty="0"/>
          </a:p>
        </p:txBody>
      </p:sp>
      <p:sp>
        <p:nvSpPr>
          <p:cNvPr id="12" name="Shape 10"/>
          <p:cNvSpPr/>
          <p:nvPr/>
        </p:nvSpPr>
        <p:spPr>
          <a:xfrm>
            <a:off x="6729984" y="1508760"/>
            <a:ext cx="0" cy="1938528"/>
          </a:xfrm>
          <a:prstGeom prst="line">
            <a:avLst/>
          </a:prstGeom>
          <a:noFill/>
          <a:ln w="25400">
            <a:solidFill>
              <a:srgbClr val="F0B8B8"/>
            </a:solidFill>
            <a:prstDash val="solid"/>
          </a:ln>
        </p:spPr>
      </p:sp>
      <p:sp>
        <p:nvSpPr>
          <p:cNvPr id="13" name="Shape 11"/>
          <p:cNvSpPr/>
          <p:nvPr/>
        </p:nvSpPr>
        <p:spPr>
          <a:xfrm>
            <a:off x="6839712" y="1508760"/>
            <a:ext cx="2286000" cy="402336"/>
          </a:xfrm>
          <a:prstGeom prst="roundRect">
            <a:avLst>
              <a:gd name="adj" fmla="val 18182"/>
            </a:avLst>
          </a:prstGeom>
          <a:solidFill>
            <a:srgbClr val="FFFFFF"/>
          </a:solidFill>
          <a:ln w="12700">
            <a:solidFill>
              <a:srgbClr val="F0B8B8"/>
            </a:solidFill>
            <a:prstDash val="solid"/>
          </a:ln>
        </p:spPr>
      </p:sp>
      <p:sp>
        <p:nvSpPr>
          <p:cNvPr id="14" name="Text 12"/>
          <p:cNvSpPr txBox="1"/>
          <p:nvPr/>
        </p:nvSpPr>
        <p:spPr>
          <a:xfrm>
            <a:off x="6912864" y="1508760"/>
            <a:ext cx="2139696" cy="402336"/>
          </a:xfrm>
          <a:prstGeom prst="rect">
            <a:avLst/>
          </a:prstGeom>
          <a:noFill/>
          <a:ln/>
        </p:spPr>
        <p:txBody>
          <a:bodyPr wrap="square" lIns="0" tIns="0" rIns="0" bIns="0" rtlCol="0" anchor="ctr"/>
          <a:lstStyle/>
          <a:p>
            <a:pPr algn="ctr" indent="0" marL="0">
              <a:buNone/>
            </a:pPr>
            <a:r>
              <a:rPr lang="en-US" sz="1050" dirty="0">
                <a:solidFill>
                  <a:srgbClr val="A11B1B"/>
                </a:solidFill>
                <a:latin typeface="Calibri" pitchFamily="34" charset="0"/>
                <a:ea typeface="Calibri" pitchFamily="34" charset="-122"/>
                <a:cs typeface="Calibri" pitchFamily="34" charset="-120"/>
              </a:rPr>
              <a:t>Mobile app</a:t>
            </a:r>
            <a:endParaRPr lang="en-US" sz="1050" dirty="0"/>
          </a:p>
        </p:txBody>
      </p:sp>
      <p:sp>
        <p:nvSpPr>
          <p:cNvPr id="15" name="Shape 13"/>
          <p:cNvSpPr/>
          <p:nvPr/>
        </p:nvSpPr>
        <p:spPr>
          <a:xfrm>
            <a:off x="6839712" y="2020824"/>
            <a:ext cx="2286000" cy="402336"/>
          </a:xfrm>
          <a:prstGeom prst="roundRect">
            <a:avLst>
              <a:gd name="adj" fmla="val 18182"/>
            </a:avLst>
          </a:prstGeom>
          <a:solidFill>
            <a:srgbClr val="FFFFFF"/>
          </a:solidFill>
          <a:ln w="12700">
            <a:solidFill>
              <a:srgbClr val="F0B8B8"/>
            </a:solidFill>
            <a:prstDash val="solid"/>
          </a:ln>
        </p:spPr>
      </p:sp>
      <p:sp>
        <p:nvSpPr>
          <p:cNvPr id="16" name="Text 14"/>
          <p:cNvSpPr txBox="1"/>
          <p:nvPr/>
        </p:nvSpPr>
        <p:spPr>
          <a:xfrm>
            <a:off x="6912864" y="2020824"/>
            <a:ext cx="2139696" cy="402336"/>
          </a:xfrm>
          <a:prstGeom prst="rect">
            <a:avLst/>
          </a:prstGeom>
          <a:noFill/>
          <a:ln/>
        </p:spPr>
        <p:txBody>
          <a:bodyPr wrap="square" lIns="0" tIns="0" rIns="0" bIns="0" rtlCol="0" anchor="ctr"/>
          <a:lstStyle/>
          <a:p>
            <a:pPr algn="ctr" indent="0" marL="0">
              <a:buNone/>
            </a:pPr>
            <a:r>
              <a:rPr lang="en-US" sz="1050" dirty="0">
                <a:solidFill>
                  <a:srgbClr val="A11B1B"/>
                </a:solidFill>
                <a:latin typeface="Calibri" pitchFamily="34" charset="0"/>
                <a:ea typeface="Calibri" pitchFamily="34" charset="-122"/>
                <a:cs typeface="Calibri" pitchFamily="34" charset="-120"/>
              </a:rPr>
              <a:t>Contact centre</a:t>
            </a:r>
            <a:endParaRPr lang="en-US" sz="1050" dirty="0"/>
          </a:p>
        </p:txBody>
      </p:sp>
      <p:sp>
        <p:nvSpPr>
          <p:cNvPr id="17" name="Shape 15"/>
          <p:cNvSpPr/>
          <p:nvPr/>
        </p:nvSpPr>
        <p:spPr>
          <a:xfrm>
            <a:off x="6839712" y="2532888"/>
            <a:ext cx="2286000" cy="402336"/>
          </a:xfrm>
          <a:prstGeom prst="roundRect">
            <a:avLst>
              <a:gd name="adj" fmla="val 18182"/>
            </a:avLst>
          </a:prstGeom>
          <a:solidFill>
            <a:srgbClr val="FFFFFF"/>
          </a:solidFill>
          <a:ln w="12700">
            <a:solidFill>
              <a:srgbClr val="F0B8B8"/>
            </a:solidFill>
            <a:prstDash val="solid"/>
          </a:ln>
        </p:spPr>
      </p:sp>
      <p:sp>
        <p:nvSpPr>
          <p:cNvPr id="18" name="Text 16"/>
          <p:cNvSpPr txBox="1"/>
          <p:nvPr/>
        </p:nvSpPr>
        <p:spPr>
          <a:xfrm>
            <a:off x="6912864" y="2532888"/>
            <a:ext cx="2139696" cy="402336"/>
          </a:xfrm>
          <a:prstGeom prst="rect">
            <a:avLst/>
          </a:prstGeom>
          <a:noFill/>
          <a:ln/>
        </p:spPr>
        <p:txBody>
          <a:bodyPr wrap="square" lIns="0" tIns="0" rIns="0" bIns="0" rtlCol="0" anchor="ctr"/>
          <a:lstStyle/>
          <a:p>
            <a:pPr algn="ctr" indent="0" marL="0">
              <a:buNone/>
            </a:pPr>
            <a:r>
              <a:rPr lang="en-US" sz="1050" dirty="0">
                <a:solidFill>
                  <a:srgbClr val="A11B1B"/>
                </a:solidFill>
                <a:latin typeface="Calibri" pitchFamily="34" charset="0"/>
                <a:ea typeface="Calibri" pitchFamily="34" charset="-122"/>
                <a:cs typeface="Calibri" pitchFamily="34" charset="-120"/>
              </a:rPr>
              <a:t>Broker channel</a:t>
            </a:r>
            <a:endParaRPr lang="en-US" sz="1050" dirty="0"/>
          </a:p>
        </p:txBody>
      </p:sp>
      <p:sp>
        <p:nvSpPr>
          <p:cNvPr id="19" name="Shape 17"/>
          <p:cNvSpPr/>
          <p:nvPr/>
        </p:nvSpPr>
        <p:spPr>
          <a:xfrm>
            <a:off x="6839712" y="3044952"/>
            <a:ext cx="2286000" cy="402336"/>
          </a:xfrm>
          <a:prstGeom prst="roundRect">
            <a:avLst>
              <a:gd name="adj" fmla="val 18182"/>
            </a:avLst>
          </a:prstGeom>
          <a:solidFill>
            <a:srgbClr val="FFFFFF"/>
          </a:solidFill>
          <a:ln w="12700">
            <a:solidFill>
              <a:srgbClr val="F0B8B8"/>
            </a:solidFill>
            <a:prstDash val="solid"/>
          </a:ln>
        </p:spPr>
      </p:sp>
      <p:sp>
        <p:nvSpPr>
          <p:cNvPr id="20" name="Text 18"/>
          <p:cNvSpPr txBox="1"/>
          <p:nvPr/>
        </p:nvSpPr>
        <p:spPr>
          <a:xfrm>
            <a:off x="6912864" y="3044952"/>
            <a:ext cx="2139696" cy="402336"/>
          </a:xfrm>
          <a:prstGeom prst="rect">
            <a:avLst/>
          </a:prstGeom>
          <a:noFill/>
          <a:ln/>
        </p:spPr>
        <p:txBody>
          <a:bodyPr wrap="square" lIns="0" tIns="0" rIns="0" bIns="0" rtlCol="0" anchor="ctr"/>
          <a:lstStyle/>
          <a:p>
            <a:pPr algn="ctr" indent="0" marL="0">
              <a:buNone/>
            </a:pPr>
            <a:r>
              <a:rPr lang="en-US" sz="1050" dirty="0">
                <a:solidFill>
                  <a:srgbClr val="A11B1B"/>
                </a:solidFill>
                <a:latin typeface="Calibri" pitchFamily="34" charset="0"/>
                <a:ea typeface="Calibri" pitchFamily="34" charset="-122"/>
                <a:cs typeface="Calibri" pitchFamily="34" charset="-120"/>
              </a:rPr>
              <a:t>Reporting</a:t>
            </a:r>
            <a:endParaRPr lang="en-US" sz="1050" dirty="0"/>
          </a:p>
        </p:txBody>
      </p:sp>
      <p:sp>
        <p:nvSpPr>
          <p:cNvPr id="21" name="Shape 19"/>
          <p:cNvSpPr/>
          <p:nvPr/>
        </p:nvSpPr>
        <p:spPr>
          <a:xfrm>
            <a:off x="566928" y="3886200"/>
            <a:ext cx="11057839" cy="1965960"/>
          </a:xfrm>
          <a:prstGeom prst="roundRect">
            <a:avLst>
              <a:gd name="adj" fmla="val 3721"/>
            </a:avLst>
          </a:prstGeom>
          <a:solidFill>
            <a:srgbClr val="FDEAEA"/>
          </a:solidFill>
          <a:ln w="12700">
            <a:solidFill>
              <a:srgbClr val="F0B8B8"/>
            </a:solidFill>
            <a:prstDash val="solid"/>
          </a:ln>
        </p:spPr>
      </p:sp>
      <p:sp>
        <p:nvSpPr>
          <p:cNvPr id="22" name="Text 20"/>
          <p:cNvSpPr txBox="1"/>
          <p:nvPr/>
        </p:nvSpPr>
        <p:spPr>
          <a:xfrm>
            <a:off x="841248" y="4050792"/>
            <a:ext cx="5486400" cy="292608"/>
          </a:xfrm>
          <a:prstGeom prst="rect">
            <a:avLst/>
          </a:prstGeom>
          <a:noFill/>
          <a:ln/>
        </p:spPr>
        <p:txBody>
          <a:bodyPr wrap="square" lIns="0" tIns="0" rIns="0" bIns="0" rtlCol="0" anchor="ctr"/>
          <a:lstStyle/>
          <a:p>
            <a:pPr indent="0" marL="0">
              <a:buNone/>
            </a:pPr>
            <a:r>
              <a:rPr lang="en-US" sz="1300" b="1" dirty="0">
                <a:solidFill>
                  <a:srgbClr val="A11B1B"/>
                </a:solidFill>
                <a:latin typeface="Calibri" pitchFamily="34" charset="0"/>
                <a:ea typeface="Calibri" pitchFamily="34" charset="-122"/>
                <a:cs typeface="Calibri" pitchFamily="34" charset="-120"/>
              </a:rPr>
              <a:t>What you have actually built</a:t>
            </a:r>
            <a:endParaRPr lang="en-US" sz="1300" dirty="0"/>
          </a:p>
        </p:txBody>
      </p:sp>
      <p:sp>
        <p:nvSpPr>
          <p:cNvPr id="23" name="Text 21"/>
          <p:cNvSpPr txBox="1"/>
          <p:nvPr/>
        </p:nvSpPr>
        <p:spPr>
          <a:xfrm>
            <a:off x="841248" y="4398264"/>
            <a:ext cx="10509199" cy="137160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A11B1B"/>
                </a:solidFill>
                <a:latin typeface="Calibri" pitchFamily="34" charset="0"/>
                <a:ea typeface="Calibri" pitchFamily="34" charset="-122"/>
                <a:cs typeface="Calibri" pitchFamily="34" charset="-120"/>
              </a:rPr>
              <a:t>The vendor's API with a BIAN URL in front of it. You have paid for standardisation and received a rename.</a:t>
            </a:r>
            <a:endParaRPr lang="en-US" sz="1200" dirty="0"/>
          </a:p>
          <a:p>
            <a:pPr marL="177800" indent="-177800">
              <a:spcAft>
                <a:spcPts val="700"/>
              </a:spcAft>
              <a:buSzPct val="100000"/>
              <a:buChar char="•"/>
            </a:pPr>
            <a:r>
              <a:rPr lang="en-US" sz="1200" dirty="0">
                <a:solidFill>
                  <a:srgbClr val="A11B1B"/>
                </a:solidFill>
                <a:latin typeface="Calibri" pitchFamily="34" charset="0"/>
                <a:ea typeface="Calibri" pitchFamily="34" charset="-122"/>
                <a:cs typeface="Calibri" pitchFamily="34" charset="-120"/>
              </a:rPr>
              <a:t>A product upgrade becomes a breaking change for four consumers who never bought that product.</a:t>
            </a:r>
            <a:endParaRPr lang="en-US" sz="1200" dirty="0"/>
          </a:p>
          <a:p>
            <a:pPr marL="177800" indent="-177800">
              <a:spcAft>
                <a:spcPts val="700"/>
              </a:spcAft>
              <a:buSzPct val="100000"/>
              <a:buChar char="•"/>
            </a:pPr>
            <a:r>
              <a:rPr lang="en-US" sz="1200" dirty="0">
                <a:solidFill>
                  <a:srgbClr val="A11B1B"/>
                </a:solidFill>
                <a:latin typeface="Calibri" pitchFamily="34" charset="0"/>
                <a:ea typeface="Calibri" pitchFamily="34" charset="-122"/>
                <a:cs typeface="Calibri" pitchFamily="34" charset="-120"/>
              </a:rPr>
              <a:t>Replacing the vendor means renegotiating the contract with every consumer, so the vendor is no longer replaceable.</a:t>
            </a:r>
            <a:endParaRPr lang="en-US" sz="1200" dirty="0"/>
          </a:p>
          <a:p>
            <a:pPr marL="177800" indent="-177800">
              <a:spcAft>
                <a:spcPts val="700"/>
              </a:spcAft>
              <a:buSzPct val="100000"/>
              <a:buChar char="•"/>
            </a:pPr>
            <a:r>
              <a:rPr lang="en-US" sz="1200" dirty="0">
                <a:solidFill>
                  <a:srgbClr val="A11B1B"/>
                </a:solidFill>
                <a:latin typeface="Calibri" pitchFamily="34" charset="0"/>
                <a:ea typeface="Calibri" pitchFamily="34" charset="-122"/>
                <a:cs typeface="Calibri" pitchFamily="34" charset="-120"/>
              </a:rPr>
              <a:t>Two service domains backed by two different products describe the same capability two different ways.</a:t>
            </a:r>
            <a:endParaRPr lang="en-US" sz="1200" dirty="0"/>
          </a:p>
        </p:txBody>
      </p:sp>
      <p:sp>
        <p:nvSpPr>
          <p:cNvPr id="24" name="Text 22"/>
          <p:cNvSpPr txBox="1"/>
          <p:nvPr/>
        </p:nvSpPr>
        <p:spPr>
          <a:xfrm>
            <a:off x="566928" y="6455664"/>
            <a:ext cx="5486400" cy="256032"/>
          </a:xfrm>
          <a:prstGeom prst="rect">
            <a:avLst/>
          </a:prstGeom>
          <a:noFill/>
          <a:ln/>
        </p:spPr>
        <p:txBody>
          <a:bodyPr wrap="square" lIns="0" tIns="0" rIns="0" bIns="0" rtlCol="0" anchor="ctr"/>
          <a:lstStyle/>
          <a:p>
            <a:pPr indent="0" marL="0">
              <a:buNone/>
            </a:pPr>
            <a:r>
              <a:rPr lang="en-US" sz="850" dirty="0">
                <a:solidFill>
                  <a:srgbClr val="8A97A6"/>
                </a:solidFill>
                <a:latin typeface="Calibri" pitchFamily="34" charset="0"/>
                <a:ea typeface="Calibri" pitchFamily="34" charset="-122"/>
                <a:cs typeface="Calibri" pitchFamily="34" charset="-120"/>
              </a:rPr>
              <a:t>The BIAN interface and the System of Record  ·  CC&amp;C Solutions</a:t>
            </a:r>
            <a:endParaRPr lang="en-US" sz="850" dirty="0"/>
          </a:p>
        </p:txBody>
      </p:sp>
      <p:sp>
        <p:nvSpPr>
          <p:cNvPr id="25" name="Text 23"/>
          <p:cNvSpPr txBox="1"/>
          <p:nvPr/>
        </p:nvSpPr>
        <p:spPr>
          <a:xfrm>
            <a:off x="11076127" y="6455664"/>
            <a:ext cx="548640" cy="256032"/>
          </a:xfrm>
          <a:prstGeom prst="rect">
            <a:avLst/>
          </a:prstGeom>
          <a:noFill/>
          <a:ln/>
        </p:spPr>
        <p:txBody>
          <a:bodyPr wrap="square" lIns="0" tIns="0" rIns="0" bIns="0" rtlCol="0" anchor="ctr"/>
          <a:lstStyle/>
          <a:p>
            <a:pPr algn="r" indent="0" marL="0">
              <a:buNone/>
            </a:pPr>
            <a:r>
              <a:rPr lang="en-US" sz="900" dirty="0">
                <a:solidFill>
                  <a:srgbClr val="8A97A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713232"/>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Drawn the right way, the product is replaceable</a:t>
            </a:r>
            <a:endParaRPr lang="en-US" sz="3400" dirty="0"/>
          </a:p>
        </p:txBody>
      </p:sp>
      <p:sp>
        <p:nvSpPr>
          <p:cNvPr id="3" name="Text 1"/>
          <p:cNvSpPr txBox="1"/>
          <p:nvPr/>
        </p:nvSpPr>
        <p:spPr>
          <a:xfrm>
            <a:off x="566928" y="1115568"/>
            <a:ext cx="11057839" cy="384048"/>
          </a:xfrm>
          <a:prstGeom prst="rect">
            <a:avLst/>
          </a:prstGeom>
          <a:noFill/>
          <a:ln/>
        </p:spPr>
        <p:txBody>
          <a:bodyPr wrap="square" lIns="0" tIns="0" rIns="0" bIns="0" rtlCol="0" anchor="t"/>
          <a:lstStyle/>
          <a:p>
            <a:pPr indent="0" marL="0">
              <a:buNone/>
            </a:pPr>
            <a:r>
              <a:rPr lang="en-US" sz="1400" dirty="0">
                <a:solidFill>
                  <a:srgbClr val="5C6A7A"/>
                </a:solidFill>
                <a:latin typeface="Calibri" pitchFamily="34" charset="0"/>
                <a:ea typeface="Calibri" pitchFamily="34" charset="-122"/>
                <a:cs typeface="Calibri" pitchFamily="34" charset="-120"/>
              </a:rPr>
              <a:t>The mapping absorbs the change, and the contract does not move.</a:t>
            </a:r>
            <a:endParaRPr lang="en-US" sz="1400" dirty="0"/>
          </a:p>
        </p:txBody>
      </p:sp>
      <p:sp>
        <p:nvSpPr>
          <p:cNvPr id="4" name="Shape 2"/>
          <p:cNvSpPr/>
          <p:nvPr/>
        </p:nvSpPr>
        <p:spPr>
          <a:xfrm>
            <a:off x="566928" y="2011680"/>
            <a:ext cx="2103120" cy="566928"/>
          </a:xfrm>
          <a:prstGeom prst="roundRect">
            <a:avLst>
              <a:gd name="adj" fmla="val 12903"/>
            </a:avLst>
          </a:prstGeom>
          <a:solidFill>
            <a:srgbClr val="CADCFC"/>
          </a:solidFill>
          <a:ln w="12700">
            <a:solidFill>
              <a:srgbClr val="E2E8F1"/>
            </a:solidFill>
            <a:prstDash val="solid"/>
          </a:ln>
        </p:spPr>
      </p:sp>
      <p:sp>
        <p:nvSpPr>
          <p:cNvPr id="5" name="Text 3"/>
          <p:cNvSpPr txBox="1"/>
          <p:nvPr/>
        </p:nvSpPr>
        <p:spPr>
          <a:xfrm>
            <a:off x="640080" y="2011680"/>
            <a:ext cx="1956816" cy="56692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The business capability</a:t>
            </a:r>
            <a:endParaRPr lang="en-US" sz="1100" dirty="0"/>
          </a:p>
        </p:txBody>
      </p:sp>
      <p:sp>
        <p:nvSpPr>
          <p:cNvPr id="6" name="Shape 4"/>
          <p:cNvSpPr/>
          <p:nvPr/>
        </p:nvSpPr>
        <p:spPr>
          <a:xfrm>
            <a:off x="2724912" y="2295144"/>
            <a:ext cx="621792" cy="0"/>
          </a:xfrm>
          <a:prstGeom prst="line">
            <a:avLst/>
          </a:prstGeom>
          <a:noFill/>
          <a:ln w="28575">
            <a:solidFill>
              <a:srgbClr val="1E2761"/>
            </a:solidFill>
            <a:prstDash val="solid"/>
            <a:tailEnd type="triangle"/>
          </a:ln>
        </p:spPr>
      </p:sp>
      <p:sp>
        <p:nvSpPr>
          <p:cNvPr id="7" name="Text 5"/>
          <p:cNvSpPr txBox="1"/>
          <p:nvPr/>
        </p:nvSpPr>
        <p:spPr>
          <a:xfrm>
            <a:off x="2670048" y="1755648"/>
            <a:ext cx="749808"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defines</a:t>
            </a:r>
            <a:endParaRPr lang="en-US" sz="950" dirty="0"/>
          </a:p>
        </p:txBody>
      </p:sp>
      <p:sp>
        <p:nvSpPr>
          <p:cNvPr id="8" name="Shape 6"/>
          <p:cNvSpPr/>
          <p:nvPr/>
        </p:nvSpPr>
        <p:spPr>
          <a:xfrm>
            <a:off x="3401568" y="1700784"/>
            <a:ext cx="2743200" cy="1188720"/>
          </a:xfrm>
          <a:prstGeom prst="roundRect">
            <a:avLst>
              <a:gd name="adj" fmla="val 6154"/>
            </a:avLst>
          </a:prstGeom>
          <a:solidFill>
            <a:srgbClr val="1E2761"/>
          </a:solidFill>
          <a:ln w="12700">
            <a:solidFill>
              <a:srgbClr val="E2E8F1"/>
            </a:solidFill>
            <a:prstDash val="solid"/>
          </a:ln>
        </p:spPr>
      </p:sp>
      <p:sp>
        <p:nvSpPr>
          <p:cNvPr id="9" name="Text 7"/>
          <p:cNvSpPr txBox="1"/>
          <p:nvPr/>
        </p:nvSpPr>
        <p:spPr>
          <a:xfrm>
            <a:off x="3474720" y="1700784"/>
            <a:ext cx="2596896" cy="11887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BIAN interface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the published contract</a:t>
            </a:r>
            <a:endParaRPr lang="en-US" sz="1200" dirty="0"/>
          </a:p>
        </p:txBody>
      </p:sp>
      <p:sp>
        <p:nvSpPr>
          <p:cNvPr id="10" name="Shape 8"/>
          <p:cNvSpPr/>
          <p:nvPr/>
        </p:nvSpPr>
        <p:spPr>
          <a:xfrm>
            <a:off x="3401568" y="3182112"/>
            <a:ext cx="2743200" cy="365760"/>
          </a:xfrm>
          <a:prstGeom prst="roundRect">
            <a:avLst>
              <a:gd name="adj" fmla="val 20000"/>
            </a:avLst>
          </a:prstGeom>
          <a:solidFill>
            <a:srgbClr val="FFFFFF"/>
          </a:solidFill>
          <a:ln w="12700">
            <a:solidFill>
              <a:srgbClr val="CDD6E0"/>
            </a:solidFill>
            <a:prstDash val="solid"/>
          </a:ln>
        </p:spPr>
      </p:sp>
      <p:sp>
        <p:nvSpPr>
          <p:cNvPr id="11" name="Text 9"/>
          <p:cNvSpPr txBox="1"/>
          <p:nvPr/>
        </p:nvSpPr>
        <p:spPr>
          <a:xfrm>
            <a:off x="3474720" y="3182112"/>
            <a:ext cx="2596896" cy="365760"/>
          </a:xfrm>
          <a:prstGeom prst="rect">
            <a:avLst/>
          </a:prstGeom>
          <a:noFill/>
          <a:ln/>
        </p:spPr>
        <p:txBody>
          <a:bodyPr wrap="square" lIns="0" tIns="0" rIns="0" bIns="0" rtlCol="0" anchor="ctr"/>
          <a:lstStyle/>
          <a:p>
            <a:pPr algn="ctr" indent="0" marL="0">
              <a:buNone/>
            </a:pPr>
            <a:r>
              <a:rPr lang="en-US" sz="1000" dirty="0">
                <a:solidFill>
                  <a:srgbClr val="5C6A7A"/>
                </a:solidFill>
                <a:latin typeface="Calibri" pitchFamily="34" charset="0"/>
                <a:ea typeface="Calibri" pitchFamily="34" charset="-122"/>
                <a:cs typeface="Calibri" pitchFamily="34" charset="-120"/>
              </a:rPr>
              <a:t>Mobile app</a:t>
            </a:r>
            <a:endParaRPr lang="en-US" sz="1000" dirty="0"/>
          </a:p>
        </p:txBody>
      </p:sp>
      <p:sp>
        <p:nvSpPr>
          <p:cNvPr id="12" name="Shape 10"/>
          <p:cNvSpPr/>
          <p:nvPr/>
        </p:nvSpPr>
        <p:spPr>
          <a:xfrm>
            <a:off x="3401568" y="3639312"/>
            <a:ext cx="2743200" cy="365760"/>
          </a:xfrm>
          <a:prstGeom prst="roundRect">
            <a:avLst>
              <a:gd name="adj" fmla="val 20000"/>
            </a:avLst>
          </a:prstGeom>
          <a:solidFill>
            <a:srgbClr val="FFFFFF"/>
          </a:solidFill>
          <a:ln w="12700">
            <a:solidFill>
              <a:srgbClr val="CDD6E0"/>
            </a:solidFill>
            <a:prstDash val="solid"/>
          </a:ln>
        </p:spPr>
      </p:sp>
      <p:sp>
        <p:nvSpPr>
          <p:cNvPr id="13" name="Text 11"/>
          <p:cNvSpPr txBox="1"/>
          <p:nvPr/>
        </p:nvSpPr>
        <p:spPr>
          <a:xfrm>
            <a:off x="3474720" y="3639312"/>
            <a:ext cx="2596896" cy="365760"/>
          </a:xfrm>
          <a:prstGeom prst="rect">
            <a:avLst/>
          </a:prstGeom>
          <a:noFill/>
          <a:ln/>
        </p:spPr>
        <p:txBody>
          <a:bodyPr wrap="square" lIns="0" tIns="0" rIns="0" bIns="0" rtlCol="0" anchor="ctr"/>
          <a:lstStyle/>
          <a:p>
            <a:pPr algn="ctr" indent="0" marL="0">
              <a:buNone/>
            </a:pPr>
            <a:r>
              <a:rPr lang="en-US" sz="1000" dirty="0">
                <a:solidFill>
                  <a:srgbClr val="5C6A7A"/>
                </a:solidFill>
                <a:latin typeface="Calibri" pitchFamily="34" charset="0"/>
                <a:ea typeface="Calibri" pitchFamily="34" charset="-122"/>
                <a:cs typeface="Calibri" pitchFamily="34" charset="-120"/>
              </a:rPr>
              <a:t>Contact centre</a:t>
            </a:r>
            <a:endParaRPr lang="en-US" sz="1000" dirty="0"/>
          </a:p>
        </p:txBody>
      </p:sp>
      <p:sp>
        <p:nvSpPr>
          <p:cNvPr id="14" name="Shape 12"/>
          <p:cNvSpPr/>
          <p:nvPr/>
        </p:nvSpPr>
        <p:spPr>
          <a:xfrm>
            <a:off x="3401568" y="4096512"/>
            <a:ext cx="2743200" cy="365760"/>
          </a:xfrm>
          <a:prstGeom prst="roundRect">
            <a:avLst>
              <a:gd name="adj" fmla="val 20000"/>
            </a:avLst>
          </a:prstGeom>
          <a:solidFill>
            <a:srgbClr val="FFFFFF"/>
          </a:solidFill>
          <a:ln w="12700">
            <a:solidFill>
              <a:srgbClr val="CDD6E0"/>
            </a:solidFill>
            <a:prstDash val="solid"/>
          </a:ln>
        </p:spPr>
      </p:sp>
      <p:sp>
        <p:nvSpPr>
          <p:cNvPr id="15" name="Text 13"/>
          <p:cNvSpPr txBox="1"/>
          <p:nvPr/>
        </p:nvSpPr>
        <p:spPr>
          <a:xfrm>
            <a:off x="3474720" y="4096512"/>
            <a:ext cx="2596896" cy="365760"/>
          </a:xfrm>
          <a:prstGeom prst="rect">
            <a:avLst/>
          </a:prstGeom>
          <a:noFill/>
          <a:ln/>
        </p:spPr>
        <p:txBody>
          <a:bodyPr wrap="square" lIns="0" tIns="0" rIns="0" bIns="0" rtlCol="0" anchor="ctr"/>
          <a:lstStyle/>
          <a:p>
            <a:pPr algn="ctr" indent="0" marL="0">
              <a:buNone/>
            </a:pPr>
            <a:r>
              <a:rPr lang="en-US" sz="1000" dirty="0">
                <a:solidFill>
                  <a:srgbClr val="5C6A7A"/>
                </a:solidFill>
                <a:latin typeface="Calibri" pitchFamily="34" charset="0"/>
                <a:ea typeface="Calibri" pitchFamily="34" charset="-122"/>
                <a:cs typeface="Calibri" pitchFamily="34" charset="-120"/>
              </a:rPr>
              <a:t>Broker channel</a:t>
            </a:r>
            <a:endParaRPr lang="en-US" sz="1000" dirty="0"/>
          </a:p>
        </p:txBody>
      </p:sp>
      <p:sp>
        <p:nvSpPr>
          <p:cNvPr id="16" name="Shape 14"/>
          <p:cNvSpPr/>
          <p:nvPr/>
        </p:nvSpPr>
        <p:spPr>
          <a:xfrm>
            <a:off x="3401568" y="4553712"/>
            <a:ext cx="2743200" cy="365760"/>
          </a:xfrm>
          <a:prstGeom prst="roundRect">
            <a:avLst>
              <a:gd name="adj" fmla="val 20000"/>
            </a:avLst>
          </a:prstGeom>
          <a:solidFill>
            <a:srgbClr val="FFFFFF"/>
          </a:solidFill>
          <a:ln w="12700">
            <a:solidFill>
              <a:srgbClr val="CDD6E0"/>
            </a:solidFill>
            <a:prstDash val="solid"/>
          </a:ln>
        </p:spPr>
      </p:sp>
      <p:sp>
        <p:nvSpPr>
          <p:cNvPr id="17" name="Text 15"/>
          <p:cNvSpPr txBox="1"/>
          <p:nvPr/>
        </p:nvSpPr>
        <p:spPr>
          <a:xfrm>
            <a:off x="3474720" y="4553712"/>
            <a:ext cx="2596896" cy="365760"/>
          </a:xfrm>
          <a:prstGeom prst="rect">
            <a:avLst/>
          </a:prstGeom>
          <a:noFill/>
          <a:ln/>
        </p:spPr>
        <p:txBody>
          <a:bodyPr wrap="square" lIns="0" tIns="0" rIns="0" bIns="0" rtlCol="0" anchor="ctr"/>
          <a:lstStyle/>
          <a:p>
            <a:pPr algn="ctr" indent="0" marL="0">
              <a:buNone/>
            </a:pPr>
            <a:r>
              <a:rPr lang="en-US" sz="1000" dirty="0">
                <a:solidFill>
                  <a:srgbClr val="5C6A7A"/>
                </a:solidFill>
                <a:latin typeface="Calibri" pitchFamily="34" charset="0"/>
                <a:ea typeface="Calibri" pitchFamily="34" charset="-122"/>
                <a:cs typeface="Calibri" pitchFamily="34" charset="-120"/>
              </a:rPr>
              <a:t>Reporting</a:t>
            </a:r>
            <a:endParaRPr lang="en-US" sz="1000" dirty="0"/>
          </a:p>
        </p:txBody>
      </p:sp>
      <p:sp>
        <p:nvSpPr>
          <p:cNvPr id="18" name="Shape 16"/>
          <p:cNvSpPr/>
          <p:nvPr/>
        </p:nvSpPr>
        <p:spPr>
          <a:xfrm>
            <a:off x="4773168" y="2916936"/>
            <a:ext cx="0" cy="228600"/>
          </a:xfrm>
          <a:prstGeom prst="line">
            <a:avLst/>
          </a:prstGeom>
          <a:noFill/>
          <a:ln w="17780">
            <a:solidFill>
              <a:srgbClr val="9FBEEA"/>
            </a:solidFill>
            <a:prstDash val="solid"/>
            <a:tailEnd type="triangle"/>
          </a:ln>
        </p:spPr>
      </p:sp>
      <p:sp>
        <p:nvSpPr>
          <p:cNvPr id="19" name="Text 17"/>
          <p:cNvSpPr txBox="1"/>
          <p:nvPr/>
        </p:nvSpPr>
        <p:spPr>
          <a:xfrm>
            <a:off x="3401568" y="5065776"/>
            <a:ext cx="2743200" cy="310896"/>
          </a:xfrm>
          <a:prstGeom prst="rect">
            <a:avLst/>
          </a:prstGeom>
          <a:noFill/>
          <a:ln/>
        </p:spPr>
        <p:txBody>
          <a:bodyPr wrap="square" lIns="0" tIns="0" rIns="0" bIns="0" rtlCol="0" anchor="t"/>
          <a:lstStyle/>
          <a:p>
            <a:pPr algn="ctr" indent="0" marL="0">
              <a:buNone/>
            </a:pPr>
            <a:r>
              <a:rPr lang="en-US" sz="1000" i="1" dirty="0">
                <a:solidFill>
                  <a:srgbClr val="5C6A7A"/>
                </a:solidFill>
                <a:latin typeface="Calibri" pitchFamily="34" charset="0"/>
                <a:ea typeface="Calibri" pitchFamily="34" charset="-122"/>
                <a:cs typeface="Calibri" pitchFamily="34" charset="-120"/>
              </a:rPr>
              <a:t>unchanged when the product changes</a:t>
            </a:r>
            <a:endParaRPr lang="en-US" sz="1000" dirty="0"/>
          </a:p>
        </p:txBody>
      </p:sp>
      <p:sp>
        <p:nvSpPr>
          <p:cNvPr id="20" name="Shape 18"/>
          <p:cNvSpPr/>
          <p:nvPr/>
        </p:nvSpPr>
        <p:spPr>
          <a:xfrm>
            <a:off x="6601968" y="1700784"/>
            <a:ext cx="2103120" cy="1188720"/>
          </a:xfrm>
          <a:prstGeom prst="roundRect">
            <a:avLst>
              <a:gd name="adj" fmla="val 6154"/>
            </a:avLst>
          </a:prstGeom>
          <a:solidFill>
            <a:srgbClr val="C9A227"/>
          </a:solidFill>
          <a:ln w="12700">
            <a:solidFill>
              <a:srgbClr val="E2E8F1"/>
            </a:solidFill>
            <a:prstDash val="solid"/>
          </a:ln>
        </p:spPr>
      </p:sp>
      <p:sp>
        <p:nvSpPr>
          <p:cNvPr id="21" name="Text 19"/>
          <p:cNvSpPr txBox="1"/>
          <p:nvPr/>
        </p:nvSpPr>
        <p:spPr>
          <a:xfrm>
            <a:off x="6675120" y="1700784"/>
            <a:ext cx="1956816" cy="1188720"/>
          </a:xfrm>
          <a:prstGeom prst="rect">
            <a:avLst/>
          </a:prstGeom>
          <a:noFill/>
          <a:ln/>
        </p:spPr>
        <p:txBody>
          <a:bodyPr wrap="square" lIns="0" tIns="0" rIns="0" bIns="0" rtlCol="0" anchor="ctr"/>
          <a:lstStyle/>
          <a:p>
            <a:pPr algn="ctr" indent="0" marL="0">
              <a:buNone/>
            </a:pPr>
            <a:r>
              <a:rPr lang="en-US" sz="1050" b="1" dirty="0">
                <a:solidFill>
                  <a:srgbClr val="3A2E05"/>
                </a:solidFill>
                <a:latin typeface="Calibri" pitchFamily="34" charset="0"/>
                <a:ea typeface="Calibri" pitchFamily="34" charset="-122"/>
                <a:cs typeface="Calibri" pitchFamily="34" charset="-120"/>
              </a:rPr>
              <a:t>Mapping</a:t>
            </a:r>
            <a:endParaRPr lang="en-US" sz="1050" dirty="0"/>
          </a:p>
          <a:p>
            <a:pPr algn="ctr" indent="0" marL="0">
              <a:buNone/>
            </a:pPr>
            <a:r>
              <a:rPr lang="en-US" sz="1050" b="1" dirty="0">
                <a:solidFill>
                  <a:srgbClr val="3A2E05"/>
                </a:solidFill>
                <a:latin typeface="Calibri" pitchFamily="34" charset="0"/>
                <a:ea typeface="Calibri" pitchFamily="34" charset="-122"/>
                <a:cs typeface="Calibri" pitchFamily="34" charset="-120"/>
              </a:rPr>
              <a:t>the only place both</a:t>
            </a:r>
            <a:endParaRPr lang="en-US" sz="1050" dirty="0"/>
          </a:p>
          <a:p>
            <a:pPr algn="ctr" indent="0" marL="0">
              <a:buNone/>
            </a:pPr>
            <a:r>
              <a:rPr lang="en-US" sz="1050" b="1" dirty="0">
                <a:solidFill>
                  <a:srgbClr val="3A2E05"/>
                </a:solidFill>
                <a:latin typeface="Calibri" pitchFamily="34" charset="0"/>
                <a:ea typeface="Calibri" pitchFamily="34" charset="-122"/>
                <a:cs typeface="Calibri" pitchFamily="34" charset="-120"/>
              </a:rPr>
              <a:t>vocabularies meet</a:t>
            </a:r>
            <a:endParaRPr lang="en-US" sz="1050" dirty="0"/>
          </a:p>
        </p:txBody>
      </p:sp>
      <p:sp>
        <p:nvSpPr>
          <p:cNvPr id="22" name="Shape 20"/>
          <p:cNvSpPr/>
          <p:nvPr/>
        </p:nvSpPr>
        <p:spPr>
          <a:xfrm>
            <a:off x="6199632" y="2295144"/>
            <a:ext cx="347472" cy="0"/>
          </a:xfrm>
          <a:prstGeom prst="line">
            <a:avLst/>
          </a:prstGeom>
          <a:noFill/>
          <a:ln w="28575">
            <a:solidFill>
              <a:srgbClr val="1E2761"/>
            </a:solidFill>
            <a:prstDash val="solid"/>
            <a:tailEnd type="triangle"/>
          </a:ln>
        </p:spPr>
      </p:sp>
      <p:sp>
        <p:nvSpPr>
          <p:cNvPr id="23" name="Shape 21"/>
          <p:cNvSpPr/>
          <p:nvPr/>
        </p:nvSpPr>
        <p:spPr>
          <a:xfrm>
            <a:off x="9070848" y="1700784"/>
            <a:ext cx="2553919" cy="384048"/>
          </a:xfrm>
          <a:prstGeom prst="roundRect">
            <a:avLst>
              <a:gd name="adj" fmla="val 19048"/>
            </a:avLst>
          </a:prstGeom>
          <a:solidFill>
            <a:srgbClr val="F6EFE2"/>
          </a:solidFill>
          <a:ln w="12700">
            <a:solidFill>
              <a:srgbClr val="DCC79E"/>
            </a:solidFill>
            <a:prstDash val="solid"/>
          </a:ln>
        </p:spPr>
      </p:sp>
      <p:sp>
        <p:nvSpPr>
          <p:cNvPr id="24" name="Text 22"/>
          <p:cNvSpPr txBox="1"/>
          <p:nvPr/>
        </p:nvSpPr>
        <p:spPr>
          <a:xfrm>
            <a:off x="9144000" y="1700784"/>
            <a:ext cx="2407615" cy="384048"/>
          </a:xfrm>
          <a:prstGeom prst="rect">
            <a:avLst/>
          </a:prstGeom>
          <a:noFill/>
          <a:ln/>
        </p:spPr>
        <p:txBody>
          <a:bodyPr wrap="square" lIns="0" tIns="0" rIns="0" bIns="0" rtlCol="0" anchor="ctr"/>
          <a:lstStyle/>
          <a:p>
            <a:pPr algn="ctr" indent="0" marL="0">
              <a:buNone/>
            </a:pPr>
            <a:r>
              <a:rPr lang="en-US" sz="1050" dirty="0">
                <a:solidFill>
                  <a:srgbClr val="6E4B1F"/>
                </a:solidFill>
                <a:latin typeface="Calibri" pitchFamily="34" charset="0"/>
                <a:ea typeface="Calibri" pitchFamily="34" charset="-122"/>
                <a:cs typeface="Calibri" pitchFamily="34" charset="-120"/>
              </a:rPr>
              <a:t>Vertexon CMS v1</a:t>
            </a:r>
            <a:endParaRPr lang="en-US" sz="1050" dirty="0"/>
          </a:p>
        </p:txBody>
      </p:sp>
      <p:sp>
        <p:nvSpPr>
          <p:cNvPr id="25" name="Shape 23"/>
          <p:cNvSpPr/>
          <p:nvPr/>
        </p:nvSpPr>
        <p:spPr>
          <a:xfrm flipV="1">
            <a:off x="8759952" y="1892808"/>
            <a:ext cx="256032" cy="402336"/>
          </a:xfrm>
          <a:prstGeom prst="line">
            <a:avLst/>
          </a:prstGeom>
          <a:noFill/>
          <a:ln w="13970">
            <a:solidFill>
              <a:srgbClr val="6E4B1F"/>
            </a:solidFill>
            <a:prstDash val="solid"/>
            <a:tailEnd type="triangle"/>
          </a:ln>
        </p:spPr>
      </p:sp>
      <p:sp>
        <p:nvSpPr>
          <p:cNvPr id="26" name="Shape 24"/>
          <p:cNvSpPr/>
          <p:nvPr/>
        </p:nvSpPr>
        <p:spPr>
          <a:xfrm>
            <a:off x="9070848" y="2176272"/>
            <a:ext cx="2553919" cy="384048"/>
          </a:xfrm>
          <a:prstGeom prst="roundRect">
            <a:avLst>
              <a:gd name="adj" fmla="val 19048"/>
            </a:avLst>
          </a:prstGeom>
          <a:solidFill>
            <a:srgbClr val="F6EFE2"/>
          </a:solidFill>
          <a:ln w="12700">
            <a:solidFill>
              <a:srgbClr val="DCC79E"/>
            </a:solidFill>
            <a:prstDash val="solid"/>
          </a:ln>
        </p:spPr>
      </p:sp>
      <p:sp>
        <p:nvSpPr>
          <p:cNvPr id="27" name="Text 25"/>
          <p:cNvSpPr txBox="1"/>
          <p:nvPr/>
        </p:nvSpPr>
        <p:spPr>
          <a:xfrm>
            <a:off x="9144000" y="2176272"/>
            <a:ext cx="2407615" cy="384048"/>
          </a:xfrm>
          <a:prstGeom prst="rect">
            <a:avLst/>
          </a:prstGeom>
          <a:noFill/>
          <a:ln/>
        </p:spPr>
        <p:txBody>
          <a:bodyPr wrap="square" lIns="0" tIns="0" rIns="0" bIns="0" rtlCol="0" anchor="ctr"/>
          <a:lstStyle/>
          <a:p>
            <a:pPr algn="ctr" indent="0" marL="0">
              <a:buNone/>
            </a:pPr>
            <a:r>
              <a:rPr lang="en-US" sz="1050" dirty="0">
                <a:solidFill>
                  <a:srgbClr val="6E4B1F"/>
                </a:solidFill>
                <a:latin typeface="Calibri" pitchFamily="34" charset="0"/>
                <a:ea typeface="Calibri" pitchFamily="34" charset="-122"/>
                <a:cs typeface="Calibri" pitchFamily="34" charset="-120"/>
              </a:rPr>
              <a:t>Vertexon CMS v2</a:t>
            </a:r>
            <a:endParaRPr lang="en-US" sz="1050" dirty="0"/>
          </a:p>
        </p:txBody>
      </p:sp>
      <p:sp>
        <p:nvSpPr>
          <p:cNvPr id="28" name="Shape 26"/>
          <p:cNvSpPr/>
          <p:nvPr/>
        </p:nvSpPr>
        <p:spPr>
          <a:xfrm>
            <a:off x="8759952" y="2295144"/>
            <a:ext cx="256032" cy="73152"/>
          </a:xfrm>
          <a:prstGeom prst="line">
            <a:avLst/>
          </a:prstGeom>
          <a:noFill/>
          <a:ln w="13970">
            <a:solidFill>
              <a:srgbClr val="6E4B1F"/>
            </a:solidFill>
            <a:prstDash val="solid"/>
            <a:tailEnd type="triangle"/>
          </a:ln>
        </p:spPr>
      </p:sp>
      <p:sp>
        <p:nvSpPr>
          <p:cNvPr id="29" name="Shape 27"/>
          <p:cNvSpPr/>
          <p:nvPr/>
        </p:nvSpPr>
        <p:spPr>
          <a:xfrm>
            <a:off x="9070848" y="2651760"/>
            <a:ext cx="2553919" cy="384048"/>
          </a:xfrm>
          <a:prstGeom prst="roundRect">
            <a:avLst>
              <a:gd name="adj" fmla="val 19048"/>
            </a:avLst>
          </a:prstGeom>
          <a:solidFill>
            <a:srgbClr val="FFFFFF"/>
          </a:solidFill>
          <a:ln w="12700">
            <a:solidFill>
              <a:srgbClr val="DCC79E"/>
            </a:solidFill>
            <a:prstDash val="solid"/>
          </a:ln>
        </p:spPr>
      </p:sp>
      <p:sp>
        <p:nvSpPr>
          <p:cNvPr id="30" name="Text 28"/>
          <p:cNvSpPr txBox="1"/>
          <p:nvPr/>
        </p:nvSpPr>
        <p:spPr>
          <a:xfrm>
            <a:off x="9144000" y="2651760"/>
            <a:ext cx="2407615" cy="384048"/>
          </a:xfrm>
          <a:prstGeom prst="rect">
            <a:avLst/>
          </a:prstGeom>
          <a:noFill/>
          <a:ln/>
        </p:spPr>
        <p:txBody>
          <a:bodyPr wrap="square" lIns="0" tIns="0" rIns="0" bIns="0" rtlCol="0" anchor="ctr"/>
          <a:lstStyle/>
          <a:p>
            <a:pPr algn="ctr" indent="0" marL="0">
              <a:buNone/>
            </a:pPr>
            <a:r>
              <a:rPr lang="en-US" sz="1050" i="1" dirty="0">
                <a:solidFill>
                  <a:srgbClr val="6E4B1F"/>
                </a:solidFill>
                <a:latin typeface="Calibri" pitchFamily="34" charset="0"/>
                <a:ea typeface="Calibri" pitchFamily="34" charset="-122"/>
                <a:cs typeface="Calibri" pitchFamily="34" charset="-120"/>
              </a:rPr>
              <a:t>Any replacement</a:t>
            </a:r>
            <a:endParaRPr lang="en-US" sz="1050" dirty="0"/>
          </a:p>
        </p:txBody>
      </p:sp>
      <p:sp>
        <p:nvSpPr>
          <p:cNvPr id="31" name="Shape 29"/>
          <p:cNvSpPr/>
          <p:nvPr/>
        </p:nvSpPr>
        <p:spPr>
          <a:xfrm>
            <a:off x="8759952" y="2295144"/>
            <a:ext cx="256032" cy="548640"/>
          </a:xfrm>
          <a:prstGeom prst="line">
            <a:avLst/>
          </a:prstGeom>
          <a:noFill/>
          <a:ln w="13970">
            <a:solidFill>
              <a:srgbClr val="6E4B1F"/>
            </a:solidFill>
            <a:prstDash val="dash"/>
            <a:tailEnd type="triangle"/>
          </a:ln>
        </p:spPr>
      </p:sp>
      <p:sp>
        <p:nvSpPr>
          <p:cNvPr id="32" name="Text 30"/>
          <p:cNvSpPr txBox="1"/>
          <p:nvPr/>
        </p:nvSpPr>
        <p:spPr>
          <a:xfrm>
            <a:off x="9070848" y="3182112"/>
            <a:ext cx="2553919" cy="310896"/>
          </a:xfrm>
          <a:prstGeom prst="rect">
            <a:avLst/>
          </a:prstGeom>
          <a:noFill/>
          <a:ln/>
        </p:spPr>
        <p:txBody>
          <a:bodyPr wrap="square" lIns="0" tIns="0" rIns="0" bIns="0" rtlCol="0" anchor="t"/>
          <a:lstStyle/>
          <a:p>
            <a:pPr indent="0" marL="0">
              <a:buNone/>
            </a:pPr>
            <a:r>
              <a:rPr lang="en-US" sz="1000" i="1" dirty="0">
                <a:solidFill>
                  <a:srgbClr val="5C6A7A"/>
                </a:solidFill>
                <a:latin typeface="Calibri" pitchFamily="34" charset="0"/>
                <a:ea typeface="Calibri" pitchFamily="34" charset="-122"/>
                <a:cs typeface="Calibri" pitchFamily="34" charset="-120"/>
              </a:rPr>
              <a:t>changes on the vendor's schedule</a:t>
            </a:r>
            <a:endParaRPr lang="en-US" sz="1000" dirty="0"/>
          </a:p>
        </p:txBody>
      </p:sp>
      <p:sp>
        <p:nvSpPr>
          <p:cNvPr id="33" name="Shape 31"/>
          <p:cNvSpPr/>
          <p:nvPr/>
        </p:nvSpPr>
        <p:spPr>
          <a:xfrm>
            <a:off x="566928" y="5577840"/>
            <a:ext cx="11057839" cy="749808"/>
          </a:xfrm>
          <a:prstGeom prst="roundRect">
            <a:avLst>
              <a:gd name="adj" fmla="val 9756"/>
            </a:avLst>
          </a:prstGeom>
          <a:solidFill>
            <a:srgbClr val="1E2761"/>
          </a:solidFill>
          <a:ln w="12700">
            <a:solidFill>
              <a:srgbClr val="1E2761"/>
            </a:solidFill>
            <a:prstDash val="solid"/>
          </a:ln>
        </p:spPr>
      </p:sp>
      <p:sp>
        <p:nvSpPr>
          <p:cNvPr id="34" name="Text 32"/>
          <p:cNvSpPr txBox="1"/>
          <p:nvPr/>
        </p:nvSpPr>
        <p:spPr>
          <a:xfrm>
            <a:off x="841248" y="5577840"/>
            <a:ext cx="10509199" cy="7498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mapping is the shock absorber.  </a:t>
            </a:r>
            <a:pPr indent="0" marL="0">
              <a:buNone/>
            </a:pPr>
            <a:r>
              <a:rPr lang="en-US" sz="1250" dirty="0">
                <a:solidFill>
                  <a:srgbClr val="CADCFC"/>
                </a:solidFill>
                <a:latin typeface="Calibri" pitchFamily="34" charset="0"/>
                <a:ea typeface="Calibri" pitchFamily="34" charset="-122"/>
                <a:cs typeface="Calibri" pitchFamily="34" charset="-120"/>
              </a:rPr>
              <a:t>It is the only artefact that has to know both vocabularies, so it is the only one that has to change when the product does. That is what makes the vendor replaceable rather than embedded.</a:t>
            </a:r>
            <a:endParaRPr lang="en-US" sz="1300" dirty="0"/>
          </a:p>
        </p:txBody>
      </p:sp>
      <p:sp>
        <p:nvSpPr>
          <p:cNvPr id="35" name="Text 33"/>
          <p:cNvSpPr txBox="1"/>
          <p:nvPr/>
        </p:nvSpPr>
        <p:spPr>
          <a:xfrm>
            <a:off x="566928" y="6455664"/>
            <a:ext cx="5486400" cy="256032"/>
          </a:xfrm>
          <a:prstGeom prst="rect">
            <a:avLst/>
          </a:prstGeom>
          <a:noFill/>
          <a:ln/>
        </p:spPr>
        <p:txBody>
          <a:bodyPr wrap="square" lIns="0" tIns="0" rIns="0" bIns="0" rtlCol="0" anchor="ctr"/>
          <a:lstStyle/>
          <a:p>
            <a:pPr indent="0" marL="0">
              <a:buNone/>
            </a:pPr>
            <a:r>
              <a:rPr lang="en-US" sz="850" dirty="0">
                <a:solidFill>
                  <a:srgbClr val="8A97A6"/>
                </a:solidFill>
                <a:latin typeface="Calibri" pitchFamily="34" charset="0"/>
                <a:ea typeface="Calibri" pitchFamily="34" charset="-122"/>
                <a:cs typeface="Calibri" pitchFamily="34" charset="-120"/>
              </a:rPr>
              <a:t>The BIAN interface and the System of Record  ·  CC&amp;C Solutions</a:t>
            </a:r>
            <a:endParaRPr lang="en-US" sz="850" dirty="0"/>
          </a:p>
        </p:txBody>
      </p:sp>
      <p:sp>
        <p:nvSpPr>
          <p:cNvPr id="36" name="Text 34"/>
          <p:cNvSpPr txBox="1"/>
          <p:nvPr/>
        </p:nvSpPr>
        <p:spPr>
          <a:xfrm>
            <a:off x="11076127" y="6455664"/>
            <a:ext cx="548640" cy="256032"/>
          </a:xfrm>
          <a:prstGeom prst="rect">
            <a:avLst/>
          </a:prstGeom>
          <a:noFill/>
          <a:ln/>
        </p:spPr>
        <p:txBody>
          <a:bodyPr wrap="square" lIns="0" tIns="0" rIns="0" bIns="0" rtlCol="0" anchor="ctr"/>
          <a:lstStyle/>
          <a:p>
            <a:pPr algn="r" indent="0" marL="0">
              <a:buNone/>
            </a:pPr>
            <a:r>
              <a:rPr lang="en-US" sz="900" dirty="0">
                <a:solidFill>
                  <a:srgbClr val="8A97A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713232"/>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What leaks, when it is allowed to</a:t>
            </a:r>
            <a:endParaRPr lang="en-US" sz="3400" dirty="0"/>
          </a:p>
        </p:txBody>
      </p:sp>
      <p:sp>
        <p:nvSpPr>
          <p:cNvPr id="3" name="Text 1"/>
          <p:cNvSpPr txBox="1"/>
          <p:nvPr/>
        </p:nvSpPr>
        <p:spPr>
          <a:xfrm>
            <a:off x="566928" y="1115568"/>
            <a:ext cx="11057839" cy="384048"/>
          </a:xfrm>
          <a:prstGeom prst="rect">
            <a:avLst/>
          </a:prstGeom>
          <a:noFill/>
          <a:ln/>
        </p:spPr>
        <p:txBody>
          <a:bodyPr wrap="square" lIns="0" tIns="0" rIns="0" bIns="0" rtlCol="0" anchor="t"/>
          <a:lstStyle/>
          <a:p>
            <a:pPr indent="0" marL="0">
              <a:buNone/>
            </a:pPr>
            <a:r>
              <a:rPr lang="en-US" sz="1400" dirty="0">
                <a:solidFill>
                  <a:srgbClr val="5C6A7A"/>
                </a:solidFill>
                <a:latin typeface="Calibri" pitchFamily="34" charset="0"/>
                <a:ea typeface="Calibri" pitchFamily="34" charset="-122"/>
                <a:cs typeface="Calibri" pitchFamily="34" charset="-120"/>
              </a:rPr>
              <a:t>Every example on this slide is from the credit card mapping workbook, unaltered.</a:t>
            </a:r>
            <a:endParaRPr lang="en-US" sz="1400" dirty="0"/>
          </a:p>
        </p:txBody>
      </p:sp>
      <p:sp>
        <p:nvSpPr>
          <p:cNvPr id="4" name="Shape 2"/>
          <p:cNvSpPr/>
          <p:nvPr/>
        </p:nvSpPr>
        <p:spPr>
          <a:xfrm>
            <a:off x="566928" y="1828800"/>
            <a:ext cx="3490874" cy="1572768"/>
          </a:xfrm>
          <a:prstGeom prst="roundRect">
            <a:avLst>
              <a:gd name="adj" fmla="val 4651"/>
            </a:avLst>
          </a:prstGeom>
          <a:solidFill>
            <a:srgbClr val="FFFFFF"/>
          </a:solidFill>
          <a:ln w="12700">
            <a:solidFill>
              <a:srgbClr val="E2E8F1"/>
            </a:solidFill>
            <a:prstDash val="solid"/>
          </a:ln>
          <a:effectLst>
            <a:outerShdw sx="100000" sy="100000" kx="0" ky="0" algn="bl" rotWithShape="0" blurRad="101600" dist="17780" dir="5400000">
              <a:srgbClr val="9AA7B8">
                <a:alpha val="20000"/>
              </a:srgbClr>
            </a:outerShdw>
          </a:effectLst>
        </p:spPr>
      </p:sp>
      <p:sp>
        <p:nvSpPr>
          <p:cNvPr id="5" name="Text 3"/>
          <p:cNvSpPr txBox="1"/>
          <p:nvPr/>
        </p:nvSpPr>
        <p:spPr>
          <a:xfrm>
            <a:off x="786384" y="1975104"/>
            <a:ext cx="2210714" cy="27432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Vocabulary</a:t>
            </a:r>
            <a:endParaRPr lang="en-US" sz="1350" dirty="0"/>
          </a:p>
        </p:txBody>
      </p:sp>
      <p:sp>
        <p:nvSpPr>
          <p:cNvPr id="6" name="Shape 4"/>
          <p:cNvSpPr/>
          <p:nvPr/>
        </p:nvSpPr>
        <p:spPr>
          <a:xfrm>
            <a:off x="3033674" y="1993392"/>
            <a:ext cx="822960" cy="237744"/>
          </a:xfrm>
          <a:prstGeom prst="roundRect">
            <a:avLst>
              <a:gd name="adj" fmla="val 50000"/>
            </a:avLst>
          </a:prstGeom>
          <a:solidFill>
            <a:srgbClr val="F6EFE2"/>
          </a:solidFill>
          <a:ln w="9525">
            <a:solidFill>
              <a:srgbClr val="DCC79E"/>
            </a:solidFill>
            <a:prstDash val="solid"/>
          </a:ln>
        </p:spPr>
      </p:sp>
      <p:sp>
        <p:nvSpPr>
          <p:cNvPr id="7" name="Text 5"/>
          <p:cNvSpPr txBox="1"/>
          <p:nvPr/>
        </p:nvSpPr>
        <p:spPr>
          <a:xfrm>
            <a:off x="3033674" y="1993392"/>
            <a:ext cx="822960" cy="237744"/>
          </a:xfrm>
          <a:prstGeom prst="rect">
            <a:avLst/>
          </a:prstGeom>
          <a:noFill/>
          <a:ln/>
        </p:spPr>
        <p:txBody>
          <a:bodyPr wrap="square" lIns="0" tIns="0" rIns="0" bIns="0" rtlCol="0" anchor="ctr"/>
          <a:lstStyle/>
          <a:p>
            <a:pPr algn="ctr" indent="0" marL="0">
              <a:buNone/>
            </a:pPr>
            <a:r>
              <a:rPr lang="en-US" sz="950" b="1" dirty="0">
                <a:solidFill>
                  <a:srgbClr val="6E4B1F"/>
                </a:solidFill>
                <a:latin typeface="Calibri" pitchFamily="34" charset="0"/>
                <a:ea typeface="Calibri" pitchFamily="34" charset="-122"/>
                <a:cs typeface="Calibri" pitchFamily="34" charset="-120"/>
              </a:rPr>
              <a:t>22 pairs</a:t>
            </a:r>
            <a:endParaRPr lang="en-US" sz="950" dirty="0"/>
          </a:p>
        </p:txBody>
      </p:sp>
      <p:sp>
        <p:nvSpPr>
          <p:cNvPr id="8" name="Text 6"/>
          <p:cNvSpPr txBox="1"/>
          <p:nvPr/>
        </p:nvSpPr>
        <p:spPr>
          <a:xfrm>
            <a:off x="786384" y="2286000"/>
            <a:ext cx="3051962" cy="384048"/>
          </a:xfrm>
          <a:prstGeom prst="rect">
            <a:avLst/>
          </a:prstGeom>
          <a:noFill/>
          <a:ln/>
        </p:spPr>
        <p:txBody>
          <a:bodyPr wrap="square" lIns="0" tIns="0" rIns="0" bIns="0" rtlCol="0" anchor="t"/>
          <a:lstStyle/>
          <a:p>
            <a:pPr indent="0" marL="0">
              <a:buNone/>
            </a:pPr>
            <a:r>
              <a:rPr lang="en-US" sz="1050" dirty="0">
                <a:solidFill>
                  <a:srgbClr val="5C6A7A"/>
                </a:solidFill>
                <a:latin typeface="Calibri" pitchFamily="34" charset="0"/>
                <a:ea typeface="Calibri" pitchFamily="34" charset="-122"/>
                <a:cs typeface="Calibri" pitchFamily="34" charset="-120"/>
              </a:rPr>
              <a:t>The product's words replace banking's.</a:t>
            </a:r>
            <a:endParaRPr lang="en-US" sz="1050" dirty="0"/>
          </a:p>
        </p:txBody>
      </p:sp>
      <p:sp>
        <p:nvSpPr>
          <p:cNvPr id="9" name="Shape 7"/>
          <p:cNvSpPr/>
          <p:nvPr/>
        </p:nvSpPr>
        <p:spPr>
          <a:xfrm>
            <a:off x="786384" y="2724912"/>
            <a:ext cx="3051962" cy="530352"/>
          </a:xfrm>
          <a:prstGeom prst="roundRect">
            <a:avLst>
              <a:gd name="adj" fmla="val 13793"/>
            </a:avLst>
          </a:prstGeom>
          <a:solidFill>
            <a:srgbClr val="F6EFE2"/>
          </a:solidFill>
          <a:ln w="12700">
            <a:solidFill>
              <a:srgbClr val="DCC79E"/>
            </a:solidFill>
            <a:prstDash val="solid"/>
          </a:ln>
        </p:spPr>
      </p:sp>
      <p:sp>
        <p:nvSpPr>
          <p:cNvPr id="10" name="Text 8"/>
          <p:cNvSpPr txBox="1"/>
          <p:nvPr/>
        </p:nvSpPr>
        <p:spPr>
          <a:xfrm>
            <a:off x="859536" y="2724912"/>
            <a:ext cx="2905658" cy="530352"/>
          </a:xfrm>
          <a:prstGeom prst="rect">
            <a:avLst/>
          </a:prstGeom>
          <a:noFill/>
          <a:ln/>
        </p:spPr>
        <p:txBody>
          <a:bodyPr wrap="square" lIns="0" tIns="0" rIns="0" bIns="0" rtlCol="0" anchor="ctr"/>
          <a:lstStyle/>
          <a:p>
            <a:pPr algn="ctr" indent="0" marL="0">
              <a:buNone/>
            </a:pPr>
            <a:r>
              <a:rPr lang="en-US" sz="850" dirty="0">
                <a:solidFill>
                  <a:srgbClr val="6E4B1F"/>
                </a:solidFill>
                <a:latin typeface="Consolas" pitchFamily="34" charset="0"/>
                <a:ea typeface="Consolas" pitchFamily="34" charset="-122"/>
                <a:cs typeface="Consolas" pitchFamily="34" charset="-120"/>
              </a:rPr>
              <a:t>issuedDeviceIdentification</a:t>
            </a:r>
            <a:endParaRPr lang="en-US" sz="850" dirty="0"/>
          </a:p>
          <a:p>
            <a:pPr algn="ctr" indent="0" marL="0">
              <a:buNone/>
            </a:pPr>
            <a:r>
              <a:rPr lang="en-US" sz="850" dirty="0">
                <a:solidFill>
                  <a:srgbClr val="6E4B1F"/>
                </a:solidFill>
                <a:latin typeface="Consolas" pitchFamily="34" charset="0"/>
                <a:ea typeface="Consolas" pitchFamily="34" charset="-122"/>
                <a:cs typeface="Consolas" pitchFamily="34" charset="-120"/>
              </a:rPr>
              <a:t>becomes cardNumber</a:t>
            </a:r>
            <a:endParaRPr lang="en-US" sz="850" dirty="0"/>
          </a:p>
        </p:txBody>
      </p:sp>
      <p:sp>
        <p:nvSpPr>
          <p:cNvPr id="11" name="Shape 9"/>
          <p:cNvSpPr/>
          <p:nvPr/>
        </p:nvSpPr>
        <p:spPr>
          <a:xfrm>
            <a:off x="4350410" y="1828800"/>
            <a:ext cx="3490874" cy="1572768"/>
          </a:xfrm>
          <a:prstGeom prst="roundRect">
            <a:avLst>
              <a:gd name="adj" fmla="val 4651"/>
            </a:avLst>
          </a:prstGeom>
          <a:solidFill>
            <a:srgbClr val="FFFFFF"/>
          </a:solidFill>
          <a:ln w="12700">
            <a:solidFill>
              <a:srgbClr val="E2E8F1"/>
            </a:solidFill>
            <a:prstDash val="solid"/>
          </a:ln>
          <a:effectLst>
            <a:outerShdw sx="100000" sy="100000" kx="0" ky="0" algn="bl" rotWithShape="0" blurRad="101600" dist="17780" dir="5400000">
              <a:srgbClr val="9AA7B8">
                <a:alpha val="20000"/>
              </a:srgbClr>
            </a:outerShdw>
          </a:effectLst>
        </p:spPr>
      </p:sp>
      <p:sp>
        <p:nvSpPr>
          <p:cNvPr id="12" name="Text 10"/>
          <p:cNvSpPr txBox="1"/>
          <p:nvPr/>
        </p:nvSpPr>
        <p:spPr>
          <a:xfrm>
            <a:off x="4569866" y="1975104"/>
            <a:ext cx="2210714" cy="27432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Structure</a:t>
            </a:r>
            <a:endParaRPr lang="en-US" sz="1350" dirty="0"/>
          </a:p>
        </p:txBody>
      </p:sp>
      <p:sp>
        <p:nvSpPr>
          <p:cNvPr id="13" name="Shape 11"/>
          <p:cNvSpPr/>
          <p:nvPr/>
        </p:nvSpPr>
        <p:spPr>
          <a:xfrm>
            <a:off x="6817157" y="1993392"/>
            <a:ext cx="822960" cy="237744"/>
          </a:xfrm>
          <a:prstGeom prst="roundRect">
            <a:avLst>
              <a:gd name="adj" fmla="val 50000"/>
            </a:avLst>
          </a:prstGeom>
          <a:solidFill>
            <a:srgbClr val="F6EFE2"/>
          </a:solidFill>
          <a:ln w="9525">
            <a:solidFill>
              <a:srgbClr val="DCC79E"/>
            </a:solidFill>
            <a:prstDash val="solid"/>
          </a:ln>
        </p:spPr>
      </p:sp>
      <p:sp>
        <p:nvSpPr>
          <p:cNvPr id="14" name="Text 12"/>
          <p:cNvSpPr txBox="1"/>
          <p:nvPr/>
        </p:nvSpPr>
        <p:spPr>
          <a:xfrm>
            <a:off x="6817157" y="1993392"/>
            <a:ext cx="822960" cy="237744"/>
          </a:xfrm>
          <a:prstGeom prst="rect">
            <a:avLst/>
          </a:prstGeom>
          <a:noFill/>
          <a:ln/>
        </p:spPr>
        <p:txBody>
          <a:bodyPr wrap="square" lIns="0" tIns="0" rIns="0" bIns="0" rtlCol="0" anchor="ctr"/>
          <a:lstStyle/>
          <a:p>
            <a:pPr algn="ctr" indent="0" marL="0">
              <a:buNone/>
            </a:pPr>
            <a:r>
              <a:rPr lang="en-US" sz="950" b="1" dirty="0">
                <a:solidFill>
                  <a:srgbClr val="6E4B1F"/>
                </a:solidFill>
                <a:latin typeface="Calibri" pitchFamily="34" charset="0"/>
                <a:ea typeface="Calibri" pitchFamily="34" charset="-122"/>
                <a:cs typeface="Calibri" pitchFamily="34" charset="-120"/>
              </a:rPr>
              <a:t>95 mappings</a:t>
            </a:r>
            <a:endParaRPr lang="en-US" sz="950" dirty="0"/>
          </a:p>
        </p:txBody>
      </p:sp>
      <p:sp>
        <p:nvSpPr>
          <p:cNvPr id="15" name="Text 13"/>
          <p:cNvSpPr txBox="1"/>
          <p:nvPr/>
        </p:nvSpPr>
        <p:spPr>
          <a:xfrm>
            <a:off x="4569866" y="2286000"/>
            <a:ext cx="3051962" cy="384048"/>
          </a:xfrm>
          <a:prstGeom prst="rect">
            <a:avLst/>
          </a:prstGeom>
          <a:noFill/>
          <a:ln/>
        </p:spPr>
        <p:txBody>
          <a:bodyPr wrap="square" lIns="0" tIns="0" rIns="0" bIns="0" rtlCol="0" anchor="t"/>
          <a:lstStyle/>
          <a:p>
            <a:pPr indent="0" marL="0">
              <a:buNone/>
            </a:pPr>
            <a:r>
              <a:rPr lang="en-US" sz="1050" dirty="0">
                <a:solidFill>
                  <a:srgbClr val="5C6A7A"/>
                </a:solidFill>
                <a:latin typeface="Calibri" pitchFamily="34" charset="0"/>
                <a:ea typeface="Calibri" pitchFamily="34" charset="-122"/>
                <a:cs typeface="Calibri" pitchFamily="34" charset="-120"/>
              </a:rPr>
              <a:t>The vendor's nesting becomes the business hierarchy.</a:t>
            </a:r>
            <a:endParaRPr lang="en-US" sz="1050" dirty="0"/>
          </a:p>
        </p:txBody>
      </p:sp>
      <p:sp>
        <p:nvSpPr>
          <p:cNvPr id="16" name="Shape 14"/>
          <p:cNvSpPr/>
          <p:nvPr/>
        </p:nvSpPr>
        <p:spPr>
          <a:xfrm>
            <a:off x="4569866" y="2724912"/>
            <a:ext cx="3051962" cy="530352"/>
          </a:xfrm>
          <a:prstGeom prst="roundRect">
            <a:avLst>
              <a:gd name="adj" fmla="val 13793"/>
            </a:avLst>
          </a:prstGeom>
          <a:solidFill>
            <a:srgbClr val="F6EFE2"/>
          </a:solidFill>
          <a:ln w="12700">
            <a:solidFill>
              <a:srgbClr val="DCC79E"/>
            </a:solidFill>
            <a:prstDash val="solid"/>
          </a:ln>
        </p:spPr>
      </p:sp>
      <p:sp>
        <p:nvSpPr>
          <p:cNvPr id="17" name="Text 15"/>
          <p:cNvSpPr txBox="1"/>
          <p:nvPr/>
        </p:nvSpPr>
        <p:spPr>
          <a:xfrm>
            <a:off x="4643018" y="2724912"/>
            <a:ext cx="2905658" cy="530352"/>
          </a:xfrm>
          <a:prstGeom prst="rect">
            <a:avLst/>
          </a:prstGeom>
          <a:noFill/>
          <a:ln/>
        </p:spPr>
        <p:txBody>
          <a:bodyPr wrap="square" lIns="0" tIns="0" rIns="0" bIns="0" rtlCol="0" anchor="ctr"/>
          <a:lstStyle/>
          <a:p>
            <a:pPr algn="ctr" indent="0" marL="0">
              <a:buNone/>
            </a:pPr>
            <a:r>
              <a:rPr lang="en-US" sz="850" dirty="0">
                <a:solidFill>
                  <a:srgbClr val="6E4B1F"/>
                </a:solidFill>
                <a:latin typeface="Consolas" pitchFamily="34" charset="0"/>
                <a:ea typeface="Consolas" pitchFamily="34" charset="-122"/>
                <a:cs typeface="Consolas" pitchFamily="34" charset="-120"/>
              </a:rPr>
              <a:t>accountTransactions.transactions</a:t>
            </a:r>
            <a:endParaRPr lang="en-US" sz="850" dirty="0"/>
          </a:p>
          <a:p>
            <a:pPr algn="ctr" indent="0" marL="0">
              <a:buNone/>
            </a:pPr>
            <a:r>
              <a:rPr lang="en-US" sz="850" dirty="0">
                <a:solidFill>
                  <a:srgbClr val="6E4B1F"/>
                </a:solidFill>
                <a:latin typeface="Consolas" pitchFamily="34" charset="0"/>
                <a:ea typeface="Consolas" pitchFamily="34" charset="-122"/>
                <a:cs typeface="Consolas" pitchFamily="34" charset="-120"/>
              </a:rPr>
              <a:t>.posEntryMode.capturePANMethod</a:t>
            </a:r>
            <a:endParaRPr lang="en-US" sz="850" dirty="0"/>
          </a:p>
        </p:txBody>
      </p:sp>
      <p:sp>
        <p:nvSpPr>
          <p:cNvPr id="18" name="Shape 16"/>
          <p:cNvSpPr/>
          <p:nvPr/>
        </p:nvSpPr>
        <p:spPr>
          <a:xfrm>
            <a:off x="8133893" y="1828800"/>
            <a:ext cx="3490874" cy="1572768"/>
          </a:xfrm>
          <a:prstGeom prst="roundRect">
            <a:avLst>
              <a:gd name="adj" fmla="val 4651"/>
            </a:avLst>
          </a:prstGeom>
          <a:solidFill>
            <a:srgbClr val="FFFFFF"/>
          </a:solidFill>
          <a:ln w="12700">
            <a:solidFill>
              <a:srgbClr val="E2E8F1"/>
            </a:solidFill>
            <a:prstDash val="solid"/>
          </a:ln>
          <a:effectLst>
            <a:outerShdw sx="100000" sy="100000" kx="0" ky="0" algn="bl" rotWithShape="0" blurRad="101600" dist="17780" dir="5400000">
              <a:srgbClr val="9AA7B8">
                <a:alpha val="20000"/>
              </a:srgbClr>
            </a:outerShdw>
          </a:effectLst>
        </p:spPr>
      </p:sp>
      <p:sp>
        <p:nvSpPr>
          <p:cNvPr id="19" name="Text 17"/>
          <p:cNvSpPr txBox="1"/>
          <p:nvPr/>
        </p:nvSpPr>
        <p:spPr>
          <a:xfrm>
            <a:off x="8353349" y="1975104"/>
            <a:ext cx="2210714" cy="27432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Granularity</a:t>
            </a:r>
            <a:endParaRPr lang="en-US" sz="1350" dirty="0"/>
          </a:p>
        </p:txBody>
      </p:sp>
      <p:sp>
        <p:nvSpPr>
          <p:cNvPr id="20" name="Shape 18"/>
          <p:cNvSpPr/>
          <p:nvPr/>
        </p:nvSpPr>
        <p:spPr>
          <a:xfrm>
            <a:off x="10600639" y="1993392"/>
            <a:ext cx="822960" cy="237744"/>
          </a:xfrm>
          <a:prstGeom prst="roundRect">
            <a:avLst>
              <a:gd name="adj" fmla="val 50000"/>
            </a:avLst>
          </a:prstGeom>
          <a:solidFill>
            <a:srgbClr val="F6EFE2"/>
          </a:solidFill>
          <a:ln w="9525">
            <a:solidFill>
              <a:srgbClr val="DCC79E"/>
            </a:solidFill>
            <a:prstDash val="solid"/>
          </a:ln>
        </p:spPr>
      </p:sp>
      <p:sp>
        <p:nvSpPr>
          <p:cNvPr id="21" name="Text 19"/>
          <p:cNvSpPr txBox="1"/>
          <p:nvPr/>
        </p:nvSpPr>
        <p:spPr>
          <a:xfrm>
            <a:off x="10600639" y="1993392"/>
            <a:ext cx="822960" cy="237744"/>
          </a:xfrm>
          <a:prstGeom prst="rect">
            <a:avLst/>
          </a:prstGeom>
          <a:noFill/>
          <a:ln/>
        </p:spPr>
        <p:txBody>
          <a:bodyPr wrap="square" lIns="0" tIns="0" rIns="0" bIns="0" rtlCol="0" anchor="ctr"/>
          <a:lstStyle/>
          <a:p>
            <a:pPr algn="ctr" indent="0" marL="0">
              <a:buNone/>
            </a:pPr>
            <a:r>
              <a:rPr lang="en-US" sz="950" b="1" dirty="0">
                <a:solidFill>
                  <a:srgbClr val="6E4B1F"/>
                </a:solidFill>
                <a:latin typeface="Calibri" pitchFamily="34" charset="0"/>
                <a:ea typeface="Calibri" pitchFamily="34" charset="-122"/>
                <a:cs typeface="Calibri" pitchFamily="34" charset="-120"/>
              </a:rPr>
              <a:t>3 operations</a:t>
            </a:r>
            <a:endParaRPr lang="en-US" sz="950" dirty="0"/>
          </a:p>
        </p:txBody>
      </p:sp>
      <p:sp>
        <p:nvSpPr>
          <p:cNvPr id="22" name="Text 20"/>
          <p:cNvSpPr txBox="1"/>
          <p:nvPr/>
        </p:nvSpPr>
        <p:spPr>
          <a:xfrm>
            <a:off x="8353349" y="2286000"/>
            <a:ext cx="3051962" cy="384048"/>
          </a:xfrm>
          <a:prstGeom prst="rect">
            <a:avLst/>
          </a:prstGeom>
          <a:noFill/>
          <a:ln/>
        </p:spPr>
        <p:txBody>
          <a:bodyPr wrap="square" lIns="0" tIns="0" rIns="0" bIns="0" rtlCol="0" anchor="t"/>
          <a:lstStyle/>
          <a:p>
            <a:pPr indent="0" marL="0">
              <a:buNone/>
            </a:pPr>
            <a:r>
              <a:rPr lang="en-US" sz="1050" dirty="0">
                <a:solidFill>
                  <a:srgbClr val="5C6A7A"/>
                </a:solidFill>
                <a:latin typeface="Calibri" pitchFamily="34" charset="0"/>
                <a:ea typeface="Calibri" pitchFamily="34" charset="-122"/>
                <a:cs typeface="Calibri" pitchFamily="34" charset="-120"/>
              </a:rPr>
              <a:t>The product's call decomposition becomes the operation count.</a:t>
            </a:r>
            <a:endParaRPr lang="en-US" sz="1050" dirty="0"/>
          </a:p>
        </p:txBody>
      </p:sp>
      <p:sp>
        <p:nvSpPr>
          <p:cNvPr id="23" name="Shape 21"/>
          <p:cNvSpPr/>
          <p:nvPr/>
        </p:nvSpPr>
        <p:spPr>
          <a:xfrm>
            <a:off x="8353349" y="2724912"/>
            <a:ext cx="3051962" cy="530352"/>
          </a:xfrm>
          <a:prstGeom prst="roundRect">
            <a:avLst>
              <a:gd name="adj" fmla="val 13793"/>
            </a:avLst>
          </a:prstGeom>
          <a:solidFill>
            <a:srgbClr val="F6EFE2"/>
          </a:solidFill>
          <a:ln w="12700">
            <a:solidFill>
              <a:srgbClr val="DCC79E"/>
            </a:solidFill>
            <a:prstDash val="solid"/>
          </a:ln>
        </p:spPr>
      </p:sp>
      <p:sp>
        <p:nvSpPr>
          <p:cNvPr id="24" name="Text 22"/>
          <p:cNvSpPr txBox="1"/>
          <p:nvPr/>
        </p:nvSpPr>
        <p:spPr>
          <a:xfrm>
            <a:off x="8426501" y="2724912"/>
            <a:ext cx="2905658" cy="530352"/>
          </a:xfrm>
          <a:prstGeom prst="rect">
            <a:avLst/>
          </a:prstGeom>
          <a:noFill/>
          <a:ln/>
        </p:spPr>
        <p:txBody>
          <a:bodyPr wrap="square" lIns="0" tIns="0" rIns="0" bIns="0" rtlCol="0" anchor="ctr"/>
          <a:lstStyle/>
          <a:p>
            <a:pPr algn="ctr" indent="0" marL="0">
              <a:buNone/>
            </a:pPr>
            <a:r>
              <a:rPr lang="en-US" sz="850" dirty="0">
                <a:solidFill>
                  <a:srgbClr val="6E4B1F"/>
                </a:solidFill>
                <a:latin typeface="Consolas" pitchFamily="34" charset="0"/>
                <a:ea typeface="Consolas" pitchFamily="34" charset="-122"/>
                <a:cs typeface="Consolas" pitchFamily="34" charset="-120"/>
              </a:rPr>
              <a:t>one business question,</a:t>
            </a:r>
            <a:endParaRPr lang="en-US" sz="850" dirty="0"/>
          </a:p>
          <a:p>
            <a:pPr algn="ctr" indent="0" marL="0">
              <a:buNone/>
            </a:pPr>
            <a:r>
              <a:rPr lang="en-US" sz="850" dirty="0">
                <a:solidFill>
                  <a:srgbClr val="6E4B1F"/>
                </a:solidFill>
                <a:latin typeface="Consolas" pitchFamily="34" charset="0"/>
                <a:ea typeface="Consolas" pitchFamily="34" charset="-122"/>
                <a:cs typeface="Consolas" pitchFamily="34" charset="-120"/>
              </a:rPr>
              <a:t>five product calls</a:t>
            </a:r>
            <a:endParaRPr lang="en-US" sz="850" dirty="0"/>
          </a:p>
        </p:txBody>
      </p:sp>
      <p:sp>
        <p:nvSpPr>
          <p:cNvPr id="25" name="Shape 23"/>
          <p:cNvSpPr/>
          <p:nvPr/>
        </p:nvSpPr>
        <p:spPr>
          <a:xfrm>
            <a:off x="566928" y="3657600"/>
            <a:ext cx="3490874" cy="1572768"/>
          </a:xfrm>
          <a:prstGeom prst="roundRect">
            <a:avLst>
              <a:gd name="adj" fmla="val 4651"/>
            </a:avLst>
          </a:prstGeom>
          <a:solidFill>
            <a:srgbClr val="F4F7FB"/>
          </a:solidFill>
          <a:ln w="12700">
            <a:solidFill>
              <a:srgbClr val="E2E8F1"/>
            </a:solidFill>
            <a:prstDash val="solid"/>
          </a:ln>
          <a:effectLst>
            <a:outerShdw sx="100000" sy="100000" kx="0" ky="0" algn="bl" rotWithShape="0" blurRad="101600" dist="17780" dir="5400000">
              <a:srgbClr val="9AA7B8">
                <a:alpha val="20000"/>
              </a:srgbClr>
            </a:outerShdw>
          </a:effectLst>
        </p:spPr>
      </p:sp>
      <p:sp>
        <p:nvSpPr>
          <p:cNvPr id="26" name="Text 24"/>
          <p:cNvSpPr txBox="1"/>
          <p:nvPr/>
        </p:nvSpPr>
        <p:spPr>
          <a:xfrm>
            <a:off x="786384" y="3803904"/>
            <a:ext cx="2210714" cy="27432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Verbs</a:t>
            </a:r>
            <a:endParaRPr lang="en-US" sz="1350" dirty="0"/>
          </a:p>
        </p:txBody>
      </p:sp>
      <p:sp>
        <p:nvSpPr>
          <p:cNvPr id="27" name="Shape 25"/>
          <p:cNvSpPr/>
          <p:nvPr/>
        </p:nvSpPr>
        <p:spPr>
          <a:xfrm>
            <a:off x="3033674" y="3822192"/>
            <a:ext cx="822960" cy="237744"/>
          </a:xfrm>
          <a:prstGeom prst="roundRect">
            <a:avLst>
              <a:gd name="adj" fmla="val 50000"/>
            </a:avLst>
          </a:prstGeom>
          <a:solidFill>
            <a:srgbClr val="F6EFE2"/>
          </a:solidFill>
          <a:ln w="9525">
            <a:solidFill>
              <a:srgbClr val="DCC79E"/>
            </a:solidFill>
            <a:prstDash val="solid"/>
          </a:ln>
        </p:spPr>
      </p:sp>
      <p:sp>
        <p:nvSpPr>
          <p:cNvPr id="28" name="Text 26"/>
          <p:cNvSpPr txBox="1"/>
          <p:nvPr/>
        </p:nvSpPr>
        <p:spPr>
          <a:xfrm>
            <a:off x="3033674" y="3822192"/>
            <a:ext cx="822960" cy="237744"/>
          </a:xfrm>
          <a:prstGeom prst="rect">
            <a:avLst/>
          </a:prstGeom>
          <a:noFill/>
          <a:ln/>
        </p:spPr>
        <p:txBody>
          <a:bodyPr wrap="square" lIns="0" tIns="0" rIns="0" bIns="0" rtlCol="0" anchor="ctr"/>
          <a:lstStyle/>
          <a:p>
            <a:pPr algn="ctr" indent="0" marL="0">
              <a:buNone/>
            </a:pPr>
            <a:r>
              <a:rPr lang="en-US" sz="950" b="1" dirty="0">
                <a:solidFill>
                  <a:srgbClr val="6E4B1F"/>
                </a:solidFill>
                <a:latin typeface="Calibri" pitchFamily="34" charset="0"/>
                <a:ea typeface="Calibri" pitchFamily="34" charset="-122"/>
                <a:cs typeface="Calibri" pitchFamily="34" charset="-120"/>
              </a:rPr>
              <a:t>2 operations</a:t>
            </a:r>
            <a:endParaRPr lang="en-US" sz="950" dirty="0"/>
          </a:p>
        </p:txBody>
      </p:sp>
      <p:sp>
        <p:nvSpPr>
          <p:cNvPr id="29" name="Text 27"/>
          <p:cNvSpPr txBox="1"/>
          <p:nvPr/>
        </p:nvSpPr>
        <p:spPr>
          <a:xfrm>
            <a:off x="786384" y="4114800"/>
            <a:ext cx="3051962" cy="384048"/>
          </a:xfrm>
          <a:prstGeom prst="rect">
            <a:avLst/>
          </a:prstGeom>
          <a:noFill/>
          <a:ln/>
        </p:spPr>
        <p:txBody>
          <a:bodyPr wrap="square" lIns="0" tIns="0" rIns="0" bIns="0" rtlCol="0" anchor="t"/>
          <a:lstStyle/>
          <a:p>
            <a:pPr indent="0" marL="0">
              <a:buNone/>
            </a:pPr>
            <a:r>
              <a:rPr lang="en-US" sz="1050" dirty="0">
                <a:solidFill>
                  <a:srgbClr val="5C6A7A"/>
                </a:solidFill>
                <a:latin typeface="Calibri" pitchFamily="34" charset="0"/>
                <a:ea typeface="Calibri" pitchFamily="34" charset="-122"/>
                <a:cs typeface="Calibri" pitchFamily="34" charset="-120"/>
              </a:rPr>
              <a:t>The product's state machine replaces the action term.</a:t>
            </a:r>
            <a:endParaRPr lang="en-US" sz="1050" dirty="0"/>
          </a:p>
        </p:txBody>
      </p:sp>
      <p:sp>
        <p:nvSpPr>
          <p:cNvPr id="30" name="Shape 28"/>
          <p:cNvSpPr/>
          <p:nvPr/>
        </p:nvSpPr>
        <p:spPr>
          <a:xfrm>
            <a:off x="786384" y="4553712"/>
            <a:ext cx="3051962" cy="530352"/>
          </a:xfrm>
          <a:prstGeom prst="roundRect">
            <a:avLst>
              <a:gd name="adj" fmla="val 13793"/>
            </a:avLst>
          </a:prstGeom>
          <a:solidFill>
            <a:srgbClr val="F6EFE2"/>
          </a:solidFill>
          <a:ln w="12700">
            <a:solidFill>
              <a:srgbClr val="DCC79E"/>
            </a:solidFill>
            <a:prstDash val="solid"/>
          </a:ln>
        </p:spPr>
      </p:sp>
      <p:sp>
        <p:nvSpPr>
          <p:cNvPr id="31" name="Text 29"/>
          <p:cNvSpPr txBox="1"/>
          <p:nvPr/>
        </p:nvSpPr>
        <p:spPr>
          <a:xfrm>
            <a:off x="859536" y="4553712"/>
            <a:ext cx="2905658" cy="530352"/>
          </a:xfrm>
          <a:prstGeom prst="rect">
            <a:avLst/>
          </a:prstGeom>
          <a:noFill/>
          <a:ln/>
        </p:spPr>
        <p:txBody>
          <a:bodyPr wrap="square" lIns="0" tIns="0" rIns="0" bIns="0" rtlCol="0" anchor="ctr"/>
          <a:lstStyle/>
          <a:p>
            <a:pPr algn="ctr" indent="0" marL="0">
              <a:buNone/>
            </a:pPr>
            <a:r>
              <a:rPr lang="en-US" sz="850" dirty="0">
                <a:solidFill>
                  <a:srgbClr val="6E4B1F"/>
                </a:solidFill>
                <a:latin typeface="Consolas" pitchFamily="34" charset="0"/>
                <a:ea typeface="Consolas" pitchFamily="34" charset="-122"/>
                <a:cs typeface="Consolas" pitchFamily="34" charset="-120"/>
              </a:rPr>
              <a:t>Initiate fulfilled by PUT,</a:t>
            </a:r>
            <a:endParaRPr lang="en-US" sz="850" dirty="0"/>
          </a:p>
          <a:p>
            <a:pPr algn="ctr" indent="0" marL="0">
              <a:buNone/>
            </a:pPr>
            <a:r>
              <a:rPr lang="en-US" sz="850" dirty="0">
                <a:solidFill>
                  <a:srgbClr val="6E4B1F"/>
                </a:solidFill>
                <a:latin typeface="Consolas" pitchFamily="34" charset="0"/>
                <a:ea typeface="Consolas" pitchFamily="34" charset="-122"/>
                <a:cs typeface="Consolas" pitchFamily="34" charset="-120"/>
              </a:rPr>
              <a:t>Update fulfilled by DELETE</a:t>
            </a:r>
            <a:endParaRPr lang="en-US" sz="850" dirty="0"/>
          </a:p>
        </p:txBody>
      </p:sp>
      <p:sp>
        <p:nvSpPr>
          <p:cNvPr id="32" name="Shape 30"/>
          <p:cNvSpPr/>
          <p:nvPr/>
        </p:nvSpPr>
        <p:spPr>
          <a:xfrm>
            <a:off x="4350410" y="3657600"/>
            <a:ext cx="3490874" cy="1572768"/>
          </a:xfrm>
          <a:prstGeom prst="roundRect">
            <a:avLst>
              <a:gd name="adj" fmla="val 4651"/>
            </a:avLst>
          </a:prstGeom>
          <a:solidFill>
            <a:srgbClr val="F4F7FB"/>
          </a:solidFill>
          <a:ln w="12700">
            <a:solidFill>
              <a:srgbClr val="E2E8F1"/>
            </a:solidFill>
            <a:prstDash val="solid"/>
          </a:ln>
          <a:effectLst>
            <a:outerShdw sx="100000" sy="100000" kx="0" ky="0" algn="bl" rotWithShape="0" blurRad="101600" dist="17780" dir="5400000">
              <a:srgbClr val="9AA7B8">
                <a:alpha val="20000"/>
              </a:srgbClr>
            </a:outerShdw>
          </a:effectLst>
        </p:spPr>
      </p:sp>
      <p:sp>
        <p:nvSpPr>
          <p:cNvPr id="33" name="Text 31"/>
          <p:cNvSpPr txBox="1"/>
          <p:nvPr/>
        </p:nvSpPr>
        <p:spPr>
          <a:xfrm>
            <a:off x="4569866" y="3803904"/>
            <a:ext cx="2210714" cy="27432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Cardinality</a:t>
            </a:r>
            <a:endParaRPr lang="en-US" sz="1350" dirty="0"/>
          </a:p>
        </p:txBody>
      </p:sp>
      <p:sp>
        <p:nvSpPr>
          <p:cNvPr id="34" name="Shape 32"/>
          <p:cNvSpPr/>
          <p:nvPr/>
        </p:nvSpPr>
        <p:spPr>
          <a:xfrm>
            <a:off x="6817157" y="3822192"/>
            <a:ext cx="822960" cy="237744"/>
          </a:xfrm>
          <a:prstGeom prst="roundRect">
            <a:avLst>
              <a:gd name="adj" fmla="val 50000"/>
            </a:avLst>
          </a:prstGeom>
          <a:solidFill>
            <a:srgbClr val="F6EFE2"/>
          </a:solidFill>
          <a:ln w="9525">
            <a:solidFill>
              <a:srgbClr val="DCC79E"/>
            </a:solidFill>
            <a:prstDash val="solid"/>
          </a:ln>
        </p:spPr>
      </p:sp>
      <p:sp>
        <p:nvSpPr>
          <p:cNvPr id="35" name="Text 33"/>
          <p:cNvSpPr txBox="1"/>
          <p:nvPr/>
        </p:nvSpPr>
        <p:spPr>
          <a:xfrm>
            <a:off x="6817157" y="3822192"/>
            <a:ext cx="822960" cy="237744"/>
          </a:xfrm>
          <a:prstGeom prst="rect">
            <a:avLst/>
          </a:prstGeom>
          <a:noFill/>
          <a:ln/>
        </p:spPr>
        <p:txBody>
          <a:bodyPr wrap="square" lIns="0" tIns="0" rIns="0" bIns="0" rtlCol="0" anchor="ctr"/>
          <a:lstStyle/>
          <a:p>
            <a:pPr algn="ctr" indent="0" marL="0">
              <a:buNone/>
            </a:pPr>
            <a:r>
              <a:rPr lang="en-US" sz="950" b="1" dirty="0">
                <a:solidFill>
                  <a:srgbClr val="6E4B1F"/>
                </a:solidFill>
                <a:latin typeface="Calibri" pitchFamily="34" charset="0"/>
                <a:ea typeface="Calibri" pitchFamily="34" charset="-122"/>
                <a:cs typeface="Calibri" pitchFamily="34" charset="-120"/>
              </a:rPr>
              <a:t>7 cells</a:t>
            </a:r>
            <a:endParaRPr lang="en-US" sz="950" dirty="0"/>
          </a:p>
        </p:txBody>
      </p:sp>
      <p:sp>
        <p:nvSpPr>
          <p:cNvPr id="36" name="Text 34"/>
          <p:cNvSpPr txBox="1"/>
          <p:nvPr/>
        </p:nvSpPr>
        <p:spPr>
          <a:xfrm>
            <a:off x="4569866" y="4114800"/>
            <a:ext cx="3051962" cy="384048"/>
          </a:xfrm>
          <a:prstGeom prst="rect">
            <a:avLst/>
          </a:prstGeom>
          <a:noFill/>
          <a:ln/>
        </p:spPr>
        <p:txBody>
          <a:bodyPr wrap="square" lIns="0" tIns="0" rIns="0" bIns="0" rtlCol="0" anchor="t"/>
          <a:lstStyle/>
          <a:p>
            <a:pPr indent="0" marL="0">
              <a:buNone/>
            </a:pPr>
            <a:r>
              <a:rPr lang="en-US" sz="1050" dirty="0">
                <a:solidFill>
                  <a:srgbClr val="5C6A7A"/>
                </a:solidFill>
                <a:latin typeface="Calibri" pitchFamily="34" charset="0"/>
                <a:ea typeface="Calibri" pitchFamily="34" charset="-122"/>
                <a:cs typeface="Calibri" pitchFamily="34" charset="-120"/>
              </a:rPr>
              <a:t>One business element, several unrelated product fields.</a:t>
            </a:r>
            <a:endParaRPr lang="en-US" sz="1050" dirty="0"/>
          </a:p>
        </p:txBody>
      </p:sp>
      <p:sp>
        <p:nvSpPr>
          <p:cNvPr id="37" name="Shape 35"/>
          <p:cNvSpPr/>
          <p:nvPr/>
        </p:nvSpPr>
        <p:spPr>
          <a:xfrm>
            <a:off x="4569866" y="4553712"/>
            <a:ext cx="3051962" cy="530352"/>
          </a:xfrm>
          <a:prstGeom prst="roundRect">
            <a:avLst>
              <a:gd name="adj" fmla="val 13793"/>
            </a:avLst>
          </a:prstGeom>
          <a:solidFill>
            <a:srgbClr val="F6EFE2"/>
          </a:solidFill>
          <a:ln w="12700">
            <a:solidFill>
              <a:srgbClr val="DCC79E"/>
            </a:solidFill>
            <a:prstDash val="solid"/>
          </a:ln>
        </p:spPr>
      </p:sp>
      <p:sp>
        <p:nvSpPr>
          <p:cNvPr id="38" name="Text 36"/>
          <p:cNvSpPr txBox="1"/>
          <p:nvPr/>
        </p:nvSpPr>
        <p:spPr>
          <a:xfrm>
            <a:off x="4643018" y="4553712"/>
            <a:ext cx="2905658" cy="530352"/>
          </a:xfrm>
          <a:prstGeom prst="rect">
            <a:avLst/>
          </a:prstGeom>
          <a:noFill/>
          <a:ln/>
        </p:spPr>
        <p:txBody>
          <a:bodyPr wrap="square" lIns="0" tIns="0" rIns="0" bIns="0" rtlCol="0" anchor="ctr"/>
          <a:lstStyle/>
          <a:p>
            <a:pPr algn="ctr" indent="0" marL="0">
              <a:buNone/>
            </a:pPr>
            <a:r>
              <a:rPr lang="en-US" sz="850" dirty="0">
                <a:solidFill>
                  <a:srgbClr val="6E4B1F"/>
                </a:solidFill>
                <a:latin typeface="Consolas" pitchFamily="34" charset="0"/>
                <a:ea typeface="Consolas" pitchFamily="34" charset="-122"/>
                <a:cs typeface="Consolas" pitchFamily="34" charset="-120"/>
              </a:rPr>
              <a:t>balanceAmount from five</a:t>
            </a:r>
            <a:endParaRPr lang="en-US" sz="850" dirty="0"/>
          </a:p>
          <a:p>
            <a:pPr algn="ctr" indent="0" marL="0">
              <a:buNone/>
            </a:pPr>
            <a:r>
              <a:rPr lang="en-US" sz="850" dirty="0">
                <a:solidFill>
                  <a:srgbClr val="6E4B1F"/>
                </a:solidFill>
                <a:latin typeface="Consolas" pitchFamily="34" charset="0"/>
                <a:ea typeface="Consolas" pitchFamily="34" charset="-122"/>
                <a:cs typeface="Consolas" pitchFamily="34" charset="-120"/>
              </a:rPr>
              <a:t>separate statement fields</a:t>
            </a:r>
            <a:endParaRPr lang="en-US" sz="850" dirty="0"/>
          </a:p>
        </p:txBody>
      </p:sp>
      <p:sp>
        <p:nvSpPr>
          <p:cNvPr id="39" name="Shape 37"/>
          <p:cNvSpPr/>
          <p:nvPr/>
        </p:nvSpPr>
        <p:spPr>
          <a:xfrm>
            <a:off x="8133893" y="3657600"/>
            <a:ext cx="3490874" cy="1572768"/>
          </a:xfrm>
          <a:prstGeom prst="roundRect">
            <a:avLst>
              <a:gd name="adj" fmla="val 4651"/>
            </a:avLst>
          </a:prstGeom>
          <a:solidFill>
            <a:srgbClr val="F4F7FB"/>
          </a:solidFill>
          <a:ln w="12700">
            <a:solidFill>
              <a:srgbClr val="E2E8F1"/>
            </a:solidFill>
            <a:prstDash val="solid"/>
          </a:ln>
          <a:effectLst>
            <a:outerShdw sx="100000" sy="100000" kx="0" ky="0" algn="bl" rotWithShape="0" blurRad="101600" dist="17780" dir="5400000">
              <a:srgbClr val="9AA7B8">
                <a:alpha val="20000"/>
              </a:srgbClr>
            </a:outerShdw>
          </a:effectLst>
        </p:spPr>
      </p:sp>
      <p:sp>
        <p:nvSpPr>
          <p:cNvPr id="40" name="Text 38"/>
          <p:cNvSpPr txBox="1"/>
          <p:nvPr/>
        </p:nvSpPr>
        <p:spPr>
          <a:xfrm>
            <a:off x="8353349" y="3803904"/>
            <a:ext cx="2210714" cy="27432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Defects</a:t>
            </a:r>
            <a:endParaRPr lang="en-US" sz="1350" dirty="0"/>
          </a:p>
        </p:txBody>
      </p:sp>
      <p:sp>
        <p:nvSpPr>
          <p:cNvPr id="41" name="Shape 39"/>
          <p:cNvSpPr/>
          <p:nvPr/>
        </p:nvSpPr>
        <p:spPr>
          <a:xfrm>
            <a:off x="10600639" y="3822192"/>
            <a:ext cx="822960" cy="237744"/>
          </a:xfrm>
          <a:prstGeom prst="roundRect">
            <a:avLst>
              <a:gd name="adj" fmla="val 50000"/>
            </a:avLst>
          </a:prstGeom>
          <a:solidFill>
            <a:srgbClr val="F6EFE2"/>
          </a:solidFill>
          <a:ln w="9525">
            <a:solidFill>
              <a:srgbClr val="DCC79E"/>
            </a:solidFill>
            <a:prstDash val="solid"/>
          </a:ln>
        </p:spPr>
      </p:sp>
      <p:sp>
        <p:nvSpPr>
          <p:cNvPr id="42" name="Text 40"/>
          <p:cNvSpPr txBox="1"/>
          <p:nvPr/>
        </p:nvSpPr>
        <p:spPr>
          <a:xfrm>
            <a:off x="10600639" y="3822192"/>
            <a:ext cx="822960" cy="237744"/>
          </a:xfrm>
          <a:prstGeom prst="rect">
            <a:avLst/>
          </a:prstGeom>
          <a:noFill/>
          <a:ln/>
        </p:spPr>
        <p:txBody>
          <a:bodyPr wrap="square" lIns="0" tIns="0" rIns="0" bIns="0" rtlCol="0" anchor="ctr"/>
          <a:lstStyle/>
          <a:p>
            <a:pPr algn="ctr" indent="0" marL="0">
              <a:buNone/>
            </a:pPr>
            <a:r>
              <a:rPr lang="en-US" sz="950" b="1" dirty="0">
                <a:solidFill>
                  <a:srgbClr val="6E4B1F"/>
                </a:solidFill>
                <a:latin typeface="Calibri" pitchFamily="34" charset="0"/>
                <a:ea typeface="Calibri" pitchFamily="34" charset="-122"/>
                <a:cs typeface="Calibri" pitchFamily="34" charset="-120"/>
              </a:rPr>
              <a:t>12 mappings</a:t>
            </a:r>
            <a:endParaRPr lang="en-US" sz="950" dirty="0"/>
          </a:p>
        </p:txBody>
      </p:sp>
      <p:sp>
        <p:nvSpPr>
          <p:cNvPr id="43" name="Text 41"/>
          <p:cNvSpPr txBox="1"/>
          <p:nvPr/>
        </p:nvSpPr>
        <p:spPr>
          <a:xfrm>
            <a:off x="8353349" y="4114800"/>
            <a:ext cx="3051962" cy="384048"/>
          </a:xfrm>
          <a:prstGeom prst="rect">
            <a:avLst/>
          </a:prstGeom>
          <a:noFill/>
          <a:ln/>
        </p:spPr>
        <p:txBody>
          <a:bodyPr wrap="square" lIns="0" tIns="0" rIns="0" bIns="0" rtlCol="0" anchor="t"/>
          <a:lstStyle/>
          <a:p>
            <a:pPr indent="0" marL="0">
              <a:buNone/>
            </a:pPr>
            <a:r>
              <a:rPr lang="en-US" sz="1050" dirty="0">
                <a:solidFill>
                  <a:srgbClr val="5C6A7A"/>
                </a:solidFill>
                <a:latin typeface="Calibri" pitchFamily="34" charset="0"/>
                <a:ea typeface="Calibri" pitchFamily="34" charset="-122"/>
                <a:cs typeface="Calibri" pitchFamily="34" charset="-120"/>
              </a:rPr>
              <a:t>Even the vendor's typographical errors travel.</a:t>
            </a:r>
            <a:endParaRPr lang="en-US" sz="1050" dirty="0"/>
          </a:p>
        </p:txBody>
      </p:sp>
      <p:sp>
        <p:nvSpPr>
          <p:cNvPr id="44" name="Shape 42"/>
          <p:cNvSpPr/>
          <p:nvPr/>
        </p:nvSpPr>
        <p:spPr>
          <a:xfrm>
            <a:off x="8353349" y="4553712"/>
            <a:ext cx="3051962" cy="530352"/>
          </a:xfrm>
          <a:prstGeom prst="roundRect">
            <a:avLst>
              <a:gd name="adj" fmla="val 13793"/>
            </a:avLst>
          </a:prstGeom>
          <a:solidFill>
            <a:srgbClr val="F6EFE2"/>
          </a:solidFill>
          <a:ln w="12700">
            <a:solidFill>
              <a:srgbClr val="DCC79E"/>
            </a:solidFill>
            <a:prstDash val="solid"/>
          </a:ln>
        </p:spPr>
      </p:sp>
      <p:sp>
        <p:nvSpPr>
          <p:cNvPr id="45" name="Text 43"/>
          <p:cNvSpPr txBox="1"/>
          <p:nvPr/>
        </p:nvSpPr>
        <p:spPr>
          <a:xfrm>
            <a:off x="8426501" y="4553712"/>
            <a:ext cx="2905658" cy="530352"/>
          </a:xfrm>
          <a:prstGeom prst="rect">
            <a:avLst/>
          </a:prstGeom>
          <a:noFill/>
          <a:ln/>
        </p:spPr>
        <p:txBody>
          <a:bodyPr wrap="square" lIns="0" tIns="0" rIns="0" bIns="0" rtlCol="0" anchor="ctr"/>
          <a:lstStyle/>
          <a:p>
            <a:pPr algn="ctr" indent="0" marL="0">
              <a:buNone/>
            </a:pPr>
            <a:r>
              <a:rPr lang="en-US" sz="850" dirty="0">
                <a:solidFill>
                  <a:srgbClr val="6E4B1F"/>
                </a:solidFill>
                <a:latin typeface="Consolas" pitchFamily="34" charset="0"/>
                <a:ea typeface="Consolas" pitchFamily="34" charset="-122"/>
                <a:cs typeface="Consolas" pitchFamily="34" charset="-120"/>
              </a:rPr>
              <a:t>acccountAuthorizations,</a:t>
            </a:r>
            <a:endParaRPr lang="en-US" sz="850" dirty="0"/>
          </a:p>
          <a:p>
            <a:pPr algn="ctr" indent="0" marL="0">
              <a:buNone/>
            </a:pPr>
            <a:r>
              <a:rPr lang="en-US" sz="850" dirty="0">
                <a:solidFill>
                  <a:srgbClr val="6E4B1F"/>
                </a:solidFill>
                <a:latin typeface="Consolas" pitchFamily="34" charset="0"/>
                <a:ea typeface="Consolas" pitchFamily="34" charset="-122"/>
                <a:cs typeface="Consolas" pitchFamily="34" charset="-120"/>
              </a:rPr>
              <a:t>spelled with three c's</a:t>
            </a:r>
            <a:endParaRPr lang="en-US" sz="850" dirty="0"/>
          </a:p>
        </p:txBody>
      </p:sp>
      <p:sp>
        <p:nvSpPr>
          <p:cNvPr id="46" name="Text 44"/>
          <p:cNvSpPr txBox="1"/>
          <p:nvPr/>
        </p:nvSpPr>
        <p:spPr>
          <a:xfrm>
            <a:off x="566928" y="6455664"/>
            <a:ext cx="5486400" cy="256032"/>
          </a:xfrm>
          <a:prstGeom prst="rect">
            <a:avLst/>
          </a:prstGeom>
          <a:noFill/>
          <a:ln/>
        </p:spPr>
        <p:txBody>
          <a:bodyPr wrap="square" lIns="0" tIns="0" rIns="0" bIns="0" rtlCol="0" anchor="ctr"/>
          <a:lstStyle/>
          <a:p>
            <a:pPr indent="0" marL="0">
              <a:buNone/>
            </a:pPr>
            <a:r>
              <a:rPr lang="en-US" sz="850" dirty="0">
                <a:solidFill>
                  <a:srgbClr val="8A97A6"/>
                </a:solidFill>
                <a:latin typeface="Calibri" pitchFamily="34" charset="0"/>
                <a:ea typeface="Calibri" pitchFamily="34" charset="-122"/>
                <a:cs typeface="Calibri" pitchFamily="34" charset="-120"/>
              </a:rPr>
              <a:t>The BIAN interface and the System of Record  ·  CC&amp;C Solutions</a:t>
            </a:r>
            <a:endParaRPr lang="en-US" sz="850" dirty="0"/>
          </a:p>
        </p:txBody>
      </p:sp>
      <p:sp>
        <p:nvSpPr>
          <p:cNvPr id="47" name="Text 45"/>
          <p:cNvSpPr txBox="1"/>
          <p:nvPr/>
        </p:nvSpPr>
        <p:spPr>
          <a:xfrm>
            <a:off x="11076127" y="6455664"/>
            <a:ext cx="548640" cy="256032"/>
          </a:xfrm>
          <a:prstGeom prst="rect">
            <a:avLst/>
          </a:prstGeom>
          <a:noFill/>
          <a:ln/>
        </p:spPr>
        <p:txBody>
          <a:bodyPr wrap="square" lIns="0" tIns="0" rIns="0" bIns="0" rtlCol="0" anchor="ctr"/>
          <a:lstStyle/>
          <a:p>
            <a:pPr algn="r" indent="0" marL="0">
              <a:buNone/>
            </a:pPr>
            <a:r>
              <a:rPr lang="en-US" sz="900" dirty="0">
                <a:solidFill>
                  <a:srgbClr val="8A97A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713232"/>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The same field, named in two worlds</a:t>
            </a:r>
            <a:endParaRPr lang="en-US" sz="3400" dirty="0"/>
          </a:p>
        </p:txBody>
      </p:sp>
      <p:sp>
        <p:nvSpPr>
          <p:cNvPr id="3" name="Text 1"/>
          <p:cNvSpPr txBox="1"/>
          <p:nvPr/>
        </p:nvSpPr>
        <p:spPr>
          <a:xfrm>
            <a:off x="566928" y="1115568"/>
            <a:ext cx="11057839" cy="384048"/>
          </a:xfrm>
          <a:prstGeom prst="rect">
            <a:avLst/>
          </a:prstGeom>
          <a:noFill/>
          <a:ln/>
        </p:spPr>
        <p:txBody>
          <a:bodyPr wrap="square" lIns="0" tIns="0" rIns="0" bIns="0" rtlCol="0" anchor="t"/>
          <a:lstStyle/>
          <a:p>
            <a:pPr indent="0" marL="0">
              <a:buNone/>
            </a:pPr>
            <a:r>
              <a:rPr lang="en-US" sz="1400" dirty="0">
                <a:solidFill>
                  <a:srgbClr val="5C6A7A"/>
                </a:solidFill>
                <a:latin typeface="Calibri" pitchFamily="34" charset="0"/>
                <a:ea typeface="Calibri" pitchFamily="34" charset="-122"/>
                <a:cs typeface="Calibri" pitchFamily="34" charset="-120"/>
              </a:rPr>
              <a:t>The left column is what a banking analyst calls it. The right is what one product calls it.</a:t>
            </a:r>
            <a:endParaRPr lang="en-US" sz="1400" dirty="0"/>
          </a:p>
        </p:txBody>
      </p:sp>
      <p:sp>
        <p:nvSpPr>
          <p:cNvPr id="4" name="Shape 2"/>
          <p:cNvSpPr/>
          <p:nvPr/>
        </p:nvSpPr>
        <p:spPr>
          <a:xfrm>
            <a:off x="566928" y="1490472"/>
            <a:ext cx="2103120" cy="237744"/>
          </a:xfrm>
          <a:prstGeom prst="roundRect">
            <a:avLst>
              <a:gd name="adj" fmla="val 50000"/>
            </a:avLst>
          </a:prstGeom>
          <a:solidFill>
            <a:srgbClr val="CADCFC"/>
          </a:solidFill>
          <a:ln w="9525">
            <a:solidFill>
              <a:srgbClr val="9FBEEA"/>
            </a:solidFill>
            <a:prstDash val="solid"/>
          </a:ln>
        </p:spPr>
      </p:sp>
      <p:sp>
        <p:nvSpPr>
          <p:cNvPr id="5" name="Text 3"/>
          <p:cNvSpPr txBox="1"/>
          <p:nvPr/>
        </p:nvSpPr>
        <p:spPr>
          <a:xfrm>
            <a:off x="566928" y="1490472"/>
            <a:ext cx="2103120" cy="237744"/>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BIAN VOCABULARY</a:t>
            </a:r>
            <a:endParaRPr lang="en-US" sz="950" dirty="0"/>
          </a:p>
        </p:txBody>
      </p:sp>
      <p:sp>
        <p:nvSpPr>
          <p:cNvPr id="6" name="Shape 4"/>
          <p:cNvSpPr/>
          <p:nvPr/>
        </p:nvSpPr>
        <p:spPr>
          <a:xfrm>
            <a:off x="5138928" y="1490472"/>
            <a:ext cx="2377440" cy="237744"/>
          </a:xfrm>
          <a:prstGeom prst="roundRect">
            <a:avLst>
              <a:gd name="adj" fmla="val 50000"/>
            </a:avLst>
          </a:prstGeom>
          <a:solidFill>
            <a:srgbClr val="F6EFE2"/>
          </a:solidFill>
          <a:ln w="9525">
            <a:solidFill>
              <a:srgbClr val="DCC79E"/>
            </a:solidFill>
            <a:prstDash val="solid"/>
          </a:ln>
        </p:spPr>
      </p:sp>
      <p:sp>
        <p:nvSpPr>
          <p:cNvPr id="7" name="Text 5"/>
          <p:cNvSpPr txBox="1"/>
          <p:nvPr/>
        </p:nvSpPr>
        <p:spPr>
          <a:xfrm>
            <a:off x="5138928" y="1490472"/>
            <a:ext cx="2377440" cy="237744"/>
          </a:xfrm>
          <a:prstGeom prst="rect">
            <a:avLst/>
          </a:prstGeom>
          <a:noFill/>
          <a:ln/>
        </p:spPr>
        <p:txBody>
          <a:bodyPr wrap="square" lIns="0" tIns="0" rIns="0" bIns="0" rtlCol="0" anchor="ctr"/>
          <a:lstStyle/>
          <a:p>
            <a:pPr algn="ctr" indent="0" marL="0">
              <a:buNone/>
            </a:pPr>
            <a:r>
              <a:rPr lang="en-US" sz="950" b="1" dirty="0">
                <a:solidFill>
                  <a:srgbClr val="6E4B1F"/>
                </a:solidFill>
                <a:latin typeface="Calibri" pitchFamily="34" charset="0"/>
                <a:ea typeface="Calibri" pitchFamily="34" charset="-122"/>
                <a:cs typeface="Calibri" pitchFamily="34" charset="-120"/>
              </a:rPr>
              <a:t>PRODUCT VOCABULARY</a:t>
            </a:r>
            <a:endParaRPr lang="en-US" sz="950" dirty="0"/>
          </a:p>
        </p:txBody>
      </p:sp>
      <p:sp>
        <p:nvSpPr>
          <p:cNvPr id="8" name="Shape 6"/>
          <p:cNvSpPr/>
          <p:nvPr/>
        </p:nvSpPr>
        <p:spPr>
          <a:xfrm>
            <a:off x="566928" y="1874520"/>
            <a:ext cx="3794760" cy="329184"/>
          </a:xfrm>
          <a:prstGeom prst="roundRect">
            <a:avLst>
              <a:gd name="adj" fmla="val 22222"/>
            </a:avLst>
          </a:prstGeom>
          <a:solidFill>
            <a:srgbClr val="FFFFFF"/>
          </a:solidFill>
          <a:ln w="12700">
            <a:solidFill>
              <a:srgbClr val="E2E8F1"/>
            </a:solidFill>
            <a:prstDash val="solid"/>
          </a:ln>
        </p:spPr>
      </p:sp>
      <p:sp>
        <p:nvSpPr>
          <p:cNvPr id="9" name="Text 7"/>
          <p:cNvSpPr txBox="1"/>
          <p:nvPr/>
        </p:nvSpPr>
        <p:spPr>
          <a:xfrm>
            <a:off x="640080" y="1874520"/>
            <a:ext cx="3648456" cy="329184"/>
          </a:xfrm>
          <a:prstGeom prst="rect">
            <a:avLst/>
          </a:prstGeom>
          <a:noFill/>
          <a:ln/>
        </p:spPr>
        <p:txBody>
          <a:bodyPr wrap="square" lIns="0" tIns="0" rIns="0" bIns="0" rtlCol="0" anchor="ctr"/>
          <a:lstStyle/>
          <a:p>
            <a:pPr algn="l" indent="0" marL="0">
              <a:buNone/>
            </a:pPr>
            <a:r>
              <a:rPr lang="en-US" sz="1050" dirty="0">
                <a:solidFill>
                  <a:srgbClr val="1E2761"/>
                </a:solidFill>
                <a:latin typeface="Consolas" pitchFamily="34" charset="0"/>
                <a:ea typeface="Consolas" pitchFamily="34" charset="-122"/>
                <a:cs typeface="Consolas" pitchFamily="34" charset="-120"/>
              </a:rPr>
              <a:t>issuedDeviceIdentification</a:t>
            </a:r>
            <a:endParaRPr lang="en-US" sz="1050" dirty="0"/>
          </a:p>
        </p:txBody>
      </p:sp>
      <p:sp>
        <p:nvSpPr>
          <p:cNvPr id="10" name="Shape 8"/>
          <p:cNvSpPr/>
          <p:nvPr/>
        </p:nvSpPr>
        <p:spPr>
          <a:xfrm>
            <a:off x="4471416" y="2039112"/>
            <a:ext cx="557784" cy="0"/>
          </a:xfrm>
          <a:prstGeom prst="line">
            <a:avLst/>
          </a:prstGeom>
          <a:noFill/>
          <a:ln w="15240">
            <a:solidFill>
              <a:srgbClr val="9FBEEA"/>
            </a:solidFill>
            <a:prstDash val="solid"/>
            <a:tailEnd type="triangle"/>
          </a:ln>
        </p:spPr>
      </p:sp>
      <p:sp>
        <p:nvSpPr>
          <p:cNvPr id="11" name="Shape 9"/>
          <p:cNvSpPr/>
          <p:nvPr/>
        </p:nvSpPr>
        <p:spPr>
          <a:xfrm>
            <a:off x="5138928" y="1874520"/>
            <a:ext cx="2788920" cy="329184"/>
          </a:xfrm>
          <a:prstGeom prst="roundRect">
            <a:avLst>
              <a:gd name="adj" fmla="val 22222"/>
            </a:avLst>
          </a:prstGeom>
          <a:solidFill>
            <a:srgbClr val="F6EFE2"/>
          </a:solidFill>
          <a:ln w="12700">
            <a:solidFill>
              <a:srgbClr val="DCC79E"/>
            </a:solidFill>
            <a:prstDash val="solid"/>
          </a:ln>
        </p:spPr>
      </p:sp>
      <p:sp>
        <p:nvSpPr>
          <p:cNvPr id="12" name="Text 10"/>
          <p:cNvSpPr txBox="1"/>
          <p:nvPr/>
        </p:nvSpPr>
        <p:spPr>
          <a:xfrm>
            <a:off x="5212080" y="1874520"/>
            <a:ext cx="2642616" cy="329184"/>
          </a:xfrm>
          <a:prstGeom prst="rect">
            <a:avLst/>
          </a:prstGeom>
          <a:noFill/>
          <a:ln/>
        </p:spPr>
        <p:txBody>
          <a:bodyPr wrap="square" lIns="0" tIns="0" rIns="0" bIns="0" rtlCol="0" anchor="ctr"/>
          <a:lstStyle/>
          <a:p>
            <a:pPr algn="l" indent="0" marL="0">
              <a:buNone/>
            </a:pPr>
            <a:r>
              <a:rPr lang="en-US" sz="1050" dirty="0">
                <a:solidFill>
                  <a:srgbClr val="6E4B1F"/>
                </a:solidFill>
                <a:latin typeface="Consolas" pitchFamily="34" charset="0"/>
                <a:ea typeface="Consolas" pitchFamily="34" charset="-122"/>
                <a:cs typeface="Consolas" pitchFamily="34" charset="-120"/>
              </a:rPr>
              <a:t>cardNumber</a:t>
            </a:r>
            <a:endParaRPr lang="en-US" sz="1050" dirty="0"/>
          </a:p>
        </p:txBody>
      </p:sp>
      <p:sp>
        <p:nvSpPr>
          <p:cNvPr id="13" name="Shape 11"/>
          <p:cNvSpPr/>
          <p:nvPr/>
        </p:nvSpPr>
        <p:spPr>
          <a:xfrm>
            <a:off x="566928" y="2258568"/>
            <a:ext cx="3794760" cy="329184"/>
          </a:xfrm>
          <a:prstGeom prst="roundRect">
            <a:avLst>
              <a:gd name="adj" fmla="val 22222"/>
            </a:avLst>
          </a:prstGeom>
          <a:solidFill>
            <a:srgbClr val="F4F7FB"/>
          </a:solidFill>
          <a:ln w="12700">
            <a:solidFill>
              <a:srgbClr val="E2E8F1"/>
            </a:solidFill>
            <a:prstDash val="solid"/>
          </a:ln>
        </p:spPr>
      </p:sp>
      <p:sp>
        <p:nvSpPr>
          <p:cNvPr id="14" name="Text 12"/>
          <p:cNvSpPr txBox="1"/>
          <p:nvPr/>
        </p:nvSpPr>
        <p:spPr>
          <a:xfrm>
            <a:off x="640080" y="2258568"/>
            <a:ext cx="3648456" cy="329184"/>
          </a:xfrm>
          <a:prstGeom prst="rect">
            <a:avLst/>
          </a:prstGeom>
          <a:noFill/>
          <a:ln/>
        </p:spPr>
        <p:txBody>
          <a:bodyPr wrap="square" lIns="0" tIns="0" rIns="0" bIns="0" rtlCol="0" anchor="ctr"/>
          <a:lstStyle/>
          <a:p>
            <a:pPr algn="l" indent="0" marL="0">
              <a:buNone/>
            </a:pPr>
            <a:r>
              <a:rPr lang="en-US" sz="1050" dirty="0">
                <a:solidFill>
                  <a:srgbClr val="1E2761"/>
                </a:solidFill>
                <a:latin typeface="Consolas" pitchFamily="34" charset="0"/>
                <a:ea typeface="Consolas" pitchFamily="34" charset="-122"/>
                <a:cs typeface="Consolas" pitchFamily="34" charset="-120"/>
              </a:rPr>
              <a:t>partyIdentification</a:t>
            </a:r>
            <a:endParaRPr lang="en-US" sz="1050" dirty="0"/>
          </a:p>
        </p:txBody>
      </p:sp>
      <p:sp>
        <p:nvSpPr>
          <p:cNvPr id="15" name="Shape 13"/>
          <p:cNvSpPr/>
          <p:nvPr/>
        </p:nvSpPr>
        <p:spPr>
          <a:xfrm>
            <a:off x="4471416" y="2423160"/>
            <a:ext cx="557784" cy="0"/>
          </a:xfrm>
          <a:prstGeom prst="line">
            <a:avLst/>
          </a:prstGeom>
          <a:noFill/>
          <a:ln w="15240">
            <a:solidFill>
              <a:srgbClr val="9FBEEA"/>
            </a:solidFill>
            <a:prstDash val="solid"/>
            <a:tailEnd type="triangle"/>
          </a:ln>
        </p:spPr>
      </p:sp>
      <p:sp>
        <p:nvSpPr>
          <p:cNvPr id="16" name="Shape 14"/>
          <p:cNvSpPr/>
          <p:nvPr/>
        </p:nvSpPr>
        <p:spPr>
          <a:xfrm>
            <a:off x="5138928" y="2258568"/>
            <a:ext cx="2788920" cy="329184"/>
          </a:xfrm>
          <a:prstGeom prst="roundRect">
            <a:avLst>
              <a:gd name="adj" fmla="val 22222"/>
            </a:avLst>
          </a:prstGeom>
          <a:solidFill>
            <a:srgbClr val="F6EFE2"/>
          </a:solidFill>
          <a:ln w="12700">
            <a:solidFill>
              <a:srgbClr val="DCC79E"/>
            </a:solidFill>
            <a:prstDash val="solid"/>
          </a:ln>
        </p:spPr>
      </p:sp>
      <p:sp>
        <p:nvSpPr>
          <p:cNvPr id="17" name="Text 15"/>
          <p:cNvSpPr txBox="1"/>
          <p:nvPr/>
        </p:nvSpPr>
        <p:spPr>
          <a:xfrm>
            <a:off x="5212080" y="2258568"/>
            <a:ext cx="2642616" cy="329184"/>
          </a:xfrm>
          <a:prstGeom prst="rect">
            <a:avLst/>
          </a:prstGeom>
          <a:noFill/>
          <a:ln/>
        </p:spPr>
        <p:txBody>
          <a:bodyPr wrap="square" lIns="0" tIns="0" rIns="0" bIns="0" rtlCol="0" anchor="ctr"/>
          <a:lstStyle/>
          <a:p>
            <a:pPr algn="l" indent="0" marL="0">
              <a:buNone/>
            </a:pPr>
            <a:r>
              <a:rPr lang="en-US" sz="1050" dirty="0">
                <a:solidFill>
                  <a:srgbClr val="6E4B1F"/>
                </a:solidFill>
                <a:latin typeface="Consolas" pitchFamily="34" charset="0"/>
                <a:ea typeface="Consolas" pitchFamily="34" charset="-122"/>
                <a:cs typeface="Consolas" pitchFamily="34" charset="-120"/>
              </a:rPr>
              <a:t>customerNumber</a:t>
            </a:r>
            <a:endParaRPr lang="en-US" sz="1050" dirty="0"/>
          </a:p>
        </p:txBody>
      </p:sp>
      <p:sp>
        <p:nvSpPr>
          <p:cNvPr id="18" name="Shape 16"/>
          <p:cNvSpPr/>
          <p:nvPr/>
        </p:nvSpPr>
        <p:spPr>
          <a:xfrm>
            <a:off x="566928" y="2642616"/>
            <a:ext cx="3794760" cy="329184"/>
          </a:xfrm>
          <a:prstGeom prst="roundRect">
            <a:avLst>
              <a:gd name="adj" fmla="val 22222"/>
            </a:avLst>
          </a:prstGeom>
          <a:solidFill>
            <a:srgbClr val="FFFFFF"/>
          </a:solidFill>
          <a:ln w="12700">
            <a:solidFill>
              <a:srgbClr val="E2E8F1"/>
            </a:solidFill>
            <a:prstDash val="solid"/>
          </a:ln>
        </p:spPr>
      </p:sp>
      <p:sp>
        <p:nvSpPr>
          <p:cNvPr id="19" name="Text 17"/>
          <p:cNvSpPr txBox="1"/>
          <p:nvPr/>
        </p:nvSpPr>
        <p:spPr>
          <a:xfrm>
            <a:off x="640080" y="2642616"/>
            <a:ext cx="3648456" cy="329184"/>
          </a:xfrm>
          <a:prstGeom prst="rect">
            <a:avLst/>
          </a:prstGeom>
          <a:noFill/>
          <a:ln/>
        </p:spPr>
        <p:txBody>
          <a:bodyPr wrap="square" lIns="0" tIns="0" rIns="0" bIns="0" rtlCol="0" anchor="ctr"/>
          <a:lstStyle/>
          <a:p>
            <a:pPr algn="l" indent="0" marL="0">
              <a:buNone/>
            </a:pPr>
            <a:r>
              <a:rPr lang="en-US" sz="1050" dirty="0">
                <a:solidFill>
                  <a:srgbClr val="1E2761"/>
                </a:solidFill>
                <a:latin typeface="Consolas" pitchFamily="34" charset="0"/>
                <a:ea typeface="Consolas" pitchFamily="34" charset="-122"/>
                <a:cs typeface="Consolas" pitchFamily="34" charset="-120"/>
              </a:rPr>
              <a:t>cardTransactionDateTime</a:t>
            </a:r>
            <a:endParaRPr lang="en-US" sz="1050" dirty="0"/>
          </a:p>
        </p:txBody>
      </p:sp>
      <p:sp>
        <p:nvSpPr>
          <p:cNvPr id="20" name="Shape 18"/>
          <p:cNvSpPr/>
          <p:nvPr/>
        </p:nvSpPr>
        <p:spPr>
          <a:xfrm>
            <a:off x="4471416" y="2807208"/>
            <a:ext cx="557784" cy="0"/>
          </a:xfrm>
          <a:prstGeom prst="line">
            <a:avLst/>
          </a:prstGeom>
          <a:noFill/>
          <a:ln w="15240">
            <a:solidFill>
              <a:srgbClr val="9FBEEA"/>
            </a:solidFill>
            <a:prstDash val="solid"/>
            <a:tailEnd type="triangle"/>
          </a:ln>
        </p:spPr>
      </p:sp>
      <p:sp>
        <p:nvSpPr>
          <p:cNvPr id="21" name="Shape 19"/>
          <p:cNvSpPr/>
          <p:nvPr/>
        </p:nvSpPr>
        <p:spPr>
          <a:xfrm>
            <a:off x="5138928" y="2642616"/>
            <a:ext cx="2788920" cy="329184"/>
          </a:xfrm>
          <a:prstGeom prst="roundRect">
            <a:avLst>
              <a:gd name="adj" fmla="val 22222"/>
            </a:avLst>
          </a:prstGeom>
          <a:solidFill>
            <a:srgbClr val="F6EFE2"/>
          </a:solidFill>
          <a:ln w="12700">
            <a:solidFill>
              <a:srgbClr val="DCC79E"/>
            </a:solidFill>
            <a:prstDash val="solid"/>
          </a:ln>
        </p:spPr>
      </p:sp>
      <p:sp>
        <p:nvSpPr>
          <p:cNvPr id="22" name="Text 20"/>
          <p:cNvSpPr txBox="1"/>
          <p:nvPr/>
        </p:nvSpPr>
        <p:spPr>
          <a:xfrm>
            <a:off x="5212080" y="2642616"/>
            <a:ext cx="2642616" cy="329184"/>
          </a:xfrm>
          <a:prstGeom prst="rect">
            <a:avLst/>
          </a:prstGeom>
          <a:noFill/>
          <a:ln/>
        </p:spPr>
        <p:txBody>
          <a:bodyPr wrap="square" lIns="0" tIns="0" rIns="0" bIns="0" rtlCol="0" anchor="ctr"/>
          <a:lstStyle/>
          <a:p>
            <a:pPr algn="l" indent="0" marL="0">
              <a:buNone/>
            </a:pPr>
            <a:r>
              <a:rPr lang="en-US" sz="1050" dirty="0">
                <a:solidFill>
                  <a:srgbClr val="6E4B1F"/>
                </a:solidFill>
                <a:latin typeface="Consolas" pitchFamily="34" charset="0"/>
                <a:ea typeface="Consolas" pitchFamily="34" charset="-122"/>
                <a:cs typeface="Consolas" pitchFamily="34" charset="-120"/>
              </a:rPr>
              <a:t>transactionDate</a:t>
            </a:r>
            <a:endParaRPr lang="en-US" sz="1050" dirty="0"/>
          </a:p>
        </p:txBody>
      </p:sp>
      <p:sp>
        <p:nvSpPr>
          <p:cNvPr id="23" name="Shape 21"/>
          <p:cNvSpPr/>
          <p:nvPr/>
        </p:nvSpPr>
        <p:spPr>
          <a:xfrm>
            <a:off x="566928" y="3026664"/>
            <a:ext cx="3794760" cy="329184"/>
          </a:xfrm>
          <a:prstGeom prst="roundRect">
            <a:avLst>
              <a:gd name="adj" fmla="val 22222"/>
            </a:avLst>
          </a:prstGeom>
          <a:solidFill>
            <a:srgbClr val="F4F7FB"/>
          </a:solidFill>
          <a:ln w="12700">
            <a:solidFill>
              <a:srgbClr val="E2E8F1"/>
            </a:solidFill>
            <a:prstDash val="solid"/>
          </a:ln>
        </p:spPr>
      </p:sp>
      <p:sp>
        <p:nvSpPr>
          <p:cNvPr id="24" name="Text 22"/>
          <p:cNvSpPr txBox="1"/>
          <p:nvPr/>
        </p:nvSpPr>
        <p:spPr>
          <a:xfrm>
            <a:off x="640080" y="3026664"/>
            <a:ext cx="3648456" cy="329184"/>
          </a:xfrm>
          <a:prstGeom prst="rect">
            <a:avLst/>
          </a:prstGeom>
          <a:noFill/>
          <a:ln/>
        </p:spPr>
        <p:txBody>
          <a:bodyPr wrap="square" lIns="0" tIns="0" rIns="0" bIns="0" rtlCol="0" anchor="ctr"/>
          <a:lstStyle/>
          <a:p>
            <a:pPr algn="l" indent="0" marL="0">
              <a:buNone/>
            </a:pPr>
            <a:r>
              <a:rPr lang="en-US" sz="1050" dirty="0">
                <a:solidFill>
                  <a:srgbClr val="1E2761"/>
                </a:solidFill>
                <a:latin typeface="Consolas" pitchFamily="34" charset="0"/>
                <a:ea typeface="Consolas" pitchFamily="34" charset="-122"/>
                <a:cs typeface="Consolas" pitchFamily="34" charset="-120"/>
              </a:rPr>
              <a:t>transactionDescriptionLine1</a:t>
            </a:r>
            <a:endParaRPr lang="en-US" sz="1050" dirty="0"/>
          </a:p>
        </p:txBody>
      </p:sp>
      <p:sp>
        <p:nvSpPr>
          <p:cNvPr id="25" name="Shape 23"/>
          <p:cNvSpPr/>
          <p:nvPr/>
        </p:nvSpPr>
        <p:spPr>
          <a:xfrm>
            <a:off x="4471416" y="3191256"/>
            <a:ext cx="557784" cy="0"/>
          </a:xfrm>
          <a:prstGeom prst="line">
            <a:avLst/>
          </a:prstGeom>
          <a:noFill/>
          <a:ln w="15240">
            <a:solidFill>
              <a:srgbClr val="9FBEEA"/>
            </a:solidFill>
            <a:prstDash val="solid"/>
            <a:tailEnd type="triangle"/>
          </a:ln>
        </p:spPr>
      </p:sp>
      <p:sp>
        <p:nvSpPr>
          <p:cNvPr id="26" name="Shape 24"/>
          <p:cNvSpPr/>
          <p:nvPr/>
        </p:nvSpPr>
        <p:spPr>
          <a:xfrm>
            <a:off x="5138928" y="3026664"/>
            <a:ext cx="2788920" cy="329184"/>
          </a:xfrm>
          <a:prstGeom prst="roundRect">
            <a:avLst>
              <a:gd name="adj" fmla="val 22222"/>
            </a:avLst>
          </a:prstGeom>
          <a:solidFill>
            <a:srgbClr val="F6EFE2"/>
          </a:solidFill>
          <a:ln w="12700">
            <a:solidFill>
              <a:srgbClr val="DCC79E"/>
            </a:solidFill>
            <a:prstDash val="solid"/>
          </a:ln>
        </p:spPr>
      </p:sp>
      <p:sp>
        <p:nvSpPr>
          <p:cNvPr id="27" name="Text 25"/>
          <p:cNvSpPr txBox="1"/>
          <p:nvPr/>
        </p:nvSpPr>
        <p:spPr>
          <a:xfrm>
            <a:off x="5212080" y="3026664"/>
            <a:ext cx="2642616" cy="329184"/>
          </a:xfrm>
          <a:prstGeom prst="rect">
            <a:avLst/>
          </a:prstGeom>
          <a:noFill/>
          <a:ln/>
        </p:spPr>
        <p:txBody>
          <a:bodyPr wrap="square" lIns="0" tIns="0" rIns="0" bIns="0" rtlCol="0" anchor="ctr"/>
          <a:lstStyle/>
          <a:p>
            <a:pPr algn="l" indent="0" marL="0">
              <a:buNone/>
            </a:pPr>
            <a:r>
              <a:rPr lang="en-US" sz="1050" dirty="0">
                <a:solidFill>
                  <a:srgbClr val="6E4B1F"/>
                </a:solidFill>
                <a:latin typeface="Consolas" pitchFamily="34" charset="0"/>
                <a:ea typeface="Consolas" pitchFamily="34" charset="-122"/>
                <a:cs typeface="Consolas" pitchFamily="34" charset="-120"/>
              </a:rPr>
              <a:t>narration1</a:t>
            </a:r>
            <a:endParaRPr lang="en-US" sz="1050" dirty="0"/>
          </a:p>
        </p:txBody>
      </p:sp>
      <p:sp>
        <p:nvSpPr>
          <p:cNvPr id="28" name="Shape 26"/>
          <p:cNvSpPr/>
          <p:nvPr/>
        </p:nvSpPr>
        <p:spPr>
          <a:xfrm>
            <a:off x="566928" y="3410712"/>
            <a:ext cx="3794760" cy="329184"/>
          </a:xfrm>
          <a:prstGeom prst="roundRect">
            <a:avLst>
              <a:gd name="adj" fmla="val 22222"/>
            </a:avLst>
          </a:prstGeom>
          <a:solidFill>
            <a:srgbClr val="FFFFFF"/>
          </a:solidFill>
          <a:ln w="12700">
            <a:solidFill>
              <a:srgbClr val="E2E8F1"/>
            </a:solidFill>
            <a:prstDash val="solid"/>
          </a:ln>
        </p:spPr>
      </p:sp>
      <p:sp>
        <p:nvSpPr>
          <p:cNvPr id="29" name="Text 27"/>
          <p:cNvSpPr txBox="1"/>
          <p:nvPr/>
        </p:nvSpPr>
        <p:spPr>
          <a:xfrm>
            <a:off x="640080" y="3410712"/>
            <a:ext cx="3648456" cy="329184"/>
          </a:xfrm>
          <a:prstGeom prst="rect">
            <a:avLst/>
          </a:prstGeom>
          <a:noFill/>
          <a:ln/>
        </p:spPr>
        <p:txBody>
          <a:bodyPr wrap="square" lIns="0" tIns="0" rIns="0" bIns="0" rtlCol="0" anchor="ctr"/>
          <a:lstStyle/>
          <a:p>
            <a:pPr algn="l" indent="0" marL="0">
              <a:buNone/>
            </a:pPr>
            <a:r>
              <a:rPr lang="en-US" sz="1050" dirty="0">
                <a:solidFill>
                  <a:srgbClr val="1E2761"/>
                </a:solidFill>
                <a:latin typeface="Consolas" pitchFamily="34" charset="0"/>
                <a:ea typeface="Consolas" pitchFamily="34" charset="-122"/>
                <a:cs typeface="Consolas" pitchFamily="34" charset="-120"/>
              </a:rPr>
              <a:t>debitCreditIndicatorValue</a:t>
            </a:r>
            <a:endParaRPr lang="en-US" sz="1050" dirty="0"/>
          </a:p>
        </p:txBody>
      </p:sp>
      <p:sp>
        <p:nvSpPr>
          <p:cNvPr id="30" name="Shape 28"/>
          <p:cNvSpPr/>
          <p:nvPr/>
        </p:nvSpPr>
        <p:spPr>
          <a:xfrm>
            <a:off x="4471416" y="3575304"/>
            <a:ext cx="557784" cy="0"/>
          </a:xfrm>
          <a:prstGeom prst="line">
            <a:avLst/>
          </a:prstGeom>
          <a:noFill/>
          <a:ln w="15240">
            <a:solidFill>
              <a:srgbClr val="9FBEEA"/>
            </a:solidFill>
            <a:prstDash val="solid"/>
            <a:tailEnd type="triangle"/>
          </a:ln>
        </p:spPr>
      </p:sp>
      <p:sp>
        <p:nvSpPr>
          <p:cNvPr id="31" name="Shape 29"/>
          <p:cNvSpPr/>
          <p:nvPr/>
        </p:nvSpPr>
        <p:spPr>
          <a:xfrm>
            <a:off x="5138928" y="3410712"/>
            <a:ext cx="2788920" cy="329184"/>
          </a:xfrm>
          <a:prstGeom prst="roundRect">
            <a:avLst>
              <a:gd name="adj" fmla="val 22222"/>
            </a:avLst>
          </a:prstGeom>
          <a:solidFill>
            <a:srgbClr val="F6EFE2"/>
          </a:solidFill>
          <a:ln w="12700">
            <a:solidFill>
              <a:srgbClr val="DCC79E"/>
            </a:solidFill>
            <a:prstDash val="solid"/>
          </a:ln>
        </p:spPr>
      </p:sp>
      <p:sp>
        <p:nvSpPr>
          <p:cNvPr id="32" name="Text 30"/>
          <p:cNvSpPr txBox="1"/>
          <p:nvPr/>
        </p:nvSpPr>
        <p:spPr>
          <a:xfrm>
            <a:off x="5212080" y="3410712"/>
            <a:ext cx="2642616" cy="329184"/>
          </a:xfrm>
          <a:prstGeom prst="rect">
            <a:avLst/>
          </a:prstGeom>
          <a:noFill/>
          <a:ln/>
        </p:spPr>
        <p:txBody>
          <a:bodyPr wrap="square" lIns="0" tIns="0" rIns="0" bIns="0" rtlCol="0" anchor="ctr"/>
          <a:lstStyle/>
          <a:p>
            <a:pPr algn="l" indent="0" marL="0">
              <a:buNone/>
            </a:pPr>
            <a:r>
              <a:rPr lang="en-US" sz="1050" dirty="0">
                <a:solidFill>
                  <a:srgbClr val="6E4B1F"/>
                </a:solidFill>
                <a:latin typeface="Consolas" pitchFamily="34" charset="0"/>
                <a:ea typeface="Consolas" pitchFamily="34" charset="-122"/>
                <a:cs typeface="Consolas" pitchFamily="34" charset="-120"/>
              </a:rPr>
              <a:t>transactionSign</a:t>
            </a:r>
            <a:endParaRPr lang="en-US" sz="1050" dirty="0"/>
          </a:p>
        </p:txBody>
      </p:sp>
      <p:sp>
        <p:nvSpPr>
          <p:cNvPr id="33" name="Shape 31"/>
          <p:cNvSpPr/>
          <p:nvPr/>
        </p:nvSpPr>
        <p:spPr>
          <a:xfrm>
            <a:off x="566928" y="3794760"/>
            <a:ext cx="3794760" cy="329184"/>
          </a:xfrm>
          <a:prstGeom prst="roundRect">
            <a:avLst>
              <a:gd name="adj" fmla="val 22222"/>
            </a:avLst>
          </a:prstGeom>
          <a:solidFill>
            <a:srgbClr val="F4F7FB"/>
          </a:solidFill>
          <a:ln w="12700">
            <a:solidFill>
              <a:srgbClr val="E2E8F1"/>
            </a:solidFill>
            <a:prstDash val="solid"/>
          </a:ln>
        </p:spPr>
      </p:sp>
      <p:sp>
        <p:nvSpPr>
          <p:cNvPr id="34" name="Text 32"/>
          <p:cNvSpPr txBox="1"/>
          <p:nvPr/>
        </p:nvSpPr>
        <p:spPr>
          <a:xfrm>
            <a:off x="640080" y="3794760"/>
            <a:ext cx="3648456" cy="329184"/>
          </a:xfrm>
          <a:prstGeom prst="rect">
            <a:avLst/>
          </a:prstGeom>
          <a:noFill/>
          <a:ln/>
        </p:spPr>
        <p:txBody>
          <a:bodyPr wrap="square" lIns="0" tIns="0" rIns="0" bIns="0" rtlCol="0" anchor="ctr"/>
          <a:lstStyle/>
          <a:p>
            <a:pPr algn="l" indent="0" marL="0">
              <a:buNone/>
            </a:pPr>
            <a:r>
              <a:rPr lang="en-US" sz="1050" dirty="0">
                <a:solidFill>
                  <a:srgbClr val="1E2761"/>
                </a:solidFill>
                <a:latin typeface="Consolas" pitchFamily="34" charset="0"/>
                <a:ea typeface="Consolas" pitchFamily="34" charset="-122"/>
                <a:cs typeface="Consolas" pitchFamily="34" charset="-120"/>
              </a:rPr>
              <a:t>amountQualifier</a:t>
            </a:r>
            <a:endParaRPr lang="en-US" sz="1050" dirty="0"/>
          </a:p>
        </p:txBody>
      </p:sp>
      <p:sp>
        <p:nvSpPr>
          <p:cNvPr id="35" name="Shape 33"/>
          <p:cNvSpPr/>
          <p:nvPr/>
        </p:nvSpPr>
        <p:spPr>
          <a:xfrm>
            <a:off x="4471416" y="3959352"/>
            <a:ext cx="557784" cy="0"/>
          </a:xfrm>
          <a:prstGeom prst="line">
            <a:avLst/>
          </a:prstGeom>
          <a:noFill/>
          <a:ln w="15240">
            <a:solidFill>
              <a:srgbClr val="9FBEEA"/>
            </a:solidFill>
            <a:prstDash val="solid"/>
            <a:tailEnd type="triangle"/>
          </a:ln>
        </p:spPr>
      </p:sp>
      <p:sp>
        <p:nvSpPr>
          <p:cNvPr id="36" name="Shape 34"/>
          <p:cNvSpPr/>
          <p:nvPr/>
        </p:nvSpPr>
        <p:spPr>
          <a:xfrm>
            <a:off x="5138928" y="3794760"/>
            <a:ext cx="2788920" cy="329184"/>
          </a:xfrm>
          <a:prstGeom prst="roundRect">
            <a:avLst>
              <a:gd name="adj" fmla="val 22222"/>
            </a:avLst>
          </a:prstGeom>
          <a:solidFill>
            <a:srgbClr val="F6EFE2"/>
          </a:solidFill>
          <a:ln w="12700">
            <a:solidFill>
              <a:srgbClr val="DCC79E"/>
            </a:solidFill>
            <a:prstDash val="solid"/>
          </a:ln>
        </p:spPr>
      </p:sp>
      <p:sp>
        <p:nvSpPr>
          <p:cNvPr id="37" name="Text 35"/>
          <p:cNvSpPr txBox="1"/>
          <p:nvPr/>
        </p:nvSpPr>
        <p:spPr>
          <a:xfrm>
            <a:off x="5212080" y="3794760"/>
            <a:ext cx="2642616" cy="329184"/>
          </a:xfrm>
          <a:prstGeom prst="rect">
            <a:avLst/>
          </a:prstGeom>
          <a:noFill/>
          <a:ln/>
        </p:spPr>
        <p:txBody>
          <a:bodyPr wrap="square" lIns="0" tIns="0" rIns="0" bIns="0" rtlCol="0" anchor="ctr"/>
          <a:lstStyle/>
          <a:p>
            <a:pPr algn="l" indent="0" marL="0">
              <a:buNone/>
            </a:pPr>
            <a:r>
              <a:rPr lang="en-US" sz="1050" dirty="0">
                <a:solidFill>
                  <a:srgbClr val="6E4B1F"/>
                </a:solidFill>
                <a:latin typeface="Consolas" pitchFamily="34" charset="0"/>
                <a:ea typeface="Consolas" pitchFamily="34" charset="-122"/>
                <a:cs typeface="Consolas" pitchFamily="34" charset="-120"/>
              </a:rPr>
              <a:t>transactionRole</a:t>
            </a:r>
            <a:endParaRPr lang="en-US" sz="1050" dirty="0"/>
          </a:p>
        </p:txBody>
      </p:sp>
      <p:sp>
        <p:nvSpPr>
          <p:cNvPr id="38" name="Shape 36"/>
          <p:cNvSpPr/>
          <p:nvPr/>
        </p:nvSpPr>
        <p:spPr>
          <a:xfrm>
            <a:off x="566928" y="4178808"/>
            <a:ext cx="3794760" cy="329184"/>
          </a:xfrm>
          <a:prstGeom prst="roundRect">
            <a:avLst>
              <a:gd name="adj" fmla="val 22222"/>
            </a:avLst>
          </a:prstGeom>
          <a:solidFill>
            <a:srgbClr val="FFFFFF"/>
          </a:solidFill>
          <a:ln w="12700">
            <a:solidFill>
              <a:srgbClr val="E2E8F1"/>
            </a:solidFill>
            <a:prstDash val="solid"/>
          </a:ln>
        </p:spPr>
      </p:sp>
      <p:sp>
        <p:nvSpPr>
          <p:cNvPr id="39" name="Text 37"/>
          <p:cNvSpPr txBox="1"/>
          <p:nvPr/>
        </p:nvSpPr>
        <p:spPr>
          <a:xfrm>
            <a:off x="640080" y="4178808"/>
            <a:ext cx="3648456" cy="329184"/>
          </a:xfrm>
          <a:prstGeom prst="rect">
            <a:avLst/>
          </a:prstGeom>
          <a:noFill/>
          <a:ln/>
        </p:spPr>
        <p:txBody>
          <a:bodyPr wrap="square" lIns="0" tIns="0" rIns="0" bIns="0" rtlCol="0" anchor="ctr"/>
          <a:lstStyle/>
          <a:p>
            <a:pPr algn="l" indent="0" marL="0">
              <a:buNone/>
            </a:pPr>
            <a:r>
              <a:rPr lang="en-US" sz="1050" dirty="0">
                <a:solidFill>
                  <a:srgbClr val="1E2761"/>
                </a:solidFill>
                <a:latin typeface="Consolas" pitchFamily="34" charset="0"/>
                <a:ea typeface="Consolas" pitchFamily="34" charset="-122"/>
                <a:cs typeface="Consolas" pitchFamily="34" charset="-120"/>
              </a:rPr>
              <a:t>deviceStatusCode</a:t>
            </a:r>
            <a:endParaRPr lang="en-US" sz="1050" dirty="0"/>
          </a:p>
        </p:txBody>
      </p:sp>
      <p:sp>
        <p:nvSpPr>
          <p:cNvPr id="40" name="Shape 38"/>
          <p:cNvSpPr/>
          <p:nvPr/>
        </p:nvSpPr>
        <p:spPr>
          <a:xfrm>
            <a:off x="4471416" y="4343400"/>
            <a:ext cx="557784" cy="0"/>
          </a:xfrm>
          <a:prstGeom prst="line">
            <a:avLst/>
          </a:prstGeom>
          <a:noFill/>
          <a:ln w="15240">
            <a:solidFill>
              <a:srgbClr val="9FBEEA"/>
            </a:solidFill>
            <a:prstDash val="solid"/>
            <a:tailEnd type="triangle"/>
          </a:ln>
        </p:spPr>
      </p:sp>
      <p:sp>
        <p:nvSpPr>
          <p:cNvPr id="41" name="Shape 39"/>
          <p:cNvSpPr/>
          <p:nvPr/>
        </p:nvSpPr>
        <p:spPr>
          <a:xfrm>
            <a:off x="5138928" y="4178808"/>
            <a:ext cx="2788920" cy="329184"/>
          </a:xfrm>
          <a:prstGeom prst="roundRect">
            <a:avLst>
              <a:gd name="adj" fmla="val 22222"/>
            </a:avLst>
          </a:prstGeom>
          <a:solidFill>
            <a:srgbClr val="F6EFE2"/>
          </a:solidFill>
          <a:ln w="12700">
            <a:solidFill>
              <a:srgbClr val="DCC79E"/>
            </a:solidFill>
            <a:prstDash val="solid"/>
          </a:ln>
        </p:spPr>
      </p:sp>
      <p:sp>
        <p:nvSpPr>
          <p:cNvPr id="42" name="Text 40"/>
          <p:cNvSpPr txBox="1"/>
          <p:nvPr/>
        </p:nvSpPr>
        <p:spPr>
          <a:xfrm>
            <a:off x="5212080" y="4178808"/>
            <a:ext cx="2642616" cy="329184"/>
          </a:xfrm>
          <a:prstGeom prst="rect">
            <a:avLst/>
          </a:prstGeom>
          <a:noFill/>
          <a:ln/>
        </p:spPr>
        <p:txBody>
          <a:bodyPr wrap="square" lIns="0" tIns="0" rIns="0" bIns="0" rtlCol="0" anchor="ctr"/>
          <a:lstStyle/>
          <a:p>
            <a:pPr algn="l" indent="0" marL="0">
              <a:buNone/>
            </a:pPr>
            <a:r>
              <a:rPr lang="en-US" sz="1050" dirty="0">
                <a:solidFill>
                  <a:srgbClr val="6E4B1F"/>
                </a:solidFill>
                <a:latin typeface="Consolas" pitchFamily="34" charset="0"/>
                <a:ea typeface="Consolas" pitchFamily="34" charset="-122"/>
                <a:cs typeface="Consolas" pitchFamily="34" charset="-120"/>
              </a:rPr>
              <a:t>cancelCode</a:t>
            </a:r>
            <a:endParaRPr lang="en-US" sz="1050" dirty="0"/>
          </a:p>
        </p:txBody>
      </p:sp>
      <p:sp>
        <p:nvSpPr>
          <p:cNvPr id="43" name="Shape 41"/>
          <p:cNvSpPr/>
          <p:nvPr/>
        </p:nvSpPr>
        <p:spPr>
          <a:xfrm>
            <a:off x="566928" y="4562856"/>
            <a:ext cx="3794760" cy="329184"/>
          </a:xfrm>
          <a:prstGeom prst="roundRect">
            <a:avLst>
              <a:gd name="adj" fmla="val 22222"/>
            </a:avLst>
          </a:prstGeom>
          <a:solidFill>
            <a:srgbClr val="F4F7FB"/>
          </a:solidFill>
          <a:ln w="12700">
            <a:solidFill>
              <a:srgbClr val="E2E8F1"/>
            </a:solidFill>
            <a:prstDash val="solid"/>
          </a:ln>
        </p:spPr>
      </p:sp>
      <p:sp>
        <p:nvSpPr>
          <p:cNvPr id="44" name="Text 42"/>
          <p:cNvSpPr txBox="1"/>
          <p:nvPr/>
        </p:nvSpPr>
        <p:spPr>
          <a:xfrm>
            <a:off x="640080" y="4562856"/>
            <a:ext cx="3648456" cy="329184"/>
          </a:xfrm>
          <a:prstGeom prst="rect">
            <a:avLst/>
          </a:prstGeom>
          <a:noFill/>
          <a:ln/>
        </p:spPr>
        <p:txBody>
          <a:bodyPr wrap="square" lIns="0" tIns="0" rIns="0" bIns="0" rtlCol="0" anchor="ctr"/>
          <a:lstStyle/>
          <a:p>
            <a:pPr algn="l" indent="0" marL="0">
              <a:buNone/>
            </a:pPr>
            <a:r>
              <a:rPr lang="en-US" sz="1050" dirty="0">
                <a:solidFill>
                  <a:srgbClr val="1E2761"/>
                </a:solidFill>
                <a:latin typeface="Consolas" pitchFamily="34" charset="0"/>
                <a:ea typeface="Consolas" pitchFamily="34" charset="-122"/>
                <a:cs typeface="Consolas" pitchFamily="34" charset="-120"/>
              </a:rPr>
              <a:t>primaryCardTag</a:t>
            </a:r>
            <a:endParaRPr lang="en-US" sz="1050" dirty="0"/>
          </a:p>
        </p:txBody>
      </p:sp>
      <p:sp>
        <p:nvSpPr>
          <p:cNvPr id="45" name="Shape 43"/>
          <p:cNvSpPr/>
          <p:nvPr/>
        </p:nvSpPr>
        <p:spPr>
          <a:xfrm>
            <a:off x="4471416" y="4727448"/>
            <a:ext cx="557784" cy="0"/>
          </a:xfrm>
          <a:prstGeom prst="line">
            <a:avLst/>
          </a:prstGeom>
          <a:noFill/>
          <a:ln w="15240">
            <a:solidFill>
              <a:srgbClr val="9FBEEA"/>
            </a:solidFill>
            <a:prstDash val="solid"/>
            <a:tailEnd type="triangle"/>
          </a:ln>
        </p:spPr>
      </p:sp>
      <p:sp>
        <p:nvSpPr>
          <p:cNvPr id="46" name="Shape 44"/>
          <p:cNvSpPr/>
          <p:nvPr/>
        </p:nvSpPr>
        <p:spPr>
          <a:xfrm>
            <a:off x="5138928" y="4562856"/>
            <a:ext cx="2788920" cy="329184"/>
          </a:xfrm>
          <a:prstGeom prst="roundRect">
            <a:avLst>
              <a:gd name="adj" fmla="val 22222"/>
            </a:avLst>
          </a:prstGeom>
          <a:solidFill>
            <a:srgbClr val="F6EFE2"/>
          </a:solidFill>
          <a:ln w="12700">
            <a:solidFill>
              <a:srgbClr val="DCC79E"/>
            </a:solidFill>
            <a:prstDash val="solid"/>
          </a:ln>
        </p:spPr>
      </p:sp>
      <p:sp>
        <p:nvSpPr>
          <p:cNvPr id="47" name="Text 45"/>
          <p:cNvSpPr txBox="1"/>
          <p:nvPr/>
        </p:nvSpPr>
        <p:spPr>
          <a:xfrm>
            <a:off x="5212080" y="4562856"/>
            <a:ext cx="2642616" cy="329184"/>
          </a:xfrm>
          <a:prstGeom prst="rect">
            <a:avLst/>
          </a:prstGeom>
          <a:noFill/>
          <a:ln/>
        </p:spPr>
        <p:txBody>
          <a:bodyPr wrap="square" lIns="0" tIns="0" rIns="0" bIns="0" rtlCol="0" anchor="ctr"/>
          <a:lstStyle/>
          <a:p>
            <a:pPr algn="l" indent="0" marL="0">
              <a:buNone/>
            </a:pPr>
            <a:r>
              <a:rPr lang="en-US" sz="1050" dirty="0">
                <a:solidFill>
                  <a:srgbClr val="6E4B1F"/>
                </a:solidFill>
                <a:latin typeface="Consolas" pitchFamily="34" charset="0"/>
                <a:ea typeface="Consolas" pitchFamily="34" charset="-122"/>
                <a:cs typeface="Consolas" pitchFamily="34" charset="-120"/>
              </a:rPr>
              <a:t>primary</a:t>
            </a:r>
            <a:endParaRPr lang="en-US" sz="1050" dirty="0"/>
          </a:p>
        </p:txBody>
      </p:sp>
      <p:sp>
        <p:nvSpPr>
          <p:cNvPr id="48" name="Shape 46"/>
          <p:cNvSpPr/>
          <p:nvPr/>
        </p:nvSpPr>
        <p:spPr>
          <a:xfrm>
            <a:off x="8339328" y="1490472"/>
            <a:ext cx="3285439" cy="3566160"/>
          </a:xfrm>
          <a:prstGeom prst="roundRect">
            <a:avLst>
              <a:gd name="adj" fmla="val 2227"/>
            </a:avLst>
          </a:prstGeom>
          <a:solidFill>
            <a:srgbClr val="1E2761"/>
          </a:solidFill>
          <a:ln w="12700">
            <a:solidFill>
              <a:srgbClr val="1E2761"/>
            </a:solidFill>
            <a:prstDash val="solid"/>
          </a:ln>
        </p:spPr>
      </p:sp>
      <p:sp>
        <p:nvSpPr>
          <p:cNvPr id="49" name="Text 47"/>
          <p:cNvSpPr txBox="1"/>
          <p:nvPr/>
        </p:nvSpPr>
        <p:spPr>
          <a:xfrm>
            <a:off x="8595360" y="1655064"/>
            <a:ext cx="2773375" cy="32004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Neither column is wrong.
</a:t>
            </a:r>
            <a:pPr indent="0" marL="0">
              <a:buNone/>
            </a:pPr>
            <a:r>
              <a:rPr lang="en-US" sz="1200" dirty="0">
                <a:solidFill>
                  <a:srgbClr val="CADCFC"/>
                </a:solidFill>
                <a:latin typeface="Calibri" pitchFamily="34" charset="0"/>
                <a:ea typeface="Calibri" pitchFamily="34" charset="-122"/>
                <a:cs typeface="Calibri" pitchFamily="34" charset="-120"/>
              </a:rPr>
              <a:t>The product's names are good names for the product. They describe a card management system's own concerns.
</a:t>
            </a:r>
            <a:pPr indent="0" marL="0">
              <a:buNone/>
            </a:pPr>
            <a:r>
              <a:rPr lang="en-US" sz="1200" dirty="0">
                <a:solidFill>
                  <a:srgbClr val="CADCFC"/>
                </a:solidFill>
                <a:latin typeface="Calibri" pitchFamily="34" charset="0"/>
                <a:ea typeface="Calibri" pitchFamily="34" charset="-122"/>
                <a:cs typeface="Calibri" pitchFamily="34" charset="-120"/>
              </a:rPr>
              <a:t>They are not the words the business uses, and not the words another product would choose.
</a:t>
            </a:r>
            <a:pPr indent="0" marL="0">
              <a:buNone/>
            </a:pPr>
            <a:r>
              <a:rPr lang="en-US" sz="1200" b="1" dirty="0">
                <a:solidFill>
                  <a:srgbClr val="FFFFFF"/>
                </a:solidFill>
                <a:latin typeface="Calibri" pitchFamily="34" charset="0"/>
                <a:ea typeface="Calibri" pitchFamily="34" charset="-122"/>
                <a:cs typeface="Calibri" pitchFamily="34" charset="-120"/>
              </a:rPr>
              <a:t>Publish them and the contract is unreadable to the business and unportable to any other system.</a:t>
            </a:r>
            <a:endParaRPr lang="en-US" sz="1300" dirty="0"/>
          </a:p>
        </p:txBody>
      </p:sp>
      <p:sp>
        <p:nvSpPr>
          <p:cNvPr id="50" name="Text 48"/>
          <p:cNvSpPr txBox="1"/>
          <p:nvPr/>
        </p:nvSpPr>
        <p:spPr>
          <a:xfrm>
            <a:off x="566928" y="6455664"/>
            <a:ext cx="5486400" cy="256032"/>
          </a:xfrm>
          <a:prstGeom prst="rect">
            <a:avLst/>
          </a:prstGeom>
          <a:noFill/>
          <a:ln/>
        </p:spPr>
        <p:txBody>
          <a:bodyPr wrap="square" lIns="0" tIns="0" rIns="0" bIns="0" rtlCol="0" anchor="ctr"/>
          <a:lstStyle/>
          <a:p>
            <a:pPr indent="0" marL="0">
              <a:buNone/>
            </a:pPr>
            <a:r>
              <a:rPr lang="en-US" sz="850" dirty="0">
                <a:solidFill>
                  <a:srgbClr val="8A97A6"/>
                </a:solidFill>
                <a:latin typeface="Calibri" pitchFamily="34" charset="0"/>
                <a:ea typeface="Calibri" pitchFamily="34" charset="-122"/>
                <a:cs typeface="Calibri" pitchFamily="34" charset="-120"/>
              </a:rPr>
              <a:t>The BIAN interface and the System of Record  ·  CC&amp;C Solutions</a:t>
            </a:r>
            <a:endParaRPr lang="en-US" sz="850" dirty="0"/>
          </a:p>
        </p:txBody>
      </p:sp>
      <p:sp>
        <p:nvSpPr>
          <p:cNvPr id="51" name="Text 49"/>
          <p:cNvSpPr txBox="1"/>
          <p:nvPr/>
        </p:nvSpPr>
        <p:spPr>
          <a:xfrm>
            <a:off x="11076127" y="6455664"/>
            <a:ext cx="548640" cy="256032"/>
          </a:xfrm>
          <a:prstGeom prst="rect">
            <a:avLst/>
          </a:prstGeom>
          <a:noFill/>
          <a:ln/>
        </p:spPr>
        <p:txBody>
          <a:bodyPr wrap="square" lIns="0" tIns="0" rIns="0" bIns="0" rtlCol="0" anchor="ctr"/>
          <a:lstStyle/>
          <a:p>
            <a:pPr algn="r" indent="0" marL="0">
              <a:buNone/>
            </a:pPr>
            <a:r>
              <a:rPr lang="en-US" sz="900" dirty="0">
                <a:solidFill>
                  <a:srgbClr val="8A97A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713232"/>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The product's nesting is not a business hierarchy</a:t>
            </a:r>
            <a:endParaRPr lang="en-US" sz="3400" dirty="0"/>
          </a:p>
        </p:txBody>
      </p:sp>
      <p:sp>
        <p:nvSpPr>
          <p:cNvPr id="3" name="Text 1"/>
          <p:cNvSpPr txBox="1"/>
          <p:nvPr/>
        </p:nvSpPr>
        <p:spPr>
          <a:xfrm>
            <a:off x="566928" y="1115568"/>
            <a:ext cx="11057839" cy="384048"/>
          </a:xfrm>
          <a:prstGeom prst="rect">
            <a:avLst/>
          </a:prstGeom>
          <a:noFill/>
          <a:ln/>
        </p:spPr>
        <p:txBody>
          <a:bodyPr wrap="square" lIns="0" tIns="0" rIns="0" bIns="0" rtlCol="0" anchor="t"/>
          <a:lstStyle/>
          <a:p>
            <a:pPr indent="0" marL="0">
              <a:buNone/>
            </a:pPr>
            <a:r>
              <a:rPr lang="en-US" sz="1400" dirty="0">
                <a:solidFill>
                  <a:srgbClr val="5C6A7A"/>
                </a:solidFill>
                <a:latin typeface="Calibri" pitchFamily="34" charset="0"/>
                <a:ea typeface="Calibri" pitchFamily="34" charset="-122"/>
                <a:cs typeface="Calibri" pitchFamily="34" charset="-120"/>
              </a:rPr>
              <a:t>It records how the vendor assembled a payload, which is a fact about their software.</a:t>
            </a:r>
            <a:endParaRPr lang="en-US" sz="1400" dirty="0"/>
          </a:p>
        </p:txBody>
      </p:sp>
      <p:sp>
        <p:nvSpPr>
          <p:cNvPr id="4" name="Shape 2"/>
          <p:cNvSpPr/>
          <p:nvPr/>
        </p:nvSpPr>
        <p:spPr>
          <a:xfrm>
            <a:off x="566928" y="1920240"/>
            <a:ext cx="2377440" cy="237744"/>
          </a:xfrm>
          <a:prstGeom prst="roundRect">
            <a:avLst>
              <a:gd name="adj" fmla="val 50000"/>
            </a:avLst>
          </a:prstGeom>
          <a:solidFill>
            <a:srgbClr val="CADCFC"/>
          </a:solidFill>
          <a:ln w="9525">
            <a:solidFill>
              <a:srgbClr val="9FBEEA"/>
            </a:solidFill>
            <a:prstDash val="solid"/>
          </a:ln>
        </p:spPr>
      </p:sp>
      <p:sp>
        <p:nvSpPr>
          <p:cNvPr id="5" name="Text 3"/>
          <p:cNvSpPr txBox="1"/>
          <p:nvPr/>
        </p:nvSpPr>
        <p:spPr>
          <a:xfrm>
            <a:off x="566928" y="1920240"/>
            <a:ext cx="2377440" cy="237744"/>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WHAT THE BUSINESS ASKS FOR</a:t>
            </a:r>
            <a:endParaRPr lang="en-US" sz="950" dirty="0"/>
          </a:p>
        </p:txBody>
      </p:sp>
      <p:sp>
        <p:nvSpPr>
          <p:cNvPr id="6" name="Shape 4"/>
          <p:cNvSpPr/>
          <p:nvPr/>
        </p:nvSpPr>
        <p:spPr>
          <a:xfrm>
            <a:off x="566928" y="2286000"/>
            <a:ext cx="3931920" cy="402336"/>
          </a:xfrm>
          <a:prstGeom prst="roundRect">
            <a:avLst>
              <a:gd name="adj" fmla="val 18182"/>
            </a:avLst>
          </a:prstGeom>
          <a:solidFill>
            <a:srgbClr val="1E2761"/>
          </a:solidFill>
          <a:ln w="12700">
            <a:solidFill>
              <a:srgbClr val="E2E8F1"/>
            </a:solidFill>
            <a:prstDash val="solid"/>
          </a:ln>
        </p:spPr>
      </p:sp>
      <p:sp>
        <p:nvSpPr>
          <p:cNvPr id="7" name="Text 5"/>
          <p:cNvSpPr txBox="1"/>
          <p:nvPr/>
        </p:nvSpPr>
        <p:spPr>
          <a:xfrm>
            <a:off x="640080" y="2286000"/>
            <a:ext cx="3785616" cy="402336"/>
          </a:xfrm>
          <a:prstGeom prst="rect">
            <a:avLst/>
          </a:prstGeom>
          <a:noFill/>
          <a:ln/>
        </p:spPr>
        <p:txBody>
          <a:bodyPr wrap="square" lIns="0" tIns="0" rIns="0" bIns="0" rtlCol="0" anchor="ctr"/>
          <a:lstStyle/>
          <a:p>
            <a:pPr algn="l" indent="0" marL="0">
              <a:buNone/>
            </a:pPr>
            <a:r>
              <a:rPr lang="en-US" sz="1100" b="1" dirty="0">
                <a:solidFill>
                  <a:srgbClr val="FFFFFF"/>
                </a:solidFill>
                <a:latin typeface="Consolas" pitchFamily="34" charset="0"/>
                <a:ea typeface="Consolas" pitchFamily="34" charset="-122"/>
                <a:cs typeface="Consolas" pitchFamily="34" charset="-120"/>
              </a:rPr>
              <a:t>authenticationMethodValue</a:t>
            </a:r>
            <a:endParaRPr lang="en-US" sz="1100" dirty="0"/>
          </a:p>
        </p:txBody>
      </p:sp>
      <p:sp>
        <p:nvSpPr>
          <p:cNvPr id="8" name="Text 6"/>
          <p:cNvSpPr txBox="1"/>
          <p:nvPr/>
        </p:nvSpPr>
        <p:spPr>
          <a:xfrm>
            <a:off x="566928" y="2761488"/>
            <a:ext cx="3931920" cy="310896"/>
          </a:xfrm>
          <a:prstGeom prst="rect">
            <a:avLst/>
          </a:prstGeom>
          <a:noFill/>
          <a:ln/>
        </p:spPr>
        <p:txBody>
          <a:bodyPr wrap="square" lIns="0" tIns="0" rIns="0" bIns="0" rtlCol="0" anchor="t"/>
          <a:lstStyle/>
          <a:p>
            <a:pPr indent="0" marL="0">
              <a:buNone/>
            </a:pPr>
            <a:r>
              <a:rPr lang="en-US" sz="1000" i="1" dirty="0">
                <a:solidFill>
                  <a:srgbClr val="5C6A7A"/>
                </a:solidFill>
                <a:latin typeface="Calibri" pitchFamily="34" charset="0"/>
                <a:ea typeface="Calibri" pitchFamily="34" charset="-122"/>
                <a:cs typeface="Calibri" pitchFamily="34" charset="-120"/>
              </a:rPr>
              <a:t>one element, one meaning</a:t>
            </a:r>
            <a:endParaRPr lang="en-US" sz="1000" dirty="0"/>
          </a:p>
        </p:txBody>
      </p:sp>
      <p:sp>
        <p:nvSpPr>
          <p:cNvPr id="9" name="Shape 7"/>
          <p:cNvSpPr/>
          <p:nvPr/>
        </p:nvSpPr>
        <p:spPr>
          <a:xfrm>
            <a:off x="5230368" y="1920240"/>
            <a:ext cx="2651760" cy="237744"/>
          </a:xfrm>
          <a:prstGeom prst="roundRect">
            <a:avLst>
              <a:gd name="adj" fmla="val 50000"/>
            </a:avLst>
          </a:prstGeom>
          <a:solidFill>
            <a:srgbClr val="F6EFE2"/>
          </a:solidFill>
          <a:ln w="9525">
            <a:solidFill>
              <a:srgbClr val="DCC79E"/>
            </a:solidFill>
            <a:prstDash val="solid"/>
          </a:ln>
        </p:spPr>
      </p:sp>
      <p:sp>
        <p:nvSpPr>
          <p:cNvPr id="10" name="Text 8"/>
          <p:cNvSpPr txBox="1"/>
          <p:nvPr/>
        </p:nvSpPr>
        <p:spPr>
          <a:xfrm>
            <a:off x="5230368" y="1920240"/>
            <a:ext cx="2651760" cy="237744"/>
          </a:xfrm>
          <a:prstGeom prst="rect">
            <a:avLst/>
          </a:prstGeom>
          <a:noFill/>
          <a:ln/>
        </p:spPr>
        <p:txBody>
          <a:bodyPr wrap="square" lIns="0" tIns="0" rIns="0" bIns="0" rtlCol="0" anchor="ctr"/>
          <a:lstStyle/>
          <a:p>
            <a:pPr algn="ctr" indent="0" marL="0">
              <a:buNone/>
            </a:pPr>
            <a:r>
              <a:rPr lang="en-US" sz="950" b="1" dirty="0">
                <a:solidFill>
                  <a:srgbClr val="6E4B1F"/>
                </a:solidFill>
                <a:latin typeface="Calibri" pitchFamily="34" charset="0"/>
                <a:ea typeface="Calibri" pitchFamily="34" charset="-122"/>
                <a:cs typeface="Calibri" pitchFamily="34" charset="-120"/>
              </a:rPr>
              <a:t>WHERE THE PRODUCT KEEPS IT</a:t>
            </a:r>
            <a:endParaRPr lang="en-US" sz="950" dirty="0"/>
          </a:p>
        </p:txBody>
      </p:sp>
      <p:sp>
        <p:nvSpPr>
          <p:cNvPr id="11" name="Shape 9"/>
          <p:cNvSpPr/>
          <p:nvPr/>
        </p:nvSpPr>
        <p:spPr>
          <a:xfrm>
            <a:off x="5230368" y="2286000"/>
            <a:ext cx="4114800" cy="365760"/>
          </a:xfrm>
          <a:prstGeom prst="roundRect">
            <a:avLst>
              <a:gd name="adj" fmla="val 20000"/>
            </a:avLst>
          </a:prstGeom>
          <a:solidFill>
            <a:srgbClr val="FDEAEA"/>
          </a:solidFill>
          <a:ln w="12700">
            <a:solidFill>
              <a:srgbClr val="F0B8B8"/>
            </a:solidFill>
            <a:prstDash val="solid"/>
          </a:ln>
        </p:spPr>
      </p:sp>
      <p:sp>
        <p:nvSpPr>
          <p:cNvPr id="12" name="Text 10"/>
          <p:cNvSpPr txBox="1"/>
          <p:nvPr/>
        </p:nvSpPr>
        <p:spPr>
          <a:xfrm>
            <a:off x="5303520" y="2286000"/>
            <a:ext cx="3968496" cy="365760"/>
          </a:xfrm>
          <a:prstGeom prst="rect">
            <a:avLst/>
          </a:prstGeom>
          <a:noFill/>
          <a:ln/>
        </p:spPr>
        <p:txBody>
          <a:bodyPr wrap="square" lIns="0" tIns="0" rIns="0" bIns="0" rtlCol="0" anchor="ctr"/>
          <a:lstStyle/>
          <a:p>
            <a:pPr algn="l" indent="0" marL="0">
              <a:buNone/>
            </a:pPr>
            <a:r>
              <a:rPr lang="en-US" sz="1000" dirty="0">
                <a:solidFill>
                  <a:srgbClr val="A11B1B"/>
                </a:solidFill>
                <a:latin typeface="Consolas" pitchFamily="34" charset="0"/>
                <a:ea typeface="Consolas" pitchFamily="34" charset="-122"/>
                <a:cs typeface="Consolas" pitchFamily="34" charset="-120"/>
              </a:rPr>
              <a:t>acccountAuthorizations</a:t>
            </a:r>
            <a:endParaRPr lang="en-US" sz="1000" dirty="0"/>
          </a:p>
        </p:txBody>
      </p:sp>
      <p:sp>
        <p:nvSpPr>
          <p:cNvPr id="13" name="Shape 11"/>
          <p:cNvSpPr/>
          <p:nvPr/>
        </p:nvSpPr>
        <p:spPr>
          <a:xfrm>
            <a:off x="5541264" y="2688336"/>
            <a:ext cx="3803904" cy="365760"/>
          </a:xfrm>
          <a:prstGeom prst="roundRect">
            <a:avLst>
              <a:gd name="adj" fmla="val 20000"/>
            </a:avLst>
          </a:prstGeom>
          <a:solidFill>
            <a:srgbClr val="F6EFE2"/>
          </a:solidFill>
          <a:ln w="12700">
            <a:solidFill>
              <a:srgbClr val="DCC79E"/>
            </a:solidFill>
            <a:prstDash val="solid"/>
          </a:ln>
        </p:spPr>
      </p:sp>
      <p:sp>
        <p:nvSpPr>
          <p:cNvPr id="14" name="Text 12"/>
          <p:cNvSpPr txBox="1"/>
          <p:nvPr/>
        </p:nvSpPr>
        <p:spPr>
          <a:xfrm>
            <a:off x="5614416" y="2688336"/>
            <a:ext cx="3657600" cy="365760"/>
          </a:xfrm>
          <a:prstGeom prst="rect">
            <a:avLst/>
          </a:prstGeom>
          <a:noFill/>
          <a:ln/>
        </p:spPr>
        <p:txBody>
          <a:bodyPr wrap="square" lIns="0" tIns="0" rIns="0" bIns="0" rtlCol="0" anchor="ctr"/>
          <a:lstStyle/>
          <a:p>
            <a:pPr algn="l" indent="0" marL="0">
              <a:buNone/>
            </a:pPr>
            <a:r>
              <a:rPr lang="en-US" sz="1000" dirty="0">
                <a:solidFill>
                  <a:srgbClr val="6E4B1F"/>
                </a:solidFill>
                <a:latin typeface="Consolas" pitchFamily="34" charset="0"/>
                <a:ea typeface="Consolas" pitchFamily="34" charset="-122"/>
                <a:cs typeface="Consolas" pitchFamily="34" charset="-120"/>
              </a:rPr>
              <a:t>authorizations</a:t>
            </a:r>
            <a:endParaRPr lang="en-US" sz="1000" dirty="0"/>
          </a:p>
        </p:txBody>
      </p:sp>
      <p:sp>
        <p:nvSpPr>
          <p:cNvPr id="15" name="Shape 13"/>
          <p:cNvSpPr/>
          <p:nvPr/>
        </p:nvSpPr>
        <p:spPr>
          <a:xfrm>
            <a:off x="5852160" y="3090672"/>
            <a:ext cx="3493008" cy="365760"/>
          </a:xfrm>
          <a:prstGeom prst="roundRect">
            <a:avLst>
              <a:gd name="adj" fmla="val 20000"/>
            </a:avLst>
          </a:prstGeom>
          <a:solidFill>
            <a:srgbClr val="F6EFE2"/>
          </a:solidFill>
          <a:ln w="12700">
            <a:solidFill>
              <a:srgbClr val="DCC79E"/>
            </a:solidFill>
            <a:prstDash val="solid"/>
          </a:ln>
        </p:spPr>
      </p:sp>
      <p:sp>
        <p:nvSpPr>
          <p:cNvPr id="16" name="Text 14"/>
          <p:cNvSpPr txBox="1"/>
          <p:nvPr/>
        </p:nvSpPr>
        <p:spPr>
          <a:xfrm>
            <a:off x="5925312" y="3090672"/>
            <a:ext cx="3346704" cy="365760"/>
          </a:xfrm>
          <a:prstGeom prst="rect">
            <a:avLst/>
          </a:prstGeom>
          <a:noFill/>
          <a:ln/>
        </p:spPr>
        <p:txBody>
          <a:bodyPr wrap="square" lIns="0" tIns="0" rIns="0" bIns="0" rtlCol="0" anchor="ctr"/>
          <a:lstStyle/>
          <a:p>
            <a:pPr algn="l" indent="0" marL="0">
              <a:buNone/>
            </a:pPr>
            <a:r>
              <a:rPr lang="en-US" sz="1000" dirty="0">
                <a:solidFill>
                  <a:srgbClr val="6E4B1F"/>
                </a:solidFill>
                <a:latin typeface="Consolas" pitchFamily="34" charset="0"/>
                <a:ea typeface="Consolas" pitchFamily="34" charset="-122"/>
                <a:cs typeface="Consolas" pitchFamily="34" charset="-120"/>
              </a:rPr>
              <a:t>posEntryMode</a:t>
            </a:r>
            <a:endParaRPr lang="en-US" sz="1000" dirty="0"/>
          </a:p>
        </p:txBody>
      </p:sp>
      <p:sp>
        <p:nvSpPr>
          <p:cNvPr id="17" name="Shape 15"/>
          <p:cNvSpPr/>
          <p:nvPr/>
        </p:nvSpPr>
        <p:spPr>
          <a:xfrm>
            <a:off x="6163056" y="3493008"/>
            <a:ext cx="3182112" cy="365760"/>
          </a:xfrm>
          <a:prstGeom prst="roundRect">
            <a:avLst>
              <a:gd name="adj" fmla="val 20000"/>
            </a:avLst>
          </a:prstGeom>
          <a:solidFill>
            <a:srgbClr val="F6EFE2"/>
          </a:solidFill>
          <a:ln w="12700">
            <a:solidFill>
              <a:srgbClr val="DCC79E"/>
            </a:solidFill>
            <a:prstDash val="solid"/>
          </a:ln>
        </p:spPr>
      </p:sp>
      <p:sp>
        <p:nvSpPr>
          <p:cNvPr id="18" name="Text 16"/>
          <p:cNvSpPr txBox="1"/>
          <p:nvPr/>
        </p:nvSpPr>
        <p:spPr>
          <a:xfrm>
            <a:off x="6236208" y="3493008"/>
            <a:ext cx="3035808" cy="365760"/>
          </a:xfrm>
          <a:prstGeom prst="rect">
            <a:avLst/>
          </a:prstGeom>
          <a:noFill/>
          <a:ln/>
        </p:spPr>
        <p:txBody>
          <a:bodyPr wrap="square" lIns="0" tIns="0" rIns="0" bIns="0" rtlCol="0" anchor="ctr"/>
          <a:lstStyle/>
          <a:p>
            <a:pPr algn="l" indent="0" marL="0">
              <a:buNone/>
            </a:pPr>
            <a:r>
              <a:rPr lang="en-US" sz="1000" dirty="0">
                <a:solidFill>
                  <a:srgbClr val="6E4B1F"/>
                </a:solidFill>
                <a:latin typeface="Consolas" pitchFamily="34" charset="0"/>
                <a:ea typeface="Consolas" pitchFamily="34" charset="-122"/>
                <a:cs typeface="Consolas" pitchFamily="34" charset="-120"/>
              </a:rPr>
              <a:t>capturePANMethod</a:t>
            </a:r>
            <a:endParaRPr lang="en-US" sz="1000" dirty="0"/>
          </a:p>
        </p:txBody>
      </p:sp>
      <p:sp>
        <p:nvSpPr>
          <p:cNvPr id="19" name="Shape 17"/>
          <p:cNvSpPr/>
          <p:nvPr/>
        </p:nvSpPr>
        <p:spPr>
          <a:xfrm>
            <a:off x="4590288" y="2487168"/>
            <a:ext cx="585216" cy="0"/>
          </a:xfrm>
          <a:prstGeom prst="line">
            <a:avLst/>
          </a:prstGeom>
          <a:noFill/>
          <a:ln w="19050">
            <a:solidFill>
              <a:srgbClr val="9FBEEA"/>
            </a:solidFill>
            <a:prstDash val="solid"/>
            <a:tailEnd type="triangle"/>
          </a:ln>
        </p:spPr>
      </p:sp>
      <p:sp>
        <p:nvSpPr>
          <p:cNvPr id="20" name="Shape 18"/>
          <p:cNvSpPr/>
          <p:nvPr/>
        </p:nvSpPr>
        <p:spPr>
          <a:xfrm>
            <a:off x="9573768" y="2286000"/>
            <a:ext cx="2011680" cy="365760"/>
          </a:xfrm>
          <a:prstGeom prst="roundRect">
            <a:avLst>
              <a:gd name="adj" fmla="val 15000"/>
            </a:avLst>
          </a:prstGeom>
          <a:solidFill>
            <a:srgbClr val="FDEAEA"/>
          </a:solidFill>
          <a:ln w="12700">
            <a:solidFill>
              <a:srgbClr val="F0B8B8"/>
            </a:solidFill>
            <a:prstDash val="solid"/>
          </a:ln>
        </p:spPr>
      </p:sp>
      <p:sp>
        <p:nvSpPr>
          <p:cNvPr id="21" name="Text 19"/>
          <p:cNvSpPr txBox="1"/>
          <p:nvPr/>
        </p:nvSpPr>
        <p:spPr>
          <a:xfrm>
            <a:off x="9573768" y="2286000"/>
            <a:ext cx="2011680" cy="365760"/>
          </a:xfrm>
          <a:prstGeom prst="rect">
            <a:avLst/>
          </a:prstGeom>
          <a:noFill/>
          <a:ln/>
        </p:spPr>
        <p:txBody>
          <a:bodyPr wrap="square" lIns="0" tIns="0" rIns="0" bIns="0" rtlCol="0" anchor="ctr"/>
          <a:lstStyle/>
          <a:p>
            <a:pPr algn="ctr" indent="0" marL="0">
              <a:buNone/>
            </a:pPr>
            <a:r>
              <a:rPr lang="en-US" sz="1000" b="1" dirty="0">
                <a:solidFill>
                  <a:srgbClr val="A11B1B"/>
                </a:solidFill>
                <a:latin typeface="Calibri" pitchFamily="34" charset="0"/>
                <a:ea typeface="Calibri" pitchFamily="34" charset="-122"/>
                <a:cs typeface="Calibri" pitchFamily="34" charset="-120"/>
              </a:rPr>
              <a:t>three c's</a:t>
            </a:r>
            <a:endParaRPr lang="en-US" sz="1000" dirty="0"/>
          </a:p>
        </p:txBody>
      </p:sp>
      <p:sp>
        <p:nvSpPr>
          <p:cNvPr id="22" name="Shape 20"/>
          <p:cNvSpPr/>
          <p:nvPr/>
        </p:nvSpPr>
        <p:spPr>
          <a:xfrm flipH="1">
            <a:off x="8979408" y="2468880"/>
            <a:ext cx="548640" cy="0"/>
          </a:xfrm>
          <a:prstGeom prst="line">
            <a:avLst/>
          </a:prstGeom>
          <a:noFill/>
          <a:ln w="15875">
            <a:solidFill>
              <a:srgbClr val="A11B1B"/>
            </a:solidFill>
            <a:prstDash val="solid"/>
            <a:tailEnd type="triangle"/>
          </a:ln>
        </p:spPr>
      </p:sp>
      <p:sp>
        <p:nvSpPr>
          <p:cNvPr id="23" name="Shape 21"/>
          <p:cNvSpPr/>
          <p:nvPr/>
        </p:nvSpPr>
        <p:spPr>
          <a:xfrm>
            <a:off x="566928" y="4206240"/>
            <a:ext cx="2377440" cy="237744"/>
          </a:xfrm>
          <a:prstGeom prst="roundRect">
            <a:avLst>
              <a:gd name="adj" fmla="val 50000"/>
            </a:avLst>
          </a:prstGeom>
          <a:solidFill>
            <a:srgbClr val="CADCFC"/>
          </a:solidFill>
          <a:ln w="9525">
            <a:solidFill>
              <a:srgbClr val="9FBEEA"/>
            </a:solidFill>
            <a:prstDash val="solid"/>
          </a:ln>
        </p:spPr>
      </p:sp>
      <p:sp>
        <p:nvSpPr>
          <p:cNvPr id="24" name="Text 22"/>
          <p:cNvSpPr txBox="1"/>
          <p:nvPr/>
        </p:nvSpPr>
        <p:spPr>
          <a:xfrm>
            <a:off x="566928" y="4206240"/>
            <a:ext cx="2377440" cy="237744"/>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ONE ELEMENT</a:t>
            </a:r>
            <a:endParaRPr lang="en-US" sz="950" dirty="0"/>
          </a:p>
        </p:txBody>
      </p:sp>
      <p:sp>
        <p:nvSpPr>
          <p:cNvPr id="25" name="Shape 23"/>
          <p:cNvSpPr/>
          <p:nvPr/>
        </p:nvSpPr>
        <p:spPr>
          <a:xfrm>
            <a:off x="566928" y="4572000"/>
            <a:ext cx="2834640" cy="402336"/>
          </a:xfrm>
          <a:prstGeom prst="roundRect">
            <a:avLst>
              <a:gd name="adj" fmla="val 18182"/>
            </a:avLst>
          </a:prstGeom>
          <a:solidFill>
            <a:srgbClr val="1E2761"/>
          </a:solidFill>
          <a:ln w="12700">
            <a:solidFill>
              <a:srgbClr val="E2E8F1"/>
            </a:solidFill>
            <a:prstDash val="solid"/>
          </a:ln>
        </p:spPr>
      </p:sp>
      <p:sp>
        <p:nvSpPr>
          <p:cNvPr id="26" name="Text 24"/>
          <p:cNvSpPr txBox="1"/>
          <p:nvPr/>
        </p:nvSpPr>
        <p:spPr>
          <a:xfrm>
            <a:off x="640080" y="4572000"/>
            <a:ext cx="2688336" cy="402336"/>
          </a:xfrm>
          <a:prstGeom prst="rect">
            <a:avLst/>
          </a:prstGeom>
          <a:noFill/>
          <a:ln/>
        </p:spPr>
        <p:txBody>
          <a:bodyPr wrap="square" lIns="0" tIns="0" rIns="0" bIns="0" rtlCol="0" anchor="ctr"/>
          <a:lstStyle/>
          <a:p>
            <a:pPr algn="l" indent="0" marL="0">
              <a:buNone/>
            </a:pPr>
            <a:r>
              <a:rPr lang="en-US" sz="1100" b="1" dirty="0">
                <a:solidFill>
                  <a:srgbClr val="FFFFFF"/>
                </a:solidFill>
                <a:latin typeface="Consolas" pitchFamily="34" charset="0"/>
                <a:ea typeface="Consolas" pitchFamily="34" charset="-122"/>
                <a:cs typeface="Consolas" pitchFamily="34" charset="-120"/>
              </a:rPr>
              <a:t>balanceAmount</a:t>
            </a:r>
            <a:endParaRPr lang="en-US" sz="1100" dirty="0"/>
          </a:p>
        </p:txBody>
      </p:sp>
      <p:sp>
        <p:nvSpPr>
          <p:cNvPr id="27" name="Shape 25"/>
          <p:cNvSpPr/>
          <p:nvPr/>
        </p:nvSpPr>
        <p:spPr>
          <a:xfrm>
            <a:off x="4407408" y="4206240"/>
            <a:ext cx="3108960" cy="237744"/>
          </a:xfrm>
          <a:prstGeom prst="roundRect">
            <a:avLst>
              <a:gd name="adj" fmla="val 50000"/>
            </a:avLst>
          </a:prstGeom>
          <a:solidFill>
            <a:srgbClr val="F6EFE2"/>
          </a:solidFill>
          <a:ln w="9525">
            <a:solidFill>
              <a:srgbClr val="DCC79E"/>
            </a:solidFill>
            <a:prstDash val="solid"/>
          </a:ln>
        </p:spPr>
      </p:sp>
      <p:sp>
        <p:nvSpPr>
          <p:cNvPr id="28" name="Text 26"/>
          <p:cNvSpPr txBox="1"/>
          <p:nvPr/>
        </p:nvSpPr>
        <p:spPr>
          <a:xfrm>
            <a:off x="4407408" y="4206240"/>
            <a:ext cx="3108960" cy="237744"/>
          </a:xfrm>
          <a:prstGeom prst="rect">
            <a:avLst/>
          </a:prstGeom>
          <a:noFill/>
          <a:ln/>
        </p:spPr>
        <p:txBody>
          <a:bodyPr wrap="square" lIns="0" tIns="0" rIns="0" bIns="0" rtlCol="0" anchor="ctr"/>
          <a:lstStyle/>
          <a:p>
            <a:pPr algn="ctr" indent="0" marL="0">
              <a:buNone/>
            </a:pPr>
            <a:r>
              <a:rPr lang="en-US" sz="950" b="1" dirty="0">
                <a:solidFill>
                  <a:srgbClr val="6E4B1F"/>
                </a:solidFill>
                <a:latin typeface="Calibri" pitchFamily="34" charset="0"/>
                <a:ea typeface="Calibri" pitchFamily="34" charset="-122"/>
                <a:cs typeface="Calibri" pitchFamily="34" charset="-120"/>
              </a:rPr>
              <a:t>FIVE PRODUCT FIELDS</a:t>
            </a:r>
            <a:endParaRPr lang="en-US" sz="950" dirty="0"/>
          </a:p>
        </p:txBody>
      </p:sp>
      <p:sp>
        <p:nvSpPr>
          <p:cNvPr id="29" name="Shape 27"/>
          <p:cNvSpPr/>
          <p:nvPr/>
        </p:nvSpPr>
        <p:spPr>
          <a:xfrm>
            <a:off x="4407408" y="4572000"/>
            <a:ext cx="3657600" cy="292608"/>
          </a:xfrm>
          <a:prstGeom prst="roundRect">
            <a:avLst>
              <a:gd name="adj" fmla="val 25000"/>
            </a:avLst>
          </a:prstGeom>
          <a:solidFill>
            <a:srgbClr val="F6EFE2"/>
          </a:solidFill>
          <a:ln w="12700">
            <a:solidFill>
              <a:srgbClr val="DCC79E"/>
            </a:solidFill>
            <a:prstDash val="solid"/>
          </a:ln>
        </p:spPr>
      </p:sp>
      <p:sp>
        <p:nvSpPr>
          <p:cNvPr id="30" name="Text 28"/>
          <p:cNvSpPr txBox="1"/>
          <p:nvPr/>
        </p:nvSpPr>
        <p:spPr>
          <a:xfrm>
            <a:off x="4480560" y="4572000"/>
            <a:ext cx="3511296" cy="292608"/>
          </a:xfrm>
          <a:prstGeom prst="rect">
            <a:avLst/>
          </a:prstGeom>
          <a:noFill/>
          <a:ln/>
        </p:spPr>
        <p:txBody>
          <a:bodyPr wrap="square" lIns="0" tIns="0" rIns="0" bIns="0" rtlCol="0" anchor="ctr"/>
          <a:lstStyle/>
          <a:p>
            <a:pPr algn="l" indent="0" marL="0">
              <a:buNone/>
            </a:pPr>
            <a:r>
              <a:rPr lang="en-US" sz="950" dirty="0">
                <a:solidFill>
                  <a:srgbClr val="6E4B1F"/>
                </a:solidFill>
                <a:latin typeface="Consolas" pitchFamily="34" charset="0"/>
                <a:ea typeface="Consolas" pitchFamily="34" charset="-122"/>
                <a:cs typeface="Consolas" pitchFamily="34" charset="-120"/>
              </a:rPr>
              <a:t>statementOpenBalance</a:t>
            </a:r>
            <a:endParaRPr lang="en-US" sz="950" dirty="0"/>
          </a:p>
        </p:txBody>
      </p:sp>
      <p:sp>
        <p:nvSpPr>
          <p:cNvPr id="31" name="Shape 29"/>
          <p:cNvSpPr/>
          <p:nvPr/>
        </p:nvSpPr>
        <p:spPr>
          <a:xfrm flipV="1">
            <a:off x="3493008" y="4718304"/>
            <a:ext cx="859536" cy="54864"/>
          </a:xfrm>
          <a:prstGeom prst="line">
            <a:avLst/>
          </a:prstGeom>
          <a:noFill/>
          <a:ln w="12700">
            <a:solidFill>
              <a:srgbClr val="9FBEEA"/>
            </a:solidFill>
            <a:prstDash val="solid"/>
            <a:tailEnd type="triangle"/>
          </a:ln>
        </p:spPr>
      </p:sp>
      <p:sp>
        <p:nvSpPr>
          <p:cNvPr id="32" name="Shape 30"/>
          <p:cNvSpPr/>
          <p:nvPr/>
        </p:nvSpPr>
        <p:spPr>
          <a:xfrm>
            <a:off x="4407408" y="4901184"/>
            <a:ext cx="3657600" cy="292608"/>
          </a:xfrm>
          <a:prstGeom prst="roundRect">
            <a:avLst>
              <a:gd name="adj" fmla="val 25000"/>
            </a:avLst>
          </a:prstGeom>
          <a:solidFill>
            <a:srgbClr val="F6EFE2"/>
          </a:solidFill>
          <a:ln w="12700">
            <a:solidFill>
              <a:srgbClr val="DCC79E"/>
            </a:solidFill>
            <a:prstDash val="solid"/>
          </a:ln>
        </p:spPr>
      </p:sp>
      <p:sp>
        <p:nvSpPr>
          <p:cNvPr id="33" name="Text 31"/>
          <p:cNvSpPr txBox="1"/>
          <p:nvPr/>
        </p:nvSpPr>
        <p:spPr>
          <a:xfrm>
            <a:off x="4480560" y="4901184"/>
            <a:ext cx="3511296" cy="292608"/>
          </a:xfrm>
          <a:prstGeom prst="rect">
            <a:avLst/>
          </a:prstGeom>
          <a:noFill/>
          <a:ln/>
        </p:spPr>
        <p:txBody>
          <a:bodyPr wrap="square" lIns="0" tIns="0" rIns="0" bIns="0" rtlCol="0" anchor="ctr"/>
          <a:lstStyle/>
          <a:p>
            <a:pPr algn="l" indent="0" marL="0">
              <a:buNone/>
            </a:pPr>
            <a:r>
              <a:rPr lang="en-US" sz="950" dirty="0">
                <a:solidFill>
                  <a:srgbClr val="6E4B1F"/>
                </a:solidFill>
                <a:latin typeface="Consolas" pitchFamily="34" charset="0"/>
                <a:ea typeface="Consolas" pitchFamily="34" charset="-122"/>
                <a:cs typeface="Consolas" pitchFamily="34" charset="-120"/>
              </a:rPr>
              <a:t>statementCloseBalance</a:t>
            </a:r>
            <a:endParaRPr lang="en-US" sz="950" dirty="0"/>
          </a:p>
        </p:txBody>
      </p:sp>
      <p:sp>
        <p:nvSpPr>
          <p:cNvPr id="34" name="Shape 32"/>
          <p:cNvSpPr/>
          <p:nvPr/>
        </p:nvSpPr>
        <p:spPr>
          <a:xfrm>
            <a:off x="3493008" y="4773168"/>
            <a:ext cx="859536" cy="274320"/>
          </a:xfrm>
          <a:prstGeom prst="line">
            <a:avLst/>
          </a:prstGeom>
          <a:noFill/>
          <a:ln w="12700">
            <a:solidFill>
              <a:srgbClr val="9FBEEA"/>
            </a:solidFill>
            <a:prstDash val="solid"/>
            <a:tailEnd type="triangle"/>
          </a:ln>
        </p:spPr>
      </p:sp>
      <p:sp>
        <p:nvSpPr>
          <p:cNvPr id="35" name="Shape 33"/>
          <p:cNvSpPr/>
          <p:nvPr/>
        </p:nvSpPr>
        <p:spPr>
          <a:xfrm>
            <a:off x="4407408" y="5230368"/>
            <a:ext cx="3657600" cy="292608"/>
          </a:xfrm>
          <a:prstGeom prst="roundRect">
            <a:avLst>
              <a:gd name="adj" fmla="val 25000"/>
            </a:avLst>
          </a:prstGeom>
          <a:solidFill>
            <a:srgbClr val="F6EFE2"/>
          </a:solidFill>
          <a:ln w="12700">
            <a:solidFill>
              <a:srgbClr val="DCC79E"/>
            </a:solidFill>
            <a:prstDash val="solid"/>
          </a:ln>
        </p:spPr>
      </p:sp>
      <p:sp>
        <p:nvSpPr>
          <p:cNvPr id="36" name="Text 34"/>
          <p:cNvSpPr txBox="1"/>
          <p:nvPr/>
        </p:nvSpPr>
        <p:spPr>
          <a:xfrm>
            <a:off x="4480560" y="5230368"/>
            <a:ext cx="3511296" cy="292608"/>
          </a:xfrm>
          <a:prstGeom prst="rect">
            <a:avLst/>
          </a:prstGeom>
          <a:noFill/>
          <a:ln/>
        </p:spPr>
        <p:txBody>
          <a:bodyPr wrap="square" lIns="0" tIns="0" rIns="0" bIns="0" rtlCol="0" anchor="ctr"/>
          <a:lstStyle/>
          <a:p>
            <a:pPr algn="l" indent="0" marL="0">
              <a:buNone/>
            </a:pPr>
            <a:r>
              <a:rPr lang="en-US" sz="950" dirty="0">
                <a:solidFill>
                  <a:srgbClr val="6E4B1F"/>
                </a:solidFill>
                <a:latin typeface="Consolas" pitchFamily="34" charset="0"/>
                <a:ea typeface="Consolas" pitchFamily="34" charset="-122"/>
                <a:cs typeface="Consolas" pitchFamily="34" charset="-120"/>
              </a:rPr>
              <a:t>statementPenaltyAmount</a:t>
            </a:r>
            <a:endParaRPr lang="en-US" sz="950" dirty="0"/>
          </a:p>
        </p:txBody>
      </p:sp>
      <p:sp>
        <p:nvSpPr>
          <p:cNvPr id="37" name="Shape 35"/>
          <p:cNvSpPr/>
          <p:nvPr/>
        </p:nvSpPr>
        <p:spPr>
          <a:xfrm>
            <a:off x="3493008" y="4773168"/>
            <a:ext cx="859536" cy="603504"/>
          </a:xfrm>
          <a:prstGeom prst="line">
            <a:avLst/>
          </a:prstGeom>
          <a:noFill/>
          <a:ln w="12700">
            <a:solidFill>
              <a:srgbClr val="9FBEEA"/>
            </a:solidFill>
            <a:prstDash val="solid"/>
            <a:tailEnd type="triangle"/>
          </a:ln>
        </p:spPr>
      </p:sp>
      <p:sp>
        <p:nvSpPr>
          <p:cNvPr id="38" name="Shape 36"/>
          <p:cNvSpPr/>
          <p:nvPr/>
        </p:nvSpPr>
        <p:spPr>
          <a:xfrm>
            <a:off x="4407408" y="5559552"/>
            <a:ext cx="3657600" cy="292608"/>
          </a:xfrm>
          <a:prstGeom prst="roundRect">
            <a:avLst>
              <a:gd name="adj" fmla="val 25000"/>
            </a:avLst>
          </a:prstGeom>
          <a:solidFill>
            <a:srgbClr val="F6EFE2"/>
          </a:solidFill>
          <a:ln w="12700">
            <a:solidFill>
              <a:srgbClr val="DCC79E"/>
            </a:solidFill>
            <a:prstDash val="solid"/>
          </a:ln>
        </p:spPr>
      </p:sp>
      <p:sp>
        <p:nvSpPr>
          <p:cNvPr id="39" name="Text 37"/>
          <p:cNvSpPr txBox="1"/>
          <p:nvPr/>
        </p:nvSpPr>
        <p:spPr>
          <a:xfrm>
            <a:off x="4480560" y="5559552"/>
            <a:ext cx="3511296" cy="292608"/>
          </a:xfrm>
          <a:prstGeom prst="rect">
            <a:avLst/>
          </a:prstGeom>
          <a:noFill/>
          <a:ln/>
        </p:spPr>
        <p:txBody>
          <a:bodyPr wrap="square" lIns="0" tIns="0" rIns="0" bIns="0" rtlCol="0" anchor="ctr"/>
          <a:lstStyle/>
          <a:p>
            <a:pPr algn="l" indent="0" marL="0">
              <a:buNone/>
            </a:pPr>
            <a:r>
              <a:rPr lang="en-US" sz="950" dirty="0">
                <a:solidFill>
                  <a:srgbClr val="6E4B1F"/>
                </a:solidFill>
                <a:latin typeface="Consolas" pitchFamily="34" charset="0"/>
                <a:ea typeface="Consolas" pitchFamily="34" charset="-122"/>
                <a:cs typeface="Consolas" pitchFamily="34" charset="-120"/>
              </a:rPr>
              <a:t>statementTotalDue</a:t>
            </a:r>
            <a:endParaRPr lang="en-US" sz="950" dirty="0"/>
          </a:p>
        </p:txBody>
      </p:sp>
      <p:sp>
        <p:nvSpPr>
          <p:cNvPr id="40" name="Shape 38"/>
          <p:cNvSpPr/>
          <p:nvPr/>
        </p:nvSpPr>
        <p:spPr>
          <a:xfrm>
            <a:off x="3493008" y="4773168"/>
            <a:ext cx="859536" cy="932688"/>
          </a:xfrm>
          <a:prstGeom prst="line">
            <a:avLst/>
          </a:prstGeom>
          <a:noFill/>
          <a:ln w="12700">
            <a:solidFill>
              <a:srgbClr val="9FBEEA"/>
            </a:solidFill>
            <a:prstDash val="solid"/>
            <a:tailEnd type="triangle"/>
          </a:ln>
        </p:spPr>
      </p:sp>
      <p:sp>
        <p:nvSpPr>
          <p:cNvPr id="41" name="Shape 39"/>
          <p:cNvSpPr/>
          <p:nvPr/>
        </p:nvSpPr>
        <p:spPr>
          <a:xfrm>
            <a:off x="4407408" y="5888736"/>
            <a:ext cx="3657600" cy="292608"/>
          </a:xfrm>
          <a:prstGeom prst="roundRect">
            <a:avLst>
              <a:gd name="adj" fmla="val 25000"/>
            </a:avLst>
          </a:prstGeom>
          <a:solidFill>
            <a:srgbClr val="F6EFE2"/>
          </a:solidFill>
          <a:ln w="12700">
            <a:solidFill>
              <a:srgbClr val="DCC79E"/>
            </a:solidFill>
            <a:prstDash val="solid"/>
          </a:ln>
        </p:spPr>
      </p:sp>
      <p:sp>
        <p:nvSpPr>
          <p:cNvPr id="42" name="Text 40"/>
          <p:cNvSpPr txBox="1"/>
          <p:nvPr/>
        </p:nvSpPr>
        <p:spPr>
          <a:xfrm>
            <a:off x="4480560" y="5888736"/>
            <a:ext cx="3511296" cy="292608"/>
          </a:xfrm>
          <a:prstGeom prst="rect">
            <a:avLst/>
          </a:prstGeom>
          <a:noFill/>
          <a:ln/>
        </p:spPr>
        <p:txBody>
          <a:bodyPr wrap="square" lIns="0" tIns="0" rIns="0" bIns="0" rtlCol="0" anchor="ctr"/>
          <a:lstStyle/>
          <a:p>
            <a:pPr algn="l" indent="0" marL="0">
              <a:buNone/>
            </a:pPr>
            <a:r>
              <a:rPr lang="en-US" sz="950" dirty="0">
                <a:solidFill>
                  <a:srgbClr val="6E4B1F"/>
                </a:solidFill>
                <a:latin typeface="Consolas" pitchFamily="34" charset="0"/>
                <a:ea typeface="Consolas" pitchFamily="34" charset="-122"/>
                <a:cs typeface="Consolas" pitchFamily="34" charset="-120"/>
              </a:rPr>
              <a:t>statementMinDue</a:t>
            </a:r>
            <a:endParaRPr lang="en-US" sz="950" dirty="0"/>
          </a:p>
        </p:txBody>
      </p:sp>
      <p:sp>
        <p:nvSpPr>
          <p:cNvPr id="43" name="Shape 41"/>
          <p:cNvSpPr/>
          <p:nvPr/>
        </p:nvSpPr>
        <p:spPr>
          <a:xfrm>
            <a:off x="3493008" y="4773168"/>
            <a:ext cx="859536" cy="1261872"/>
          </a:xfrm>
          <a:prstGeom prst="line">
            <a:avLst/>
          </a:prstGeom>
          <a:noFill/>
          <a:ln w="12700">
            <a:solidFill>
              <a:srgbClr val="9FBEEA"/>
            </a:solidFill>
            <a:prstDash val="solid"/>
            <a:tailEnd type="triangle"/>
          </a:ln>
        </p:spPr>
      </p:sp>
      <p:sp>
        <p:nvSpPr>
          <p:cNvPr id="44" name="Shape 42"/>
          <p:cNvSpPr/>
          <p:nvPr/>
        </p:nvSpPr>
        <p:spPr>
          <a:xfrm>
            <a:off x="8430768" y="4572000"/>
            <a:ext cx="3193999" cy="1572768"/>
          </a:xfrm>
          <a:prstGeom prst="roundRect">
            <a:avLst>
              <a:gd name="adj" fmla="val 4651"/>
            </a:avLst>
          </a:prstGeom>
          <a:solidFill>
            <a:srgbClr val="F4F7FB"/>
          </a:solidFill>
          <a:ln w="12700">
            <a:solidFill>
              <a:srgbClr val="E2E8F1"/>
            </a:solidFill>
            <a:prstDash val="solid"/>
          </a:ln>
        </p:spPr>
      </p:sp>
      <p:sp>
        <p:nvSpPr>
          <p:cNvPr id="45" name="Text 43"/>
          <p:cNvSpPr txBox="1"/>
          <p:nvPr/>
        </p:nvSpPr>
        <p:spPr>
          <a:xfrm>
            <a:off x="8650224" y="4718304"/>
            <a:ext cx="2755087" cy="1298448"/>
          </a:xfrm>
          <a:prstGeom prst="rect">
            <a:avLst/>
          </a:prstGeom>
          <a:noFill/>
          <a:ln/>
        </p:spPr>
        <p:txBody>
          <a:bodyPr wrap="square" lIns="0" tIns="0" rIns="0" bIns="0" rtlCol="0" anchor="t"/>
          <a:lstStyle/>
          <a:p>
            <a:pPr indent="0" marL="0">
              <a:buNone/>
            </a:pPr>
            <a:r>
              <a:rPr lang="en-US" sz="1150" b="1" dirty="0">
                <a:solidFill>
                  <a:srgbClr val="1E2761"/>
                </a:solidFill>
                <a:latin typeface="Calibri" pitchFamily="34" charset="0"/>
                <a:ea typeface="Calibri" pitchFamily="34" charset="-122"/>
                <a:cs typeface="Calibri" pitchFamily="34" charset="-120"/>
              </a:rPr>
              <a:t>The cardinality does not even agree.
</a:t>
            </a:r>
            <a:pPr indent="0" marL="0">
              <a:buNone/>
            </a:pPr>
            <a:r>
              <a:rPr lang="en-US" sz="1050" dirty="0">
                <a:solidFill>
                  <a:srgbClr val="5C6A7A"/>
                </a:solidFill>
                <a:latin typeface="Calibri" pitchFamily="34" charset="0"/>
                <a:ea typeface="Calibri" pitchFamily="34" charset="-122"/>
                <a:cs typeface="Calibri" pitchFamily="34" charset="-120"/>
              </a:rPr>
              <a:t>A shape taken from the product would have to publish five fields where the business has one, and leave the consumer to work out which is which.</a:t>
            </a:r>
            <a:endParaRPr lang="en-US" sz="1150" dirty="0"/>
          </a:p>
        </p:txBody>
      </p:sp>
      <p:sp>
        <p:nvSpPr>
          <p:cNvPr id="46" name="Text 44"/>
          <p:cNvSpPr txBox="1"/>
          <p:nvPr/>
        </p:nvSpPr>
        <p:spPr>
          <a:xfrm>
            <a:off x="566928" y="6455664"/>
            <a:ext cx="5486400" cy="256032"/>
          </a:xfrm>
          <a:prstGeom prst="rect">
            <a:avLst/>
          </a:prstGeom>
          <a:noFill/>
          <a:ln/>
        </p:spPr>
        <p:txBody>
          <a:bodyPr wrap="square" lIns="0" tIns="0" rIns="0" bIns="0" rtlCol="0" anchor="ctr"/>
          <a:lstStyle/>
          <a:p>
            <a:pPr indent="0" marL="0">
              <a:buNone/>
            </a:pPr>
            <a:r>
              <a:rPr lang="en-US" sz="850" dirty="0">
                <a:solidFill>
                  <a:srgbClr val="8A97A6"/>
                </a:solidFill>
                <a:latin typeface="Calibri" pitchFamily="34" charset="0"/>
                <a:ea typeface="Calibri" pitchFamily="34" charset="-122"/>
                <a:cs typeface="Calibri" pitchFamily="34" charset="-120"/>
              </a:rPr>
              <a:t>The BIAN interface and the System of Record  ·  CC&amp;C Solutions</a:t>
            </a:r>
            <a:endParaRPr lang="en-US" sz="850" dirty="0"/>
          </a:p>
        </p:txBody>
      </p:sp>
      <p:sp>
        <p:nvSpPr>
          <p:cNvPr id="47" name="Text 45"/>
          <p:cNvSpPr txBox="1"/>
          <p:nvPr/>
        </p:nvSpPr>
        <p:spPr>
          <a:xfrm>
            <a:off x="11076127" y="6455664"/>
            <a:ext cx="548640" cy="256032"/>
          </a:xfrm>
          <a:prstGeom prst="rect">
            <a:avLst/>
          </a:prstGeom>
          <a:noFill/>
          <a:ln/>
        </p:spPr>
        <p:txBody>
          <a:bodyPr wrap="square" lIns="0" tIns="0" rIns="0" bIns="0" rtlCol="0" anchor="ctr"/>
          <a:lstStyle/>
          <a:p>
            <a:pPr algn="r" indent="0" marL="0">
              <a:buNone/>
            </a:pPr>
            <a:r>
              <a:rPr lang="en-US" sz="900" dirty="0">
                <a:solidFill>
                  <a:srgbClr val="8A97A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713232"/>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One business question is not five product calls</a:t>
            </a:r>
            <a:endParaRPr lang="en-US" sz="3400" dirty="0"/>
          </a:p>
        </p:txBody>
      </p:sp>
      <p:sp>
        <p:nvSpPr>
          <p:cNvPr id="3" name="Text 1"/>
          <p:cNvSpPr txBox="1"/>
          <p:nvPr/>
        </p:nvSpPr>
        <p:spPr>
          <a:xfrm>
            <a:off x="566928" y="1115568"/>
            <a:ext cx="11057839" cy="384048"/>
          </a:xfrm>
          <a:prstGeom prst="rect">
            <a:avLst/>
          </a:prstGeom>
          <a:noFill/>
          <a:ln/>
        </p:spPr>
        <p:txBody>
          <a:bodyPr wrap="square" lIns="0" tIns="0" rIns="0" bIns="0" rtlCol="0" anchor="t"/>
          <a:lstStyle/>
          <a:p>
            <a:pPr indent="0" marL="0">
              <a:buNone/>
            </a:pPr>
            <a:r>
              <a:rPr lang="en-US" sz="1400" dirty="0">
                <a:solidFill>
                  <a:srgbClr val="5C6A7A"/>
                </a:solidFill>
                <a:latin typeface="Calibri" pitchFamily="34" charset="0"/>
                <a:ea typeface="Calibri" pitchFamily="34" charset="-122"/>
                <a:cs typeface="Calibri" pitchFamily="34" charset="-120"/>
              </a:rPr>
              <a:t>How a product divides its data is a fact about the product, not about the capability.</a:t>
            </a:r>
            <a:endParaRPr lang="en-US" sz="1400" dirty="0"/>
          </a:p>
        </p:txBody>
      </p:sp>
      <p:sp>
        <p:nvSpPr>
          <p:cNvPr id="4" name="Shape 2"/>
          <p:cNvSpPr/>
          <p:nvPr/>
        </p:nvSpPr>
        <p:spPr>
          <a:xfrm>
            <a:off x="566928" y="3063240"/>
            <a:ext cx="3017520" cy="822960"/>
          </a:xfrm>
          <a:prstGeom prst="roundRect">
            <a:avLst>
              <a:gd name="adj" fmla="val 8889"/>
            </a:avLst>
          </a:prstGeom>
          <a:solidFill>
            <a:srgbClr val="CADCFC"/>
          </a:solidFill>
          <a:ln w="12700">
            <a:solidFill>
              <a:srgbClr val="E2E8F1"/>
            </a:solidFill>
            <a:prstDash val="solid"/>
          </a:ln>
        </p:spPr>
      </p:sp>
      <p:sp>
        <p:nvSpPr>
          <p:cNvPr id="5" name="Text 3"/>
          <p:cNvSpPr txBox="1"/>
          <p:nvPr/>
        </p:nvSpPr>
        <p:spPr>
          <a:xfrm>
            <a:off x="640080" y="3063240"/>
            <a:ext cx="2871216" cy="82296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Retrieve the details</a:t>
            </a:r>
            <a:endParaRPr lang="en-US" sz="1200" dirty="0"/>
          </a:p>
          <a:p>
            <a:pPr algn="ctr" indent="0" marL="0">
              <a:buNone/>
            </a:pPr>
            <a:r>
              <a:rPr lang="en-US" sz="1200" b="1" dirty="0">
                <a:solidFill>
                  <a:srgbClr val="1E2761"/>
                </a:solidFill>
                <a:latin typeface="Calibri" pitchFamily="34" charset="0"/>
                <a:ea typeface="Calibri" pitchFamily="34" charset="-122"/>
                <a:cs typeface="Calibri" pitchFamily="34" charset="-120"/>
              </a:rPr>
              <a:t>of a credit card account</a:t>
            </a:r>
            <a:endParaRPr lang="en-US" sz="1200" dirty="0"/>
          </a:p>
        </p:txBody>
      </p:sp>
      <p:sp>
        <p:nvSpPr>
          <p:cNvPr id="6" name="Text 4"/>
          <p:cNvSpPr txBox="1"/>
          <p:nvPr/>
        </p:nvSpPr>
        <p:spPr>
          <a:xfrm>
            <a:off x="566928" y="3959352"/>
            <a:ext cx="3017520" cy="310896"/>
          </a:xfrm>
          <a:prstGeom prst="rect">
            <a:avLst/>
          </a:prstGeom>
          <a:noFill/>
          <a:ln/>
        </p:spPr>
        <p:txBody>
          <a:bodyPr wrap="square" lIns="0" tIns="0" rIns="0" bIns="0" rtlCol="0" anchor="t"/>
          <a:lstStyle/>
          <a:p>
            <a:pPr algn="ctr" indent="0" marL="0">
              <a:buNone/>
            </a:pPr>
            <a:r>
              <a:rPr lang="en-US" sz="1000" i="1" dirty="0">
                <a:solidFill>
                  <a:srgbClr val="5C6A7A"/>
                </a:solidFill>
                <a:latin typeface="Calibri" pitchFamily="34" charset="0"/>
                <a:ea typeface="Calibri" pitchFamily="34" charset="-122"/>
                <a:cs typeface="Calibri" pitchFamily="34" charset="-120"/>
              </a:rPr>
              <a:t>one question a business asks</a:t>
            </a:r>
            <a:endParaRPr lang="en-US" sz="1000" dirty="0"/>
          </a:p>
        </p:txBody>
      </p:sp>
      <p:sp>
        <p:nvSpPr>
          <p:cNvPr id="7" name="Shape 5"/>
          <p:cNvSpPr/>
          <p:nvPr/>
        </p:nvSpPr>
        <p:spPr>
          <a:xfrm>
            <a:off x="4224528" y="3063240"/>
            <a:ext cx="2743200" cy="822960"/>
          </a:xfrm>
          <a:prstGeom prst="roundRect">
            <a:avLst>
              <a:gd name="adj" fmla="val 8889"/>
            </a:avLst>
          </a:prstGeom>
          <a:solidFill>
            <a:srgbClr val="1E2761"/>
          </a:solidFill>
          <a:ln w="12700">
            <a:solidFill>
              <a:srgbClr val="E2E8F1"/>
            </a:solidFill>
            <a:prstDash val="solid"/>
          </a:ln>
        </p:spPr>
      </p:sp>
      <p:sp>
        <p:nvSpPr>
          <p:cNvPr id="8" name="Text 6"/>
          <p:cNvSpPr txBox="1"/>
          <p:nvPr/>
        </p:nvSpPr>
        <p:spPr>
          <a:xfrm>
            <a:off x="4297680" y="3063240"/>
            <a:ext cx="2596896" cy="822960"/>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CreditCard / Account</a:t>
            </a:r>
            <a:endParaRPr lang="en-US" sz="1100" dirty="0"/>
          </a:p>
          <a:p>
            <a:pPr algn="ctr" indent="0" marL="0">
              <a:buNone/>
            </a:pPr>
            <a:r>
              <a:rPr lang="en-US" sz="1100" b="1" dirty="0">
                <a:solidFill>
                  <a:srgbClr val="FFFFFF"/>
                </a:solidFill>
                <a:latin typeface="Consolas" pitchFamily="34" charset="0"/>
                <a:ea typeface="Consolas" pitchFamily="34" charset="-122"/>
                <a:cs typeface="Consolas" pitchFamily="34" charset="-120"/>
              </a:rPr>
              <a:t>/ Retrieve</a:t>
            </a:r>
            <a:endParaRPr lang="en-US" sz="1100" dirty="0"/>
          </a:p>
        </p:txBody>
      </p:sp>
      <p:sp>
        <p:nvSpPr>
          <p:cNvPr id="9" name="Text 7"/>
          <p:cNvSpPr txBox="1"/>
          <p:nvPr/>
        </p:nvSpPr>
        <p:spPr>
          <a:xfrm>
            <a:off x="4224528" y="3959352"/>
            <a:ext cx="2743200" cy="310896"/>
          </a:xfrm>
          <a:prstGeom prst="rect">
            <a:avLst/>
          </a:prstGeom>
          <a:noFill/>
          <a:ln/>
        </p:spPr>
        <p:txBody>
          <a:bodyPr wrap="square" lIns="0" tIns="0" rIns="0" bIns="0" rtlCol="0" anchor="t"/>
          <a:lstStyle/>
          <a:p>
            <a:pPr algn="ctr" indent="0" marL="0">
              <a:buNone/>
            </a:pPr>
            <a:r>
              <a:rPr lang="en-US" sz="1000" i="1" dirty="0">
                <a:solidFill>
                  <a:srgbClr val="5C6A7A"/>
                </a:solidFill>
                <a:latin typeface="Calibri" pitchFamily="34" charset="0"/>
                <a:ea typeface="Calibri" pitchFamily="34" charset="-122"/>
                <a:cs typeface="Calibri" pitchFamily="34" charset="-120"/>
              </a:rPr>
              <a:t>one BIAN operation</a:t>
            </a:r>
            <a:endParaRPr lang="en-US" sz="1000" dirty="0"/>
          </a:p>
        </p:txBody>
      </p:sp>
      <p:sp>
        <p:nvSpPr>
          <p:cNvPr id="10" name="Shape 8"/>
          <p:cNvSpPr/>
          <p:nvPr/>
        </p:nvSpPr>
        <p:spPr>
          <a:xfrm>
            <a:off x="3639312" y="3474720"/>
            <a:ext cx="530352" cy="0"/>
          </a:xfrm>
          <a:prstGeom prst="line">
            <a:avLst/>
          </a:prstGeom>
          <a:noFill/>
          <a:ln w="25400">
            <a:solidFill>
              <a:srgbClr val="1E2761"/>
            </a:solidFill>
            <a:prstDash val="solid"/>
            <a:tailEnd type="triangle"/>
          </a:ln>
        </p:spPr>
      </p:sp>
      <p:sp>
        <p:nvSpPr>
          <p:cNvPr id="11" name="Shape 9"/>
          <p:cNvSpPr/>
          <p:nvPr/>
        </p:nvSpPr>
        <p:spPr>
          <a:xfrm>
            <a:off x="7973568" y="2148840"/>
            <a:ext cx="3651199" cy="420624"/>
          </a:xfrm>
          <a:prstGeom prst="roundRect">
            <a:avLst>
              <a:gd name="adj" fmla="val 17391"/>
            </a:avLst>
          </a:prstGeom>
          <a:solidFill>
            <a:srgbClr val="F6EFE2"/>
          </a:solidFill>
          <a:ln w="12700">
            <a:solidFill>
              <a:srgbClr val="DCC79E"/>
            </a:solidFill>
            <a:prstDash val="solid"/>
          </a:ln>
        </p:spPr>
      </p:sp>
      <p:sp>
        <p:nvSpPr>
          <p:cNvPr id="12" name="Text 10"/>
          <p:cNvSpPr txBox="1"/>
          <p:nvPr/>
        </p:nvSpPr>
        <p:spPr>
          <a:xfrm>
            <a:off x="8046720" y="2148840"/>
            <a:ext cx="3504895" cy="420624"/>
          </a:xfrm>
          <a:prstGeom prst="rect">
            <a:avLst/>
          </a:prstGeom>
          <a:noFill/>
          <a:ln/>
        </p:spPr>
        <p:txBody>
          <a:bodyPr wrap="square" lIns="0" tIns="0" rIns="0" bIns="0" rtlCol="0" anchor="ctr"/>
          <a:lstStyle/>
          <a:p>
            <a:pPr algn="l" indent="0" marL="0">
              <a:buNone/>
            </a:pPr>
            <a:r>
              <a:rPr lang="en-US" sz="1000" dirty="0">
                <a:solidFill>
                  <a:srgbClr val="6E4B1F"/>
                </a:solidFill>
                <a:latin typeface="Consolas" pitchFamily="34" charset="0"/>
                <a:ea typeface="Consolas" pitchFamily="34" charset="-122"/>
                <a:cs typeface="Consolas" pitchFamily="34" charset="-120"/>
              </a:rPr>
              <a:t>/v1/account/contact</a:t>
            </a:r>
            <a:endParaRPr lang="en-US" sz="1000" dirty="0"/>
          </a:p>
        </p:txBody>
      </p:sp>
      <p:sp>
        <p:nvSpPr>
          <p:cNvPr id="13" name="Shape 11"/>
          <p:cNvSpPr/>
          <p:nvPr/>
        </p:nvSpPr>
        <p:spPr>
          <a:xfrm flipV="1">
            <a:off x="7022592" y="2359152"/>
            <a:ext cx="896112" cy="1115568"/>
          </a:xfrm>
          <a:prstGeom prst="line">
            <a:avLst/>
          </a:prstGeom>
          <a:noFill/>
          <a:ln w="14605">
            <a:solidFill>
              <a:srgbClr val="6E4B1F"/>
            </a:solidFill>
            <a:prstDash val="solid"/>
            <a:tailEnd type="triangle"/>
          </a:ln>
        </p:spPr>
      </p:sp>
      <p:sp>
        <p:nvSpPr>
          <p:cNvPr id="14" name="Shape 12"/>
          <p:cNvSpPr/>
          <p:nvPr/>
        </p:nvSpPr>
        <p:spPr>
          <a:xfrm>
            <a:off x="7973568" y="2660904"/>
            <a:ext cx="3651199" cy="420624"/>
          </a:xfrm>
          <a:prstGeom prst="roundRect">
            <a:avLst>
              <a:gd name="adj" fmla="val 17391"/>
            </a:avLst>
          </a:prstGeom>
          <a:solidFill>
            <a:srgbClr val="F6EFE2"/>
          </a:solidFill>
          <a:ln w="12700">
            <a:solidFill>
              <a:srgbClr val="DCC79E"/>
            </a:solidFill>
            <a:prstDash val="solid"/>
          </a:ln>
        </p:spPr>
      </p:sp>
      <p:sp>
        <p:nvSpPr>
          <p:cNvPr id="15" name="Text 13"/>
          <p:cNvSpPr txBox="1"/>
          <p:nvPr/>
        </p:nvSpPr>
        <p:spPr>
          <a:xfrm>
            <a:off x="8046720" y="2660904"/>
            <a:ext cx="3504895" cy="420624"/>
          </a:xfrm>
          <a:prstGeom prst="rect">
            <a:avLst/>
          </a:prstGeom>
          <a:noFill/>
          <a:ln/>
        </p:spPr>
        <p:txBody>
          <a:bodyPr wrap="square" lIns="0" tIns="0" rIns="0" bIns="0" rtlCol="0" anchor="ctr"/>
          <a:lstStyle/>
          <a:p>
            <a:pPr algn="l" indent="0" marL="0">
              <a:buNone/>
            </a:pPr>
            <a:r>
              <a:rPr lang="en-US" sz="1000" dirty="0">
                <a:solidFill>
                  <a:srgbClr val="6E4B1F"/>
                </a:solidFill>
                <a:latin typeface="Consolas" pitchFamily="34" charset="0"/>
                <a:ea typeface="Consolas" pitchFamily="34" charset="-122"/>
                <a:cs typeface="Consolas" pitchFamily="34" charset="-120"/>
              </a:rPr>
              <a:t>/v1/account/delinquency</a:t>
            </a:r>
            <a:endParaRPr lang="en-US" sz="1000" dirty="0"/>
          </a:p>
        </p:txBody>
      </p:sp>
      <p:sp>
        <p:nvSpPr>
          <p:cNvPr id="16" name="Shape 14"/>
          <p:cNvSpPr/>
          <p:nvPr/>
        </p:nvSpPr>
        <p:spPr>
          <a:xfrm flipV="1">
            <a:off x="7022592" y="2871216"/>
            <a:ext cx="896112" cy="603504"/>
          </a:xfrm>
          <a:prstGeom prst="line">
            <a:avLst/>
          </a:prstGeom>
          <a:noFill/>
          <a:ln w="14605">
            <a:solidFill>
              <a:srgbClr val="6E4B1F"/>
            </a:solidFill>
            <a:prstDash val="solid"/>
            <a:tailEnd type="triangle"/>
          </a:ln>
        </p:spPr>
      </p:sp>
      <p:sp>
        <p:nvSpPr>
          <p:cNvPr id="17" name="Shape 15"/>
          <p:cNvSpPr/>
          <p:nvPr/>
        </p:nvSpPr>
        <p:spPr>
          <a:xfrm>
            <a:off x="7973568" y="3172968"/>
            <a:ext cx="3651199" cy="420624"/>
          </a:xfrm>
          <a:prstGeom prst="roundRect">
            <a:avLst>
              <a:gd name="adj" fmla="val 17391"/>
            </a:avLst>
          </a:prstGeom>
          <a:solidFill>
            <a:srgbClr val="F6EFE2"/>
          </a:solidFill>
          <a:ln w="12700">
            <a:solidFill>
              <a:srgbClr val="DCC79E"/>
            </a:solidFill>
            <a:prstDash val="solid"/>
          </a:ln>
        </p:spPr>
      </p:sp>
      <p:sp>
        <p:nvSpPr>
          <p:cNvPr id="18" name="Text 16"/>
          <p:cNvSpPr txBox="1"/>
          <p:nvPr/>
        </p:nvSpPr>
        <p:spPr>
          <a:xfrm>
            <a:off x="8046720" y="3172968"/>
            <a:ext cx="3504895" cy="420624"/>
          </a:xfrm>
          <a:prstGeom prst="rect">
            <a:avLst/>
          </a:prstGeom>
          <a:noFill/>
          <a:ln/>
        </p:spPr>
        <p:txBody>
          <a:bodyPr wrap="square" lIns="0" tIns="0" rIns="0" bIns="0" rtlCol="0" anchor="ctr"/>
          <a:lstStyle/>
          <a:p>
            <a:pPr algn="l" indent="0" marL="0">
              <a:buNone/>
            </a:pPr>
            <a:r>
              <a:rPr lang="en-US" sz="1000" dirty="0">
                <a:solidFill>
                  <a:srgbClr val="6E4B1F"/>
                </a:solidFill>
                <a:latin typeface="Consolas" pitchFamily="34" charset="0"/>
                <a:ea typeface="Consolas" pitchFamily="34" charset="-122"/>
                <a:cs typeface="Consolas" pitchFamily="34" charset="-120"/>
              </a:rPr>
              <a:t>/v1/account/info</a:t>
            </a:r>
            <a:endParaRPr lang="en-US" sz="1000" dirty="0"/>
          </a:p>
        </p:txBody>
      </p:sp>
      <p:sp>
        <p:nvSpPr>
          <p:cNvPr id="19" name="Shape 17"/>
          <p:cNvSpPr/>
          <p:nvPr/>
        </p:nvSpPr>
        <p:spPr>
          <a:xfrm flipV="1">
            <a:off x="7022592" y="3383280"/>
            <a:ext cx="896112" cy="91440"/>
          </a:xfrm>
          <a:prstGeom prst="line">
            <a:avLst/>
          </a:prstGeom>
          <a:noFill/>
          <a:ln w="14605">
            <a:solidFill>
              <a:srgbClr val="6E4B1F"/>
            </a:solidFill>
            <a:prstDash val="solid"/>
            <a:tailEnd type="triangle"/>
          </a:ln>
        </p:spPr>
      </p:sp>
      <p:sp>
        <p:nvSpPr>
          <p:cNvPr id="20" name="Shape 18"/>
          <p:cNvSpPr/>
          <p:nvPr/>
        </p:nvSpPr>
        <p:spPr>
          <a:xfrm>
            <a:off x="7973568" y="3685032"/>
            <a:ext cx="3651199" cy="420624"/>
          </a:xfrm>
          <a:prstGeom prst="roundRect">
            <a:avLst>
              <a:gd name="adj" fmla="val 17391"/>
            </a:avLst>
          </a:prstGeom>
          <a:solidFill>
            <a:srgbClr val="F6EFE2"/>
          </a:solidFill>
          <a:ln w="12700">
            <a:solidFill>
              <a:srgbClr val="DCC79E"/>
            </a:solidFill>
            <a:prstDash val="solid"/>
          </a:ln>
        </p:spPr>
      </p:sp>
      <p:sp>
        <p:nvSpPr>
          <p:cNvPr id="21" name="Text 19"/>
          <p:cNvSpPr txBox="1"/>
          <p:nvPr/>
        </p:nvSpPr>
        <p:spPr>
          <a:xfrm>
            <a:off x="8046720" y="3685032"/>
            <a:ext cx="3504895" cy="420624"/>
          </a:xfrm>
          <a:prstGeom prst="rect">
            <a:avLst/>
          </a:prstGeom>
          <a:noFill/>
          <a:ln/>
        </p:spPr>
        <p:txBody>
          <a:bodyPr wrap="square" lIns="0" tIns="0" rIns="0" bIns="0" rtlCol="0" anchor="ctr"/>
          <a:lstStyle/>
          <a:p>
            <a:pPr algn="l" indent="0" marL="0">
              <a:buNone/>
            </a:pPr>
            <a:r>
              <a:rPr lang="en-US" sz="1000" dirty="0">
                <a:solidFill>
                  <a:srgbClr val="6E4B1F"/>
                </a:solidFill>
                <a:latin typeface="Consolas" pitchFamily="34" charset="0"/>
                <a:ea typeface="Consolas" pitchFamily="34" charset="-122"/>
                <a:cs typeface="Consolas" pitchFamily="34" charset="-120"/>
              </a:rPr>
              <a:t>/v1/account/historyIndicators</a:t>
            </a:r>
            <a:endParaRPr lang="en-US" sz="1000" dirty="0"/>
          </a:p>
        </p:txBody>
      </p:sp>
      <p:sp>
        <p:nvSpPr>
          <p:cNvPr id="22" name="Shape 20"/>
          <p:cNvSpPr/>
          <p:nvPr/>
        </p:nvSpPr>
        <p:spPr>
          <a:xfrm>
            <a:off x="7022592" y="3474720"/>
            <a:ext cx="896112" cy="420624"/>
          </a:xfrm>
          <a:prstGeom prst="line">
            <a:avLst/>
          </a:prstGeom>
          <a:noFill/>
          <a:ln w="14605">
            <a:solidFill>
              <a:srgbClr val="6E4B1F"/>
            </a:solidFill>
            <a:prstDash val="solid"/>
            <a:tailEnd type="triangle"/>
          </a:ln>
        </p:spPr>
      </p:sp>
      <p:sp>
        <p:nvSpPr>
          <p:cNvPr id="23" name="Shape 21"/>
          <p:cNvSpPr/>
          <p:nvPr/>
        </p:nvSpPr>
        <p:spPr>
          <a:xfrm>
            <a:off x="7973568" y="4197096"/>
            <a:ext cx="3651199" cy="420624"/>
          </a:xfrm>
          <a:prstGeom prst="roundRect">
            <a:avLst>
              <a:gd name="adj" fmla="val 17391"/>
            </a:avLst>
          </a:prstGeom>
          <a:solidFill>
            <a:srgbClr val="F6EFE2"/>
          </a:solidFill>
          <a:ln w="12700">
            <a:solidFill>
              <a:srgbClr val="DCC79E"/>
            </a:solidFill>
            <a:prstDash val="solid"/>
          </a:ln>
        </p:spPr>
      </p:sp>
      <p:sp>
        <p:nvSpPr>
          <p:cNvPr id="24" name="Text 22"/>
          <p:cNvSpPr txBox="1"/>
          <p:nvPr/>
        </p:nvSpPr>
        <p:spPr>
          <a:xfrm>
            <a:off x="8046720" y="4197096"/>
            <a:ext cx="3504895" cy="420624"/>
          </a:xfrm>
          <a:prstGeom prst="rect">
            <a:avLst/>
          </a:prstGeom>
          <a:noFill/>
          <a:ln/>
        </p:spPr>
        <p:txBody>
          <a:bodyPr wrap="square" lIns="0" tIns="0" rIns="0" bIns="0" rtlCol="0" anchor="ctr"/>
          <a:lstStyle/>
          <a:p>
            <a:pPr algn="l" indent="0" marL="0">
              <a:buNone/>
            </a:pPr>
            <a:r>
              <a:rPr lang="en-US" sz="1000" dirty="0">
                <a:solidFill>
                  <a:srgbClr val="6E4B1F"/>
                </a:solidFill>
                <a:latin typeface="Consolas" pitchFamily="34" charset="0"/>
                <a:ea typeface="Consolas" pitchFamily="34" charset="-122"/>
                <a:cs typeface="Consolas" pitchFamily="34" charset="-120"/>
              </a:rPr>
              <a:t>/v1/card/account/list</a:t>
            </a:r>
            <a:endParaRPr lang="en-US" sz="1000" dirty="0"/>
          </a:p>
        </p:txBody>
      </p:sp>
      <p:sp>
        <p:nvSpPr>
          <p:cNvPr id="25" name="Shape 23"/>
          <p:cNvSpPr/>
          <p:nvPr/>
        </p:nvSpPr>
        <p:spPr>
          <a:xfrm>
            <a:off x="7022592" y="3474720"/>
            <a:ext cx="896112" cy="932688"/>
          </a:xfrm>
          <a:prstGeom prst="line">
            <a:avLst/>
          </a:prstGeom>
          <a:noFill/>
          <a:ln w="14605">
            <a:solidFill>
              <a:srgbClr val="6E4B1F"/>
            </a:solidFill>
            <a:prstDash val="solid"/>
            <a:tailEnd type="triangle"/>
          </a:ln>
        </p:spPr>
      </p:sp>
      <p:sp>
        <p:nvSpPr>
          <p:cNvPr id="26" name="Text 24"/>
          <p:cNvSpPr txBox="1"/>
          <p:nvPr/>
        </p:nvSpPr>
        <p:spPr>
          <a:xfrm>
            <a:off x="7973568" y="4800600"/>
            <a:ext cx="3651199" cy="310896"/>
          </a:xfrm>
          <a:prstGeom prst="rect">
            <a:avLst/>
          </a:prstGeom>
          <a:noFill/>
          <a:ln/>
        </p:spPr>
        <p:txBody>
          <a:bodyPr wrap="square" lIns="0" tIns="0" rIns="0" bIns="0" rtlCol="0" anchor="t"/>
          <a:lstStyle/>
          <a:p>
            <a:pPr indent="0" marL="0">
              <a:buNone/>
            </a:pPr>
            <a:r>
              <a:rPr lang="en-US" sz="1000" i="1" dirty="0">
                <a:solidFill>
                  <a:srgbClr val="5C6A7A"/>
                </a:solidFill>
                <a:latin typeface="Calibri" pitchFamily="34" charset="0"/>
                <a:ea typeface="Calibri" pitchFamily="34" charset="-122"/>
                <a:cs typeface="Calibri" pitchFamily="34" charset="-120"/>
              </a:rPr>
              <a:t>five product calls, chosen by the vendor's screen design</a:t>
            </a:r>
            <a:endParaRPr lang="en-US" sz="1000" dirty="0"/>
          </a:p>
        </p:txBody>
      </p:sp>
      <p:sp>
        <p:nvSpPr>
          <p:cNvPr id="27" name="Shape 25"/>
          <p:cNvSpPr/>
          <p:nvPr/>
        </p:nvSpPr>
        <p:spPr>
          <a:xfrm>
            <a:off x="566928" y="5257800"/>
            <a:ext cx="11057839" cy="1188720"/>
          </a:xfrm>
          <a:prstGeom prst="roundRect">
            <a:avLst>
              <a:gd name="adj" fmla="val 6154"/>
            </a:avLst>
          </a:prstGeom>
          <a:solidFill>
            <a:srgbClr val="F4F7FB"/>
          </a:solidFill>
          <a:ln w="12700">
            <a:solidFill>
              <a:srgbClr val="E2E8F1"/>
            </a:solidFill>
            <a:prstDash val="solid"/>
          </a:ln>
          <a:effectLst>
            <a:outerShdw sx="100000" sy="100000" kx="0" ky="0" algn="bl" rotWithShape="0" blurRad="101600" dist="17780" dir="5400000">
              <a:srgbClr val="9AA7B8">
                <a:alpha val="20000"/>
              </a:srgbClr>
            </a:outerShdw>
          </a:effectLst>
        </p:spPr>
      </p:sp>
      <p:sp>
        <p:nvSpPr>
          <p:cNvPr id="28" name="Text 26"/>
          <p:cNvSpPr txBox="1"/>
          <p:nvPr/>
        </p:nvSpPr>
        <p:spPr>
          <a:xfrm>
            <a:off x="841248" y="5404104"/>
            <a:ext cx="10509199" cy="91440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If the product's decomposition set the operation count, this capability would publish five endpoints.  </a:t>
            </a:r>
            <a:pPr indent="0" marL="0">
              <a:buNone/>
            </a:pPr>
            <a:r>
              <a:rPr lang="en-US" sz="1200" dirty="0">
                <a:solidFill>
                  <a:srgbClr val="16202C"/>
                </a:solidFill>
                <a:latin typeface="Calibri" pitchFamily="34" charset="0"/>
                <a:ea typeface="Calibri" pitchFamily="34" charset="-122"/>
                <a:cs typeface="Calibri" pitchFamily="34" charset="-120"/>
              </a:rPr>
              <a:t>A consumer would then have to know, and orchestrate, the vendor's internal division of a credit card account. Replace the product with one that divides it differently and every consumer is rewritten. Published as one operation with a variant selector, the division stays where it belongs: behind the contract.</a:t>
            </a:r>
            <a:endParaRPr lang="en-US" sz="1250" dirty="0"/>
          </a:p>
        </p:txBody>
      </p:sp>
      <p:sp>
        <p:nvSpPr>
          <p:cNvPr id="29" name="Text 27"/>
          <p:cNvSpPr txBox="1"/>
          <p:nvPr/>
        </p:nvSpPr>
        <p:spPr>
          <a:xfrm>
            <a:off x="566928" y="6455664"/>
            <a:ext cx="5486400" cy="256032"/>
          </a:xfrm>
          <a:prstGeom prst="rect">
            <a:avLst/>
          </a:prstGeom>
          <a:noFill/>
          <a:ln/>
        </p:spPr>
        <p:txBody>
          <a:bodyPr wrap="square" lIns="0" tIns="0" rIns="0" bIns="0" rtlCol="0" anchor="ctr"/>
          <a:lstStyle/>
          <a:p>
            <a:pPr indent="0" marL="0">
              <a:buNone/>
            </a:pPr>
            <a:r>
              <a:rPr lang="en-US" sz="850" dirty="0">
                <a:solidFill>
                  <a:srgbClr val="8A97A6"/>
                </a:solidFill>
                <a:latin typeface="Calibri" pitchFamily="34" charset="0"/>
                <a:ea typeface="Calibri" pitchFamily="34" charset="-122"/>
                <a:cs typeface="Calibri" pitchFamily="34" charset="-120"/>
              </a:rPr>
              <a:t>The BIAN interface and the System of Record  ·  CC&amp;C Solutions</a:t>
            </a:r>
            <a:endParaRPr lang="en-US" sz="850" dirty="0"/>
          </a:p>
        </p:txBody>
      </p:sp>
      <p:sp>
        <p:nvSpPr>
          <p:cNvPr id="30" name="Text 28"/>
          <p:cNvSpPr txBox="1"/>
          <p:nvPr/>
        </p:nvSpPr>
        <p:spPr>
          <a:xfrm>
            <a:off x="11076127" y="6455664"/>
            <a:ext cx="548640" cy="256032"/>
          </a:xfrm>
          <a:prstGeom prst="rect">
            <a:avLst/>
          </a:prstGeom>
          <a:noFill/>
          <a:ln/>
        </p:spPr>
        <p:txBody>
          <a:bodyPr wrap="square" lIns="0" tIns="0" rIns="0" bIns="0" rtlCol="0" anchor="ctr"/>
          <a:lstStyle/>
          <a:p>
            <a:pPr algn="r" indent="0" marL="0">
              <a:buNone/>
            </a:pPr>
            <a:r>
              <a:rPr lang="en-US" sz="900" dirty="0">
                <a:solidFill>
                  <a:srgbClr val="8A97A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713232"/>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The verb comes from the action term, not the product</a:t>
            </a:r>
            <a:endParaRPr lang="en-US" sz="3400" dirty="0"/>
          </a:p>
        </p:txBody>
      </p:sp>
      <p:sp>
        <p:nvSpPr>
          <p:cNvPr id="3" name="Text 1"/>
          <p:cNvSpPr txBox="1"/>
          <p:nvPr/>
        </p:nvSpPr>
        <p:spPr>
          <a:xfrm>
            <a:off x="566928" y="1115568"/>
            <a:ext cx="11057839" cy="384048"/>
          </a:xfrm>
          <a:prstGeom prst="rect">
            <a:avLst/>
          </a:prstGeom>
          <a:noFill/>
          <a:ln/>
        </p:spPr>
        <p:txBody>
          <a:bodyPr wrap="square" lIns="0" tIns="0" rIns="0" bIns="0" rtlCol="0" anchor="t"/>
          <a:lstStyle/>
          <a:p>
            <a:pPr indent="0" marL="0">
              <a:buNone/>
            </a:pPr>
            <a:r>
              <a:rPr lang="en-US" sz="1400" dirty="0">
                <a:solidFill>
                  <a:srgbClr val="5C6A7A"/>
                </a:solidFill>
                <a:latin typeface="Calibri" pitchFamily="34" charset="0"/>
                <a:ea typeface="Calibri" pitchFamily="34" charset="-122"/>
                <a:cs typeface="Calibri" pitchFamily="34" charset="-120"/>
              </a:rPr>
              <a:t>A product's method describes a step in its own state machine. It is not the business intent.</a:t>
            </a:r>
            <a:endParaRPr lang="en-US" sz="1400" dirty="0"/>
          </a:p>
        </p:txBody>
      </p:sp>
      <p:sp>
        <p:nvSpPr>
          <p:cNvPr id="4" name="Shape 2"/>
          <p:cNvSpPr/>
          <p:nvPr/>
        </p:nvSpPr>
        <p:spPr>
          <a:xfrm>
            <a:off x="566928" y="2103120"/>
            <a:ext cx="11057839" cy="1234440"/>
          </a:xfrm>
          <a:prstGeom prst="roundRect">
            <a:avLst>
              <a:gd name="adj" fmla="val 5926"/>
            </a:avLst>
          </a:prstGeom>
          <a:solidFill>
            <a:srgbClr val="FFFFFF"/>
          </a:solidFill>
          <a:ln w="12700">
            <a:solidFill>
              <a:srgbClr val="E2E8F1"/>
            </a:solidFill>
            <a:prstDash val="solid"/>
          </a:ln>
          <a:effectLst>
            <a:outerShdw sx="100000" sy="100000" kx="0" ky="0" algn="bl" rotWithShape="0" blurRad="101600" dist="17780" dir="5400000">
              <a:srgbClr val="9AA7B8">
                <a:alpha val="20000"/>
              </a:srgbClr>
            </a:outerShdw>
          </a:effectLst>
        </p:spPr>
      </p:sp>
      <p:sp>
        <p:nvSpPr>
          <p:cNvPr id="5" name="Shape 3"/>
          <p:cNvSpPr/>
          <p:nvPr/>
        </p:nvSpPr>
        <p:spPr>
          <a:xfrm>
            <a:off x="822960" y="2304288"/>
            <a:ext cx="1371600" cy="237744"/>
          </a:xfrm>
          <a:prstGeom prst="roundRect">
            <a:avLst>
              <a:gd name="adj" fmla="val 50000"/>
            </a:avLst>
          </a:prstGeom>
          <a:solidFill>
            <a:srgbClr val="CADCFC"/>
          </a:solidFill>
          <a:ln w="9525">
            <a:solidFill>
              <a:srgbClr val="9FBEEA"/>
            </a:solidFill>
            <a:prstDash val="solid"/>
          </a:ln>
        </p:spPr>
      </p:sp>
      <p:sp>
        <p:nvSpPr>
          <p:cNvPr id="6" name="Text 4"/>
          <p:cNvSpPr txBox="1"/>
          <p:nvPr/>
        </p:nvSpPr>
        <p:spPr>
          <a:xfrm>
            <a:off x="822960" y="2304288"/>
            <a:ext cx="1371600" cy="237744"/>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BIAN ACTION</a:t>
            </a:r>
            <a:endParaRPr lang="en-US" sz="950" dirty="0"/>
          </a:p>
        </p:txBody>
      </p:sp>
      <p:sp>
        <p:nvSpPr>
          <p:cNvPr id="7" name="Text 5"/>
          <p:cNvSpPr txBox="1"/>
          <p:nvPr/>
        </p:nvSpPr>
        <p:spPr>
          <a:xfrm>
            <a:off x="822960" y="2633472"/>
            <a:ext cx="1645920" cy="45720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Initiate</a:t>
            </a:r>
            <a:endParaRPr lang="en-US" sz="2100" dirty="0"/>
          </a:p>
        </p:txBody>
      </p:sp>
      <p:sp>
        <p:nvSpPr>
          <p:cNvPr id="8" name="Shape 6"/>
          <p:cNvSpPr/>
          <p:nvPr/>
        </p:nvSpPr>
        <p:spPr>
          <a:xfrm>
            <a:off x="2578608" y="2670048"/>
            <a:ext cx="841248" cy="384048"/>
          </a:xfrm>
          <a:prstGeom prst="roundRect">
            <a:avLst>
              <a:gd name="adj" fmla="val 19048"/>
            </a:avLst>
          </a:prstGeom>
          <a:solidFill>
            <a:srgbClr val="1E2761"/>
          </a:solidFill>
          <a:ln w="12700">
            <a:solidFill>
              <a:srgbClr val="E2E8F1"/>
            </a:solidFill>
            <a:prstDash val="solid"/>
          </a:ln>
        </p:spPr>
      </p:sp>
      <p:sp>
        <p:nvSpPr>
          <p:cNvPr id="9" name="Text 7"/>
          <p:cNvSpPr txBox="1"/>
          <p:nvPr/>
        </p:nvSpPr>
        <p:spPr>
          <a:xfrm>
            <a:off x="2651760" y="2670048"/>
            <a:ext cx="69494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POST</a:t>
            </a:r>
            <a:endParaRPr lang="en-US" sz="1200" dirty="0"/>
          </a:p>
        </p:txBody>
      </p:sp>
      <p:sp>
        <p:nvSpPr>
          <p:cNvPr id="10" name="Text 8"/>
          <p:cNvSpPr txBox="1"/>
          <p:nvPr/>
        </p:nvSpPr>
        <p:spPr>
          <a:xfrm>
            <a:off x="3584448" y="2743200"/>
            <a:ext cx="2377440" cy="310896"/>
          </a:xfrm>
          <a:prstGeom prst="rect">
            <a:avLst/>
          </a:prstGeom>
          <a:noFill/>
          <a:ln/>
        </p:spPr>
        <p:txBody>
          <a:bodyPr wrap="square" lIns="0" tIns="0" rIns="0" bIns="0" rtlCol="0" anchor="t"/>
          <a:lstStyle/>
          <a:p>
            <a:pPr indent="0" marL="0">
              <a:buNone/>
            </a:pPr>
            <a:r>
              <a:rPr lang="en-US" sz="1100" dirty="0">
                <a:solidFill>
                  <a:srgbClr val="5C6A7A"/>
                </a:solidFill>
                <a:latin typeface="Calibri" pitchFamily="34" charset="0"/>
                <a:ea typeface="Calibri" pitchFamily="34" charset="-122"/>
                <a:cs typeface="Calibri" pitchFamily="34" charset="-120"/>
              </a:rPr>
              <a:t>enable a card for use</a:t>
            </a:r>
            <a:endParaRPr lang="en-US" sz="1100" dirty="0"/>
          </a:p>
        </p:txBody>
      </p:sp>
      <p:sp>
        <p:nvSpPr>
          <p:cNvPr id="11" name="Shape 9"/>
          <p:cNvSpPr/>
          <p:nvPr/>
        </p:nvSpPr>
        <p:spPr>
          <a:xfrm>
            <a:off x="6099048" y="2720340"/>
            <a:ext cx="640080" cy="0"/>
          </a:xfrm>
          <a:prstGeom prst="line">
            <a:avLst/>
          </a:prstGeom>
          <a:noFill/>
          <a:ln w="22225">
            <a:solidFill>
              <a:srgbClr val="CDD6E0"/>
            </a:solidFill>
            <a:prstDash val="solid"/>
            <a:tailEnd type="triangle"/>
          </a:ln>
        </p:spPr>
      </p:sp>
      <p:sp>
        <p:nvSpPr>
          <p:cNvPr id="12" name="Text 10"/>
          <p:cNvSpPr txBox="1"/>
          <p:nvPr/>
        </p:nvSpPr>
        <p:spPr>
          <a:xfrm>
            <a:off x="6007608" y="2336292"/>
            <a:ext cx="868680" cy="274320"/>
          </a:xfrm>
          <a:prstGeom prst="rect">
            <a:avLst/>
          </a:prstGeom>
          <a:noFill/>
          <a:ln/>
        </p:spPr>
        <p:txBody>
          <a:bodyPr wrap="square" lIns="0" tIns="0" rIns="0" bIns="0" rtlCol="0" anchor="ctr"/>
          <a:lstStyle/>
          <a:p>
            <a:pPr algn="ctr" indent="0" marL="0">
              <a:buNone/>
            </a:pPr>
            <a:r>
              <a:rPr lang="en-US" sz="900" dirty="0">
                <a:solidFill>
                  <a:srgbClr val="8A97A6"/>
                </a:solidFill>
                <a:latin typeface="Calibri" pitchFamily="34" charset="0"/>
                <a:ea typeface="Calibri" pitchFamily="34" charset="-122"/>
                <a:cs typeface="Calibri" pitchFamily="34" charset="-120"/>
              </a:rPr>
              <a:t>fulfilled by</a:t>
            </a:r>
            <a:endParaRPr lang="en-US" sz="900" dirty="0"/>
          </a:p>
        </p:txBody>
      </p:sp>
      <p:sp>
        <p:nvSpPr>
          <p:cNvPr id="13" name="Shape 11"/>
          <p:cNvSpPr/>
          <p:nvPr/>
        </p:nvSpPr>
        <p:spPr>
          <a:xfrm>
            <a:off x="6876288" y="2304288"/>
            <a:ext cx="1737360" cy="237744"/>
          </a:xfrm>
          <a:prstGeom prst="roundRect">
            <a:avLst>
              <a:gd name="adj" fmla="val 50000"/>
            </a:avLst>
          </a:prstGeom>
          <a:solidFill>
            <a:srgbClr val="F6EFE2"/>
          </a:solidFill>
          <a:ln w="9525">
            <a:solidFill>
              <a:srgbClr val="DCC79E"/>
            </a:solidFill>
            <a:prstDash val="solid"/>
          </a:ln>
        </p:spPr>
      </p:sp>
      <p:sp>
        <p:nvSpPr>
          <p:cNvPr id="14" name="Text 12"/>
          <p:cNvSpPr txBox="1"/>
          <p:nvPr/>
        </p:nvSpPr>
        <p:spPr>
          <a:xfrm>
            <a:off x="6876288" y="2304288"/>
            <a:ext cx="1737360" cy="237744"/>
          </a:xfrm>
          <a:prstGeom prst="rect">
            <a:avLst/>
          </a:prstGeom>
          <a:noFill/>
          <a:ln/>
        </p:spPr>
        <p:txBody>
          <a:bodyPr wrap="square" lIns="0" tIns="0" rIns="0" bIns="0" rtlCol="0" anchor="ctr"/>
          <a:lstStyle/>
          <a:p>
            <a:pPr algn="ctr" indent="0" marL="0">
              <a:buNone/>
            </a:pPr>
            <a:r>
              <a:rPr lang="en-US" sz="950" b="1" dirty="0">
                <a:solidFill>
                  <a:srgbClr val="6E4B1F"/>
                </a:solidFill>
                <a:latin typeface="Calibri" pitchFamily="34" charset="0"/>
                <a:ea typeface="Calibri" pitchFamily="34" charset="-122"/>
                <a:cs typeface="Calibri" pitchFamily="34" charset="-120"/>
              </a:rPr>
              <a:t>PRODUCT METHOD</a:t>
            </a:r>
            <a:endParaRPr lang="en-US" sz="950" dirty="0"/>
          </a:p>
        </p:txBody>
      </p:sp>
      <p:sp>
        <p:nvSpPr>
          <p:cNvPr id="15" name="Shape 13"/>
          <p:cNvSpPr/>
          <p:nvPr/>
        </p:nvSpPr>
        <p:spPr>
          <a:xfrm>
            <a:off x="6876288" y="2670048"/>
            <a:ext cx="1143000" cy="384048"/>
          </a:xfrm>
          <a:prstGeom prst="roundRect">
            <a:avLst>
              <a:gd name="adj" fmla="val 19048"/>
            </a:avLst>
          </a:prstGeom>
          <a:solidFill>
            <a:srgbClr val="F6EFE2"/>
          </a:solidFill>
          <a:ln w="12700">
            <a:solidFill>
              <a:srgbClr val="DCC79E"/>
            </a:solidFill>
            <a:prstDash val="solid"/>
          </a:ln>
        </p:spPr>
      </p:sp>
      <p:sp>
        <p:nvSpPr>
          <p:cNvPr id="16" name="Text 14"/>
          <p:cNvSpPr txBox="1"/>
          <p:nvPr/>
        </p:nvSpPr>
        <p:spPr>
          <a:xfrm>
            <a:off x="6949440" y="2670048"/>
            <a:ext cx="996696" cy="384048"/>
          </a:xfrm>
          <a:prstGeom prst="rect">
            <a:avLst/>
          </a:prstGeom>
          <a:noFill/>
          <a:ln/>
        </p:spPr>
        <p:txBody>
          <a:bodyPr wrap="square" lIns="0" tIns="0" rIns="0" bIns="0" rtlCol="0" anchor="ctr"/>
          <a:lstStyle/>
          <a:p>
            <a:pPr algn="ctr" indent="0" marL="0">
              <a:buNone/>
            </a:pPr>
            <a:r>
              <a:rPr lang="en-US" sz="1200" b="1" dirty="0">
                <a:solidFill>
                  <a:srgbClr val="6E4B1F"/>
                </a:solidFill>
                <a:latin typeface="Calibri" pitchFamily="34" charset="0"/>
                <a:ea typeface="Calibri" pitchFamily="34" charset="-122"/>
                <a:cs typeface="Calibri" pitchFamily="34" charset="-120"/>
              </a:rPr>
              <a:t>PUT</a:t>
            </a:r>
            <a:endParaRPr lang="en-US" sz="1200" dirty="0"/>
          </a:p>
        </p:txBody>
      </p:sp>
      <p:sp>
        <p:nvSpPr>
          <p:cNvPr id="17" name="Shape 15"/>
          <p:cNvSpPr/>
          <p:nvPr/>
        </p:nvSpPr>
        <p:spPr>
          <a:xfrm>
            <a:off x="8156448" y="2670048"/>
            <a:ext cx="3063240" cy="384048"/>
          </a:xfrm>
          <a:prstGeom prst="roundRect">
            <a:avLst>
              <a:gd name="adj" fmla="val 19048"/>
            </a:avLst>
          </a:prstGeom>
          <a:solidFill>
            <a:srgbClr val="F6EFE2"/>
          </a:solidFill>
          <a:ln w="12700">
            <a:solidFill>
              <a:srgbClr val="DCC79E"/>
            </a:solidFill>
            <a:prstDash val="solid"/>
          </a:ln>
        </p:spPr>
      </p:sp>
      <p:sp>
        <p:nvSpPr>
          <p:cNvPr id="18" name="Text 16"/>
          <p:cNvSpPr txBox="1"/>
          <p:nvPr/>
        </p:nvSpPr>
        <p:spPr>
          <a:xfrm>
            <a:off x="8229600" y="2670048"/>
            <a:ext cx="2916936" cy="384048"/>
          </a:xfrm>
          <a:prstGeom prst="rect">
            <a:avLst/>
          </a:prstGeom>
          <a:noFill/>
          <a:ln/>
        </p:spPr>
        <p:txBody>
          <a:bodyPr wrap="square" lIns="0" tIns="0" rIns="0" bIns="0" rtlCol="0" anchor="ctr"/>
          <a:lstStyle/>
          <a:p>
            <a:pPr algn="l" indent="0" marL="0">
              <a:buNone/>
            </a:pPr>
            <a:r>
              <a:rPr lang="en-US" sz="1000" dirty="0">
                <a:solidFill>
                  <a:srgbClr val="6E4B1F"/>
                </a:solidFill>
                <a:latin typeface="Consolas" pitchFamily="34" charset="0"/>
                <a:ea typeface="Consolas" pitchFamily="34" charset="-122"/>
                <a:cs typeface="Consolas" pitchFamily="34" charset="-120"/>
              </a:rPr>
              <a:t>/v1/card/activate</a:t>
            </a:r>
            <a:endParaRPr lang="en-US" sz="1000" dirty="0"/>
          </a:p>
        </p:txBody>
      </p:sp>
      <p:sp>
        <p:nvSpPr>
          <p:cNvPr id="19" name="Shape 17"/>
          <p:cNvSpPr/>
          <p:nvPr/>
        </p:nvSpPr>
        <p:spPr>
          <a:xfrm>
            <a:off x="566928" y="3630168"/>
            <a:ext cx="11057839" cy="1234440"/>
          </a:xfrm>
          <a:prstGeom prst="roundRect">
            <a:avLst>
              <a:gd name="adj" fmla="val 5926"/>
            </a:avLst>
          </a:prstGeom>
          <a:solidFill>
            <a:srgbClr val="F4F7FB"/>
          </a:solidFill>
          <a:ln w="12700">
            <a:solidFill>
              <a:srgbClr val="E2E8F1"/>
            </a:solidFill>
            <a:prstDash val="solid"/>
          </a:ln>
          <a:effectLst>
            <a:outerShdw sx="100000" sy="100000" kx="0" ky="0" algn="bl" rotWithShape="0" blurRad="101600" dist="17780" dir="5400000">
              <a:srgbClr val="9AA7B8">
                <a:alpha val="20000"/>
              </a:srgbClr>
            </a:outerShdw>
          </a:effectLst>
        </p:spPr>
      </p:sp>
      <p:sp>
        <p:nvSpPr>
          <p:cNvPr id="20" name="Shape 18"/>
          <p:cNvSpPr/>
          <p:nvPr/>
        </p:nvSpPr>
        <p:spPr>
          <a:xfrm>
            <a:off x="822960" y="3831336"/>
            <a:ext cx="1371600" cy="237744"/>
          </a:xfrm>
          <a:prstGeom prst="roundRect">
            <a:avLst>
              <a:gd name="adj" fmla="val 50000"/>
            </a:avLst>
          </a:prstGeom>
          <a:solidFill>
            <a:srgbClr val="CADCFC"/>
          </a:solidFill>
          <a:ln w="9525">
            <a:solidFill>
              <a:srgbClr val="9FBEEA"/>
            </a:solidFill>
            <a:prstDash val="solid"/>
          </a:ln>
        </p:spPr>
      </p:sp>
      <p:sp>
        <p:nvSpPr>
          <p:cNvPr id="21" name="Text 19"/>
          <p:cNvSpPr txBox="1"/>
          <p:nvPr/>
        </p:nvSpPr>
        <p:spPr>
          <a:xfrm>
            <a:off x="822960" y="3831336"/>
            <a:ext cx="1371600" cy="237744"/>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BIAN ACTION</a:t>
            </a:r>
            <a:endParaRPr lang="en-US" sz="950" dirty="0"/>
          </a:p>
        </p:txBody>
      </p:sp>
      <p:sp>
        <p:nvSpPr>
          <p:cNvPr id="22" name="Text 20"/>
          <p:cNvSpPr txBox="1"/>
          <p:nvPr/>
        </p:nvSpPr>
        <p:spPr>
          <a:xfrm>
            <a:off x="822960" y="4160520"/>
            <a:ext cx="1645920" cy="45720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Update</a:t>
            </a:r>
            <a:endParaRPr lang="en-US" sz="2100" dirty="0"/>
          </a:p>
        </p:txBody>
      </p:sp>
      <p:sp>
        <p:nvSpPr>
          <p:cNvPr id="23" name="Shape 21"/>
          <p:cNvSpPr/>
          <p:nvPr/>
        </p:nvSpPr>
        <p:spPr>
          <a:xfrm>
            <a:off x="2578608" y="4197096"/>
            <a:ext cx="841248" cy="384048"/>
          </a:xfrm>
          <a:prstGeom prst="roundRect">
            <a:avLst>
              <a:gd name="adj" fmla="val 19048"/>
            </a:avLst>
          </a:prstGeom>
          <a:solidFill>
            <a:srgbClr val="1E2761"/>
          </a:solidFill>
          <a:ln w="12700">
            <a:solidFill>
              <a:srgbClr val="E2E8F1"/>
            </a:solidFill>
            <a:prstDash val="solid"/>
          </a:ln>
        </p:spPr>
      </p:sp>
      <p:sp>
        <p:nvSpPr>
          <p:cNvPr id="24" name="Text 22"/>
          <p:cNvSpPr txBox="1"/>
          <p:nvPr/>
        </p:nvSpPr>
        <p:spPr>
          <a:xfrm>
            <a:off x="2651760" y="4197096"/>
            <a:ext cx="69494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PUT</a:t>
            </a:r>
            <a:endParaRPr lang="en-US" sz="1200" dirty="0"/>
          </a:p>
        </p:txBody>
      </p:sp>
      <p:sp>
        <p:nvSpPr>
          <p:cNvPr id="25" name="Text 23"/>
          <p:cNvSpPr txBox="1"/>
          <p:nvPr/>
        </p:nvSpPr>
        <p:spPr>
          <a:xfrm>
            <a:off x="3584448" y="4270248"/>
            <a:ext cx="2377440" cy="310896"/>
          </a:xfrm>
          <a:prstGeom prst="rect">
            <a:avLst/>
          </a:prstGeom>
          <a:noFill/>
          <a:ln/>
        </p:spPr>
        <p:txBody>
          <a:bodyPr wrap="square" lIns="0" tIns="0" rIns="0" bIns="0" rtlCol="0" anchor="t"/>
          <a:lstStyle/>
          <a:p>
            <a:pPr indent="0" marL="0">
              <a:buNone/>
            </a:pPr>
            <a:r>
              <a:rPr lang="en-US" sz="1100" dirty="0">
                <a:solidFill>
                  <a:srgbClr val="5C6A7A"/>
                </a:solidFill>
                <a:latin typeface="Calibri" pitchFamily="34" charset="0"/>
                <a:ea typeface="Calibri" pitchFamily="34" charset="-122"/>
                <a:cs typeface="Calibri" pitchFamily="34" charset="-120"/>
              </a:rPr>
              <a:t>change a card's details</a:t>
            </a:r>
            <a:endParaRPr lang="en-US" sz="1100" dirty="0"/>
          </a:p>
        </p:txBody>
      </p:sp>
      <p:sp>
        <p:nvSpPr>
          <p:cNvPr id="26" name="Shape 24"/>
          <p:cNvSpPr/>
          <p:nvPr/>
        </p:nvSpPr>
        <p:spPr>
          <a:xfrm>
            <a:off x="6099048" y="4247388"/>
            <a:ext cx="640080" cy="0"/>
          </a:xfrm>
          <a:prstGeom prst="line">
            <a:avLst/>
          </a:prstGeom>
          <a:noFill/>
          <a:ln w="22225">
            <a:solidFill>
              <a:srgbClr val="CDD6E0"/>
            </a:solidFill>
            <a:prstDash val="solid"/>
            <a:tailEnd type="triangle"/>
          </a:ln>
        </p:spPr>
      </p:sp>
      <p:sp>
        <p:nvSpPr>
          <p:cNvPr id="27" name="Text 25"/>
          <p:cNvSpPr txBox="1"/>
          <p:nvPr/>
        </p:nvSpPr>
        <p:spPr>
          <a:xfrm>
            <a:off x="6007608" y="3863340"/>
            <a:ext cx="868680" cy="274320"/>
          </a:xfrm>
          <a:prstGeom prst="rect">
            <a:avLst/>
          </a:prstGeom>
          <a:noFill/>
          <a:ln/>
        </p:spPr>
        <p:txBody>
          <a:bodyPr wrap="square" lIns="0" tIns="0" rIns="0" bIns="0" rtlCol="0" anchor="ctr"/>
          <a:lstStyle/>
          <a:p>
            <a:pPr algn="ctr" indent="0" marL="0">
              <a:buNone/>
            </a:pPr>
            <a:r>
              <a:rPr lang="en-US" sz="900" dirty="0">
                <a:solidFill>
                  <a:srgbClr val="8A97A6"/>
                </a:solidFill>
                <a:latin typeface="Calibri" pitchFamily="34" charset="0"/>
                <a:ea typeface="Calibri" pitchFamily="34" charset="-122"/>
                <a:cs typeface="Calibri" pitchFamily="34" charset="-120"/>
              </a:rPr>
              <a:t>fulfilled by</a:t>
            </a:r>
            <a:endParaRPr lang="en-US" sz="900" dirty="0"/>
          </a:p>
        </p:txBody>
      </p:sp>
      <p:sp>
        <p:nvSpPr>
          <p:cNvPr id="28" name="Shape 26"/>
          <p:cNvSpPr/>
          <p:nvPr/>
        </p:nvSpPr>
        <p:spPr>
          <a:xfrm>
            <a:off x="6876288" y="3831336"/>
            <a:ext cx="1737360" cy="237744"/>
          </a:xfrm>
          <a:prstGeom prst="roundRect">
            <a:avLst>
              <a:gd name="adj" fmla="val 50000"/>
            </a:avLst>
          </a:prstGeom>
          <a:solidFill>
            <a:srgbClr val="F6EFE2"/>
          </a:solidFill>
          <a:ln w="9525">
            <a:solidFill>
              <a:srgbClr val="DCC79E"/>
            </a:solidFill>
            <a:prstDash val="solid"/>
          </a:ln>
        </p:spPr>
      </p:sp>
      <p:sp>
        <p:nvSpPr>
          <p:cNvPr id="29" name="Text 27"/>
          <p:cNvSpPr txBox="1"/>
          <p:nvPr/>
        </p:nvSpPr>
        <p:spPr>
          <a:xfrm>
            <a:off x="6876288" y="3831336"/>
            <a:ext cx="1737360" cy="237744"/>
          </a:xfrm>
          <a:prstGeom prst="rect">
            <a:avLst/>
          </a:prstGeom>
          <a:noFill/>
          <a:ln/>
        </p:spPr>
        <p:txBody>
          <a:bodyPr wrap="square" lIns="0" tIns="0" rIns="0" bIns="0" rtlCol="0" anchor="ctr"/>
          <a:lstStyle/>
          <a:p>
            <a:pPr algn="ctr" indent="0" marL="0">
              <a:buNone/>
            </a:pPr>
            <a:r>
              <a:rPr lang="en-US" sz="950" b="1" dirty="0">
                <a:solidFill>
                  <a:srgbClr val="6E4B1F"/>
                </a:solidFill>
                <a:latin typeface="Calibri" pitchFamily="34" charset="0"/>
                <a:ea typeface="Calibri" pitchFamily="34" charset="-122"/>
                <a:cs typeface="Calibri" pitchFamily="34" charset="-120"/>
              </a:rPr>
              <a:t>PRODUCT METHOD</a:t>
            </a:r>
            <a:endParaRPr lang="en-US" sz="950" dirty="0"/>
          </a:p>
        </p:txBody>
      </p:sp>
      <p:sp>
        <p:nvSpPr>
          <p:cNvPr id="30" name="Shape 28"/>
          <p:cNvSpPr/>
          <p:nvPr/>
        </p:nvSpPr>
        <p:spPr>
          <a:xfrm>
            <a:off x="6876288" y="4197096"/>
            <a:ext cx="1143000" cy="384048"/>
          </a:xfrm>
          <a:prstGeom prst="roundRect">
            <a:avLst>
              <a:gd name="adj" fmla="val 19048"/>
            </a:avLst>
          </a:prstGeom>
          <a:solidFill>
            <a:srgbClr val="F6EFE2"/>
          </a:solidFill>
          <a:ln w="12700">
            <a:solidFill>
              <a:srgbClr val="DCC79E"/>
            </a:solidFill>
            <a:prstDash val="solid"/>
          </a:ln>
        </p:spPr>
      </p:sp>
      <p:sp>
        <p:nvSpPr>
          <p:cNvPr id="31" name="Text 29"/>
          <p:cNvSpPr txBox="1"/>
          <p:nvPr/>
        </p:nvSpPr>
        <p:spPr>
          <a:xfrm>
            <a:off x="6949440" y="4197096"/>
            <a:ext cx="996696" cy="384048"/>
          </a:xfrm>
          <a:prstGeom prst="rect">
            <a:avLst/>
          </a:prstGeom>
          <a:noFill/>
          <a:ln/>
        </p:spPr>
        <p:txBody>
          <a:bodyPr wrap="square" lIns="0" tIns="0" rIns="0" bIns="0" rtlCol="0" anchor="ctr"/>
          <a:lstStyle/>
          <a:p>
            <a:pPr algn="ctr" indent="0" marL="0">
              <a:buNone/>
            </a:pPr>
            <a:r>
              <a:rPr lang="en-US" sz="1200" b="1" dirty="0">
                <a:solidFill>
                  <a:srgbClr val="6E4B1F"/>
                </a:solidFill>
                <a:latin typeface="Calibri" pitchFamily="34" charset="0"/>
                <a:ea typeface="Calibri" pitchFamily="34" charset="-122"/>
                <a:cs typeface="Calibri" pitchFamily="34" charset="-120"/>
              </a:rPr>
              <a:t>DELETE</a:t>
            </a:r>
            <a:endParaRPr lang="en-US" sz="1200" dirty="0"/>
          </a:p>
        </p:txBody>
      </p:sp>
      <p:sp>
        <p:nvSpPr>
          <p:cNvPr id="32" name="Shape 30"/>
          <p:cNvSpPr/>
          <p:nvPr/>
        </p:nvSpPr>
        <p:spPr>
          <a:xfrm>
            <a:off x="8156448" y="4197096"/>
            <a:ext cx="3063240" cy="384048"/>
          </a:xfrm>
          <a:prstGeom prst="roundRect">
            <a:avLst>
              <a:gd name="adj" fmla="val 19048"/>
            </a:avLst>
          </a:prstGeom>
          <a:solidFill>
            <a:srgbClr val="F6EFE2"/>
          </a:solidFill>
          <a:ln w="12700">
            <a:solidFill>
              <a:srgbClr val="DCC79E"/>
            </a:solidFill>
            <a:prstDash val="solid"/>
          </a:ln>
        </p:spPr>
      </p:sp>
      <p:sp>
        <p:nvSpPr>
          <p:cNvPr id="33" name="Text 31"/>
          <p:cNvSpPr txBox="1"/>
          <p:nvPr/>
        </p:nvSpPr>
        <p:spPr>
          <a:xfrm>
            <a:off x="8229600" y="4197096"/>
            <a:ext cx="2916936" cy="384048"/>
          </a:xfrm>
          <a:prstGeom prst="rect">
            <a:avLst/>
          </a:prstGeom>
          <a:noFill/>
          <a:ln/>
        </p:spPr>
        <p:txBody>
          <a:bodyPr wrap="square" lIns="0" tIns="0" rIns="0" bIns="0" rtlCol="0" anchor="ctr"/>
          <a:lstStyle/>
          <a:p>
            <a:pPr algn="l" indent="0" marL="0">
              <a:buNone/>
            </a:pPr>
            <a:r>
              <a:rPr lang="en-US" sz="1000" dirty="0">
                <a:solidFill>
                  <a:srgbClr val="6E4B1F"/>
                </a:solidFill>
                <a:latin typeface="Consolas" pitchFamily="34" charset="0"/>
                <a:ea typeface="Consolas" pitchFamily="34" charset="-122"/>
                <a:cs typeface="Consolas" pitchFamily="34" charset="-120"/>
              </a:rPr>
              <a:t>/v1/card/cancel</a:t>
            </a:r>
            <a:endParaRPr lang="en-US" sz="1000" dirty="0"/>
          </a:p>
        </p:txBody>
      </p:sp>
      <p:sp>
        <p:nvSpPr>
          <p:cNvPr id="34" name="Shape 32"/>
          <p:cNvSpPr/>
          <p:nvPr/>
        </p:nvSpPr>
        <p:spPr>
          <a:xfrm>
            <a:off x="566928" y="5212080"/>
            <a:ext cx="11057839" cy="960120"/>
          </a:xfrm>
          <a:prstGeom prst="roundRect">
            <a:avLst>
              <a:gd name="adj" fmla="val 7619"/>
            </a:avLst>
          </a:prstGeom>
          <a:solidFill>
            <a:srgbClr val="FDEAEA"/>
          </a:solidFill>
          <a:ln w="12700">
            <a:solidFill>
              <a:srgbClr val="F0B8B8"/>
            </a:solidFill>
            <a:prstDash val="solid"/>
          </a:ln>
        </p:spPr>
      </p:sp>
      <p:sp>
        <p:nvSpPr>
          <p:cNvPr id="35" name="Text 33"/>
          <p:cNvSpPr txBox="1"/>
          <p:nvPr/>
        </p:nvSpPr>
        <p:spPr>
          <a:xfrm>
            <a:off x="841248" y="5212080"/>
            <a:ext cx="10509199" cy="960120"/>
          </a:xfrm>
          <a:prstGeom prst="rect">
            <a:avLst/>
          </a:prstGeom>
          <a:noFill/>
          <a:ln/>
        </p:spPr>
        <p:txBody>
          <a:bodyPr wrap="square" lIns="0" tIns="0" rIns="0" bIns="0" rtlCol="0" anchor="ctr"/>
          <a:lstStyle/>
          <a:p>
            <a:pPr indent="0" marL="0">
              <a:buNone/>
            </a:pPr>
            <a:r>
              <a:rPr lang="en-US" sz="1250" b="1" dirty="0">
                <a:solidFill>
                  <a:srgbClr val="A11B1B"/>
                </a:solidFill>
                <a:latin typeface="Calibri" pitchFamily="34" charset="0"/>
                <a:ea typeface="Calibri" pitchFamily="34" charset="-122"/>
                <a:cs typeface="Calibri" pitchFamily="34" charset="-120"/>
              </a:rPr>
              <a:t>Follow the product and an Initiate becomes a PUT, and an Update becomes a DELETE.  </a:t>
            </a:r>
            <a:pPr indent="0" marL="0">
              <a:buNone/>
            </a:pPr>
            <a:r>
              <a:rPr lang="en-US" sz="1200" dirty="0">
                <a:solidFill>
                  <a:srgbClr val="A11B1B"/>
                </a:solidFill>
                <a:latin typeface="Calibri" pitchFamily="34" charset="0"/>
                <a:ea typeface="Calibri" pitchFamily="34" charset="-122"/>
                <a:cs typeface="Calibri" pitchFamily="34" charset="-120"/>
              </a:rPr>
              <a:t>A consumer reading DELETE reasonably concludes the resource is gone. What the product means is that a flag moved. The business intent has been replaced by an implementation step, and the contract now misleads about its own semantics.</a:t>
            </a:r>
            <a:endParaRPr lang="en-US" sz="1250" dirty="0"/>
          </a:p>
        </p:txBody>
      </p:sp>
      <p:sp>
        <p:nvSpPr>
          <p:cNvPr id="36" name="Text 34"/>
          <p:cNvSpPr txBox="1"/>
          <p:nvPr/>
        </p:nvSpPr>
        <p:spPr>
          <a:xfrm>
            <a:off x="566928" y="6455664"/>
            <a:ext cx="5486400" cy="256032"/>
          </a:xfrm>
          <a:prstGeom prst="rect">
            <a:avLst/>
          </a:prstGeom>
          <a:noFill/>
          <a:ln/>
        </p:spPr>
        <p:txBody>
          <a:bodyPr wrap="square" lIns="0" tIns="0" rIns="0" bIns="0" rtlCol="0" anchor="ctr"/>
          <a:lstStyle/>
          <a:p>
            <a:pPr indent="0" marL="0">
              <a:buNone/>
            </a:pPr>
            <a:r>
              <a:rPr lang="en-US" sz="850" dirty="0">
                <a:solidFill>
                  <a:srgbClr val="8A97A6"/>
                </a:solidFill>
                <a:latin typeface="Calibri" pitchFamily="34" charset="0"/>
                <a:ea typeface="Calibri" pitchFamily="34" charset="-122"/>
                <a:cs typeface="Calibri" pitchFamily="34" charset="-120"/>
              </a:rPr>
              <a:t>The BIAN interface and the System of Record  ·  CC&amp;C Solutions</a:t>
            </a:r>
            <a:endParaRPr lang="en-US" sz="850" dirty="0"/>
          </a:p>
        </p:txBody>
      </p:sp>
      <p:sp>
        <p:nvSpPr>
          <p:cNvPr id="37" name="Text 35"/>
          <p:cNvSpPr txBox="1"/>
          <p:nvPr/>
        </p:nvSpPr>
        <p:spPr>
          <a:xfrm>
            <a:off x="11076127" y="6455664"/>
            <a:ext cx="548640" cy="256032"/>
          </a:xfrm>
          <a:prstGeom prst="rect">
            <a:avLst/>
          </a:prstGeom>
          <a:noFill/>
          <a:ln/>
        </p:spPr>
        <p:txBody>
          <a:bodyPr wrap="square" lIns="0" tIns="0" rIns="0" bIns="0" rtlCol="0" anchor="ctr"/>
          <a:lstStyle/>
          <a:p>
            <a:pPr algn="r" indent="0" marL="0">
              <a:buNone/>
            </a:pPr>
            <a:r>
              <a:rPr lang="en-US" sz="900" dirty="0">
                <a:solidFill>
                  <a:srgbClr val="8A97A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713232"/>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One thing the System of Record should decide</a:t>
            </a:r>
            <a:endParaRPr lang="en-US" sz="3400" dirty="0"/>
          </a:p>
        </p:txBody>
      </p:sp>
      <p:sp>
        <p:nvSpPr>
          <p:cNvPr id="3" name="Text 1"/>
          <p:cNvSpPr txBox="1"/>
          <p:nvPr/>
        </p:nvSpPr>
        <p:spPr>
          <a:xfrm>
            <a:off x="566928" y="1115568"/>
            <a:ext cx="11057839" cy="384048"/>
          </a:xfrm>
          <a:prstGeom prst="rect">
            <a:avLst/>
          </a:prstGeom>
          <a:noFill/>
          <a:ln/>
        </p:spPr>
        <p:txBody>
          <a:bodyPr wrap="square" lIns="0" tIns="0" rIns="0" bIns="0" rtlCol="0" anchor="t"/>
          <a:lstStyle/>
          <a:p>
            <a:pPr indent="0" marL="0">
              <a:buNone/>
            </a:pPr>
            <a:r>
              <a:rPr lang="en-US" sz="1400" dirty="0">
                <a:solidFill>
                  <a:srgbClr val="5C6A7A"/>
                </a:solidFill>
                <a:latin typeface="Calibri" pitchFamily="34" charset="0"/>
                <a:ea typeface="Calibri" pitchFamily="34" charset="-122"/>
                <a:cs typeface="Calibri" pitchFamily="34" charset="-120"/>
              </a:rPr>
              <a:t>This is the distinction that makes the argument practical rather than dogmatic.</a:t>
            </a:r>
            <a:endParaRPr lang="en-US" sz="1400" dirty="0"/>
          </a:p>
        </p:txBody>
      </p:sp>
      <p:sp>
        <p:nvSpPr>
          <p:cNvPr id="4" name="Shape 2"/>
          <p:cNvSpPr/>
          <p:nvPr/>
        </p:nvSpPr>
        <p:spPr>
          <a:xfrm>
            <a:off x="566928" y="1874520"/>
            <a:ext cx="5349240" cy="2834640"/>
          </a:xfrm>
          <a:prstGeom prst="roundRect">
            <a:avLst>
              <a:gd name="adj" fmla="val 2581"/>
            </a:avLst>
          </a:prstGeom>
          <a:solidFill>
            <a:srgbClr val="E6F4EA"/>
          </a:solidFill>
          <a:ln w="12700">
            <a:solidFill>
              <a:srgbClr val="A8D8B9"/>
            </a:solidFill>
            <a:prstDash val="solid"/>
          </a:ln>
          <a:effectLst>
            <a:outerShdw sx="100000" sy="100000" kx="0" ky="0" algn="bl" rotWithShape="0" blurRad="101600" dist="17780" dir="5400000">
              <a:srgbClr val="9AA7B8">
                <a:alpha val="20000"/>
              </a:srgbClr>
            </a:outerShdw>
          </a:effectLst>
        </p:spPr>
      </p:sp>
      <p:sp>
        <p:nvSpPr>
          <p:cNvPr id="5" name="Shape 3"/>
          <p:cNvSpPr/>
          <p:nvPr/>
        </p:nvSpPr>
        <p:spPr>
          <a:xfrm>
            <a:off x="822960" y="2112264"/>
            <a:ext cx="2331720" cy="237744"/>
          </a:xfrm>
          <a:prstGeom prst="roundRect">
            <a:avLst>
              <a:gd name="adj" fmla="val 50000"/>
            </a:avLst>
          </a:prstGeom>
          <a:solidFill>
            <a:srgbClr val="E6F4EA"/>
          </a:solidFill>
          <a:ln w="9525">
            <a:solidFill>
              <a:srgbClr val="A8D8B9"/>
            </a:solidFill>
            <a:prstDash val="solid"/>
          </a:ln>
        </p:spPr>
      </p:sp>
      <p:sp>
        <p:nvSpPr>
          <p:cNvPr id="6" name="Text 4"/>
          <p:cNvSpPr txBox="1"/>
          <p:nvPr/>
        </p:nvSpPr>
        <p:spPr>
          <a:xfrm>
            <a:off x="822960" y="2112264"/>
            <a:ext cx="2331720" cy="237744"/>
          </a:xfrm>
          <a:prstGeom prst="rect">
            <a:avLst/>
          </a:prstGeom>
          <a:noFill/>
          <a:ln/>
        </p:spPr>
        <p:txBody>
          <a:bodyPr wrap="square" lIns="0" tIns="0" rIns="0" bIns="0" rtlCol="0" anchor="ctr"/>
          <a:lstStyle/>
          <a:p>
            <a:pPr algn="ctr" indent="0" marL="0">
              <a:buNone/>
            </a:pPr>
            <a:r>
              <a:rPr lang="en-US" sz="950" b="1" dirty="0">
                <a:solidFill>
                  <a:srgbClr val="1C6B38"/>
                </a:solidFill>
                <a:latin typeface="Calibri" pitchFamily="34" charset="0"/>
                <a:ea typeface="Calibri" pitchFamily="34" charset="-122"/>
                <a:cs typeface="Calibri" pitchFamily="34" charset="-120"/>
              </a:rPr>
              <a:t>THE SOR DOES DECIDE THIS</a:t>
            </a:r>
            <a:endParaRPr lang="en-US" sz="950" dirty="0"/>
          </a:p>
        </p:txBody>
      </p:sp>
      <p:sp>
        <p:nvSpPr>
          <p:cNvPr id="7" name="Text 5"/>
          <p:cNvSpPr txBox="1"/>
          <p:nvPr/>
        </p:nvSpPr>
        <p:spPr>
          <a:xfrm>
            <a:off x="822960" y="2478024"/>
            <a:ext cx="4837176" cy="457200"/>
          </a:xfrm>
          <a:prstGeom prst="rect">
            <a:avLst/>
          </a:prstGeom>
          <a:noFill/>
          <a:ln/>
        </p:spPr>
        <p:txBody>
          <a:bodyPr wrap="square" lIns="0" tIns="0" rIns="0" bIns="0" rtlCol="0" anchor="ctr"/>
          <a:lstStyle/>
          <a:p>
            <a:pPr indent="0" marL="0">
              <a:buNone/>
            </a:pPr>
            <a:r>
              <a:rPr lang="en-US" sz="2600" b="1" dirty="0">
                <a:solidFill>
                  <a:srgbClr val="1C6B38"/>
                </a:solidFill>
                <a:latin typeface="Cambria" pitchFamily="34" charset="0"/>
                <a:ea typeface="Cambria" pitchFamily="34" charset="-122"/>
                <a:cs typeface="Cambria" pitchFamily="34" charset="-120"/>
              </a:rPr>
              <a:t>Presence</a:t>
            </a:r>
            <a:endParaRPr lang="en-US" sz="2600" dirty="0"/>
          </a:p>
        </p:txBody>
      </p:sp>
      <p:sp>
        <p:nvSpPr>
          <p:cNvPr id="8" name="Text 6"/>
          <p:cNvSpPr txBox="1"/>
          <p:nvPr/>
        </p:nvSpPr>
        <p:spPr>
          <a:xfrm>
            <a:off x="822960" y="2971800"/>
            <a:ext cx="4837176" cy="640080"/>
          </a:xfrm>
          <a:prstGeom prst="rect">
            <a:avLst/>
          </a:prstGeom>
          <a:noFill/>
          <a:ln/>
        </p:spPr>
        <p:txBody>
          <a:bodyPr wrap="square" lIns="0" tIns="0" rIns="0" bIns="0" rtlCol="0" anchor="t"/>
          <a:lstStyle/>
          <a:p>
            <a:pPr indent="0" marL="0">
              <a:buNone/>
            </a:pPr>
            <a:r>
              <a:rPr lang="en-US" sz="1200" dirty="0">
                <a:solidFill>
                  <a:srgbClr val="16202C"/>
                </a:solidFill>
                <a:latin typeface="Calibri" pitchFamily="34" charset="0"/>
                <a:ea typeface="Calibri" pitchFamily="34" charset="-122"/>
                <a:cs typeface="Calibri" pitchFamily="34" charset="-120"/>
              </a:rPr>
              <a:t>Whether an element can be populated at all. If nothing behind the interface can supply it, it has no business being in the contract.</a:t>
            </a:r>
            <a:endParaRPr lang="en-US" sz="1200" dirty="0"/>
          </a:p>
        </p:txBody>
      </p:sp>
      <p:sp>
        <p:nvSpPr>
          <p:cNvPr id="9" name="Shape 7"/>
          <p:cNvSpPr/>
          <p:nvPr/>
        </p:nvSpPr>
        <p:spPr>
          <a:xfrm>
            <a:off x="822960" y="3685032"/>
            <a:ext cx="4837176" cy="274320"/>
          </a:xfrm>
          <a:prstGeom prst="roundRect">
            <a:avLst>
              <a:gd name="adj" fmla="val 26667"/>
            </a:avLst>
          </a:prstGeom>
          <a:solidFill>
            <a:srgbClr val="FFFFFF"/>
          </a:solidFill>
          <a:ln w="12700">
            <a:solidFill>
              <a:srgbClr val="A8D8B9"/>
            </a:solidFill>
            <a:prstDash val="solid"/>
          </a:ln>
        </p:spPr>
      </p:sp>
      <p:sp>
        <p:nvSpPr>
          <p:cNvPr id="10" name="Text 8"/>
          <p:cNvSpPr txBox="1"/>
          <p:nvPr/>
        </p:nvSpPr>
        <p:spPr>
          <a:xfrm>
            <a:off x="896112" y="3685032"/>
            <a:ext cx="4690872" cy="274320"/>
          </a:xfrm>
          <a:prstGeom prst="rect">
            <a:avLst/>
          </a:prstGeom>
          <a:noFill/>
          <a:ln/>
        </p:spPr>
        <p:txBody>
          <a:bodyPr wrap="square" lIns="0" tIns="0" rIns="0" bIns="0" rtlCol="0" anchor="ctr"/>
          <a:lstStyle/>
          <a:p>
            <a:pPr algn="l" indent="0" marL="0">
              <a:buNone/>
            </a:pPr>
            <a:r>
              <a:rPr lang="en-US" sz="1050" dirty="0">
                <a:solidFill>
                  <a:srgbClr val="1C6B38"/>
                </a:solidFill>
                <a:latin typeface="Calibri" pitchFamily="34" charset="0"/>
                <a:ea typeface="Calibri" pitchFamily="34" charset="-122"/>
                <a:cs typeface="Calibri" pitchFamily="34" charset="-120"/>
              </a:rPr>
              <a:t>which elements appear</a:t>
            </a:r>
            <a:endParaRPr lang="en-US" sz="1050" dirty="0"/>
          </a:p>
        </p:txBody>
      </p:sp>
      <p:sp>
        <p:nvSpPr>
          <p:cNvPr id="11" name="Shape 9"/>
          <p:cNvSpPr/>
          <p:nvPr/>
        </p:nvSpPr>
        <p:spPr>
          <a:xfrm>
            <a:off x="822960" y="4014216"/>
            <a:ext cx="4837176" cy="274320"/>
          </a:xfrm>
          <a:prstGeom prst="roundRect">
            <a:avLst>
              <a:gd name="adj" fmla="val 26667"/>
            </a:avLst>
          </a:prstGeom>
          <a:solidFill>
            <a:srgbClr val="FFFFFF"/>
          </a:solidFill>
          <a:ln w="12700">
            <a:solidFill>
              <a:srgbClr val="A8D8B9"/>
            </a:solidFill>
            <a:prstDash val="solid"/>
          </a:ln>
        </p:spPr>
      </p:sp>
      <p:sp>
        <p:nvSpPr>
          <p:cNvPr id="12" name="Text 10"/>
          <p:cNvSpPr txBox="1"/>
          <p:nvPr/>
        </p:nvSpPr>
        <p:spPr>
          <a:xfrm>
            <a:off x="896112" y="4014216"/>
            <a:ext cx="4690872" cy="274320"/>
          </a:xfrm>
          <a:prstGeom prst="rect">
            <a:avLst/>
          </a:prstGeom>
          <a:noFill/>
          <a:ln/>
        </p:spPr>
        <p:txBody>
          <a:bodyPr wrap="square" lIns="0" tIns="0" rIns="0" bIns="0" rtlCol="0" anchor="ctr"/>
          <a:lstStyle/>
          <a:p>
            <a:pPr algn="l" indent="0" marL="0">
              <a:buNone/>
            </a:pPr>
            <a:r>
              <a:rPr lang="en-US" sz="1050" dirty="0">
                <a:solidFill>
                  <a:srgbClr val="1C6B38"/>
                </a:solidFill>
                <a:latin typeface="Calibri" pitchFamily="34" charset="0"/>
                <a:ea typeface="Calibri" pitchFamily="34" charset="-122"/>
                <a:cs typeface="Calibri" pitchFamily="34" charset="-120"/>
              </a:rPr>
              <a:t>which are optional</a:t>
            </a:r>
            <a:endParaRPr lang="en-US" sz="1050" dirty="0"/>
          </a:p>
        </p:txBody>
      </p:sp>
      <p:sp>
        <p:nvSpPr>
          <p:cNvPr id="13" name="Shape 11"/>
          <p:cNvSpPr/>
          <p:nvPr/>
        </p:nvSpPr>
        <p:spPr>
          <a:xfrm>
            <a:off x="822960" y="4343400"/>
            <a:ext cx="4837176" cy="274320"/>
          </a:xfrm>
          <a:prstGeom prst="roundRect">
            <a:avLst>
              <a:gd name="adj" fmla="val 26667"/>
            </a:avLst>
          </a:prstGeom>
          <a:solidFill>
            <a:srgbClr val="FFFFFF"/>
          </a:solidFill>
          <a:ln w="12700">
            <a:solidFill>
              <a:srgbClr val="A8D8B9"/>
            </a:solidFill>
            <a:prstDash val="solid"/>
          </a:ln>
        </p:spPr>
      </p:sp>
      <p:sp>
        <p:nvSpPr>
          <p:cNvPr id="14" name="Text 12"/>
          <p:cNvSpPr txBox="1"/>
          <p:nvPr/>
        </p:nvSpPr>
        <p:spPr>
          <a:xfrm>
            <a:off x="896112" y="4343400"/>
            <a:ext cx="4690872" cy="274320"/>
          </a:xfrm>
          <a:prstGeom prst="rect">
            <a:avLst/>
          </a:prstGeom>
          <a:noFill/>
          <a:ln/>
        </p:spPr>
        <p:txBody>
          <a:bodyPr wrap="square" lIns="0" tIns="0" rIns="0" bIns="0" rtlCol="0" anchor="ctr"/>
          <a:lstStyle/>
          <a:p>
            <a:pPr algn="l" indent="0" marL="0">
              <a:buNone/>
            </a:pPr>
            <a:r>
              <a:rPr lang="en-US" sz="1050" dirty="0">
                <a:solidFill>
                  <a:srgbClr val="1C6B38"/>
                </a:solidFill>
                <a:latin typeface="Calibri" pitchFamily="34" charset="0"/>
                <a:ea typeface="Calibri" pitchFamily="34" charset="-122"/>
                <a:cs typeface="Calibri" pitchFamily="34" charset="-120"/>
              </a:rPr>
              <a:t>which vary by variant</a:t>
            </a:r>
            <a:endParaRPr lang="en-US" sz="1050" dirty="0"/>
          </a:p>
        </p:txBody>
      </p:sp>
      <p:sp>
        <p:nvSpPr>
          <p:cNvPr id="15" name="Shape 13"/>
          <p:cNvSpPr/>
          <p:nvPr/>
        </p:nvSpPr>
        <p:spPr>
          <a:xfrm>
            <a:off x="6236208" y="1874520"/>
            <a:ext cx="5349240" cy="2834640"/>
          </a:xfrm>
          <a:prstGeom prst="roundRect">
            <a:avLst>
              <a:gd name="adj" fmla="val 2581"/>
            </a:avLst>
          </a:prstGeom>
          <a:solidFill>
            <a:srgbClr val="FDEAEA"/>
          </a:solidFill>
          <a:ln w="12700">
            <a:solidFill>
              <a:srgbClr val="F0B8B8"/>
            </a:solidFill>
            <a:prstDash val="solid"/>
          </a:ln>
          <a:effectLst>
            <a:outerShdw sx="100000" sy="100000" kx="0" ky="0" algn="bl" rotWithShape="0" blurRad="101600" dist="17780" dir="5400000">
              <a:srgbClr val="9AA7B8">
                <a:alpha val="20000"/>
              </a:srgbClr>
            </a:outerShdw>
          </a:effectLst>
        </p:spPr>
      </p:sp>
      <p:sp>
        <p:nvSpPr>
          <p:cNvPr id="16" name="Shape 14"/>
          <p:cNvSpPr/>
          <p:nvPr/>
        </p:nvSpPr>
        <p:spPr>
          <a:xfrm>
            <a:off x="6492240" y="2112264"/>
            <a:ext cx="2606040" cy="237744"/>
          </a:xfrm>
          <a:prstGeom prst="roundRect">
            <a:avLst>
              <a:gd name="adj" fmla="val 50000"/>
            </a:avLst>
          </a:prstGeom>
          <a:solidFill>
            <a:srgbClr val="FDEAEA"/>
          </a:solidFill>
          <a:ln w="9525">
            <a:solidFill>
              <a:srgbClr val="F0B8B8"/>
            </a:solidFill>
            <a:prstDash val="solid"/>
          </a:ln>
        </p:spPr>
      </p:sp>
      <p:sp>
        <p:nvSpPr>
          <p:cNvPr id="17" name="Text 15"/>
          <p:cNvSpPr txBox="1"/>
          <p:nvPr/>
        </p:nvSpPr>
        <p:spPr>
          <a:xfrm>
            <a:off x="6492240" y="2112264"/>
            <a:ext cx="2606040" cy="237744"/>
          </a:xfrm>
          <a:prstGeom prst="rect">
            <a:avLst/>
          </a:prstGeom>
          <a:noFill/>
          <a:ln/>
        </p:spPr>
        <p:txBody>
          <a:bodyPr wrap="square" lIns="0" tIns="0" rIns="0" bIns="0" rtlCol="0" anchor="ctr"/>
          <a:lstStyle/>
          <a:p>
            <a:pPr algn="ctr" indent="0" marL="0">
              <a:buNone/>
            </a:pPr>
            <a:r>
              <a:rPr lang="en-US" sz="950" b="1" dirty="0">
                <a:solidFill>
                  <a:srgbClr val="A11B1B"/>
                </a:solidFill>
                <a:latin typeface="Calibri" pitchFamily="34" charset="0"/>
                <a:ea typeface="Calibri" pitchFamily="34" charset="-122"/>
                <a:cs typeface="Calibri" pitchFamily="34" charset="-120"/>
              </a:rPr>
              <a:t>THE SOR MUST NOT DECIDE THIS</a:t>
            </a:r>
            <a:endParaRPr lang="en-US" sz="950" dirty="0"/>
          </a:p>
        </p:txBody>
      </p:sp>
      <p:sp>
        <p:nvSpPr>
          <p:cNvPr id="18" name="Text 16"/>
          <p:cNvSpPr txBox="1"/>
          <p:nvPr/>
        </p:nvSpPr>
        <p:spPr>
          <a:xfrm>
            <a:off x="6492240" y="2478024"/>
            <a:ext cx="4837176" cy="457200"/>
          </a:xfrm>
          <a:prstGeom prst="rect">
            <a:avLst/>
          </a:prstGeom>
          <a:noFill/>
          <a:ln/>
        </p:spPr>
        <p:txBody>
          <a:bodyPr wrap="square" lIns="0" tIns="0" rIns="0" bIns="0" rtlCol="0" anchor="ctr"/>
          <a:lstStyle/>
          <a:p>
            <a:pPr indent="0" marL="0">
              <a:buNone/>
            </a:pPr>
            <a:r>
              <a:rPr lang="en-US" sz="2600" b="1" dirty="0">
                <a:solidFill>
                  <a:srgbClr val="A11B1B"/>
                </a:solidFill>
                <a:latin typeface="Cambria" pitchFamily="34" charset="0"/>
                <a:ea typeface="Cambria" pitchFamily="34" charset="-122"/>
                <a:cs typeface="Cambria" pitchFamily="34" charset="-120"/>
              </a:rPr>
              <a:t>Shape</a:t>
            </a:r>
            <a:endParaRPr lang="en-US" sz="2600" dirty="0"/>
          </a:p>
        </p:txBody>
      </p:sp>
      <p:sp>
        <p:nvSpPr>
          <p:cNvPr id="19" name="Text 17"/>
          <p:cNvSpPr txBox="1"/>
          <p:nvPr/>
        </p:nvSpPr>
        <p:spPr>
          <a:xfrm>
            <a:off x="6492240" y="2971800"/>
            <a:ext cx="4837176" cy="640080"/>
          </a:xfrm>
          <a:prstGeom prst="rect">
            <a:avLst/>
          </a:prstGeom>
          <a:noFill/>
          <a:ln/>
        </p:spPr>
        <p:txBody>
          <a:bodyPr wrap="square" lIns="0" tIns="0" rIns="0" bIns="0" rtlCol="0" anchor="t"/>
          <a:lstStyle/>
          <a:p>
            <a:pPr indent="0" marL="0">
              <a:buNone/>
            </a:pPr>
            <a:r>
              <a:rPr lang="en-US" sz="1200" dirty="0">
                <a:solidFill>
                  <a:srgbClr val="16202C"/>
                </a:solidFill>
                <a:latin typeface="Calibri" pitchFamily="34" charset="0"/>
                <a:ea typeface="Calibri" pitchFamily="34" charset="-122"/>
                <a:cs typeface="Calibri" pitchFamily="34" charset="-120"/>
              </a:rPr>
              <a:t>What an element is called, where it sits, how it is grouped, how many operations there are, or which verb is used.</a:t>
            </a:r>
            <a:endParaRPr lang="en-US" sz="1200" dirty="0"/>
          </a:p>
        </p:txBody>
      </p:sp>
      <p:sp>
        <p:nvSpPr>
          <p:cNvPr id="20" name="Shape 18"/>
          <p:cNvSpPr/>
          <p:nvPr/>
        </p:nvSpPr>
        <p:spPr>
          <a:xfrm>
            <a:off x="6492240" y="3685032"/>
            <a:ext cx="4837176" cy="274320"/>
          </a:xfrm>
          <a:prstGeom prst="roundRect">
            <a:avLst>
              <a:gd name="adj" fmla="val 26667"/>
            </a:avLst>
          </a:prstGeom>
          <a:solidFill>
            <a:srgbClr val="FFFFFF"/>
          </a:solidFill>
          <a:ln w="12700">
            <a:solidFill>
              <a:srgbClr val="F0B8B8"/>
            </a:solidFill>
            <a:prstDash val="solid"/>
          </a:ln>
        </p:spPr>
      </p:sp>
      <p:sp>
        <p:nvSpPr>
          <p:cNvPr id="21" name="Text 19"/>
          <p:cNvSpPr txBox="1"/>
          <p:nvPr/>
        </p:nvSpPr>
        <p:spPr>
          <a:xfrm>
            <a:off x="6565392" y="3685032"/>
            <a:ext cx="4690872" cy="274320"/>
          </a:xfrm>
          <a:prstGeom prst="rect">
            <a:avLst/>
          </a:prstGeom>
          <a:noFill/>
          <a:ln/>
        </p:spPr>
        <p:txBody>
          <a:bodyPr wrap="square" lIns="0" tIns="0" rIns="0" bIns="0" rtlCol="0" anchor="ctr"/>
          <a:lstStyle/>
          <a:p>
            <a:pPr algn="l" indent="0" marL="0">
              <a:buNone/>
            </a:pPr>
            <a:r>
              <a:rPr lang="en-US" sz="1050" dirty="0">
                <a:solidFill>
                  <a:srgbClr val="A11B1B"/>
                </a:solidFill>
                <a:latin typeface="Calibri" pitchFamily="34" charset="0"/>
                <a:ea typeface="Calibri" pitchFamily="34" charset="-122"/>
                <a:cs typeface="Calibri" pitchFamily="34" charset="-120"/>
              </a:rPr>
              <a:t>names and vocabulary</a:t>
            </a:r>
            <a:endParaRPr lang="en-US" sz="1050" dirty="0"/>
          </a:p>
        </p:txBody>
      </p:sp>
      <p:sp>
        <p:nvSpPr>
          <p:cNvPr id="22" name="Shape 20"/>
          <p:cNvSpPr/>
          <p:nvPr/>
        </p:nvSpPr>
        <p:spPr>
          <a:xfrm>
            <a:off x="6492240" y="4014216"/>
            <a:ext cx="4837176" cy="274320"/>
          </a:xfrm>
          <a:prstGeom prst="roundRect">
            <a:avLst>
              <a:gd name="adj" fmla="val 26667"/>
            </a:avLst>
          </a:prstGeom>
          <a:solidFill>
            <a:srgbClr val="FFFFFF"/>
          </a:solidFill>
          <a:ln w="12700">
            <a:solidFill>
              <a:srgbClr val="F0B8B8"/>
            </a:solidFill>
            <a:prstDash val="solid"/>
          </a:ln>
        </p:spPr>
      </p:sp>
      <p:sp>
        <p:nvSpPr>
          <p:cNvPr id="23" name="Text 21"/>
          <p:cNvSpPr txBox="1"/>
          <p:nvPr/>
        </p:nvSpPr>
        <p:spPr>
          <a:xfrm>
            <a:off x="6565392" y="4014216"/>
            <a:ext cx="4690872" cy="274320"/>
          </a:xfrm>
          <a:prstGeom prst="rect">
            <a:avLst/>
          </a:prstGeom>
          <a:noFill/>
          <a:ln/>
        </p:spPr>
        <p:txBody>
          <a:bodyPr wrap="square" lIns="0" tIns="0" rIns="0" bIns="0" rtlCol="0" anchor="ctr"/>
          <a:lstStyle/>
          <a:p>
            <a:pPr algn="l" indent="0" marL="0">
              <a:buNone/>
            </a:pPr>
            <a:r>
              <a:rPr lang="en-US" sz="1050" dirty="0">
                <a:solidFill>
                  <a:srgbClr val="A11B1B"/>
                </a:solidFill>
                <a:latin typeface="Calibri" pitchFamily="34" charset="0"/>
                <a:ea typeface="Calibri" pitchFamily="34" charset="-122"/>
                <a:cs typeface="Calibri" pitchFamily="34" charset="-120"/>
              </a:rPr>
              <a:t>nesting and grouping</a:t>
            </a:r>
            <a:endParaRPr lang="en-US" sz="1050" dirty="0"/>
          </a:p>
        </p:txBody>
      </p:sp>
      <p:sp>
        <p:nvSpPr>
          <p:cNvPr id="24" name="Shape 22"/>
          <p:cNvSpPr/>
          <p:nvPr/>
        </p:nvSpPr>
        <p:spPr>
          <a:xfrm>
            <a:off x="6492240" y="4343400"/>
            <a:ext cx="4837176" cy="274320"/>
          </a:xfrm>
          <a:prstGeom prst="roundRect">
            <a:avLst>
              <a:gd name="adj" fmla="val 26667"/>
            </a:avLst>
          </a:prstGeom>
          <a:solidFill>
            <a:srgbClr val="FFFFFF"/>
          </a:solidFill>
          <a:ln w="12700">
            <a:solidFill>
              <a:srgbClr val="F0B8B8"/>
            </a:solidFill>
            <a:prstDash val="solid"/>
          </a:ln>
        </p:spPr>
      </p:sp>
      <p:sp>
        <p:nvSpPr>
          <p:cNvPr id="25" name="Text 23"/>
          <p:cNvSpPr txBox="1"/>
          <p:nvPr/>
        </p:nvSpPr>
        <p:spPr>
          <a:xfrm>
            <a:off x="6565392" y="4343400"/>
            <a:ext cx="4690872" cy="274320"/>
          </a:xfrm>
          <a:prstGeom prst="rect">
            <a:avLst/>
          </a:prstGeom>
          <a:noFill/>
          <a:ln/>
        </p:spPr>
        <p:txBody>
          <a:bodyPr wrap="square" lIns="0" tIns="0" rIns="0" bIns="0" rtlCol="0" anchor="ctr"/>
          <a:lstStyle/>
          <a:p>
            <a:pPr algn="l" indent="0" marL="0">
              <a:buNone/>
            </a:pPr>
            <a:r>
              <a:rPr lang="en-US" sz="1050" dirty="0">
                <a:solidFill>
                  <a:srgbClr val="A11B1B"/>
                </a:solidFill>
                <a:latin typeface="Calibri" pitchFamily="34" charset="0"/>
                <a:ea typeface="Calibri" pitchFamily="34" charset="-122"/>
                <a:cs typeface="Calibri" pitchFamily="34" charset="-120"/>
              </a:rPr>
              <a:t>operation count and verbs</a:t>
            </a:r>
            <a:endParaRPr lang="en-US" sz="1050" dirty="0"/>
          </a:p>
        </p:txBody>
      </p:sp>
      <p:sp>
        <p:nvSpPr>
          <p:cNvPr id="26" name="Shape 24"/>
          <p:cNvSpPr/>
          <p:nvPr/>
        </p:nvSpPr>
        <p:spPr>
          <a:xfrm>
            <a:off x="566928" y="5029200"/>
            <a:ext cx="11057839" cy="1051560"/>
          </a:xfrm>
          <a:prstGeom prst="roundRect">
            <a:avLst>
              <a:gd name="adj" fmla="val 6957"/>
            </a:avLst>
          </a:prstGeom>
          <a:solidFill>
            <a:srgbClr val="1E2761"/>
          </a:solidFill>
          <a:ln w="12700">
            <a:solidFill>
              <a:srgbClr val="1E2761"/>
            </a:solidFill>
            <a:prstDash val="solid"/>
          </a:ln>
        </p:spPr>
      </p:sp>
      <p:sp>
        <p:nvSpPr>
          <p:cNvPr id="27" name="Text 25"/>
          <p:cNvSpPr txBox="1"/>
          <p:nvPr/>
        </p:nvSpPr>
        <p:spPr>
          <a:xfrm>
            <a:off x="841248" y="5029200"/>
            <a:ext cx="10509199" cy="10515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tooling holds this line for you.  </a:t>
            </a:r>
            <a:pPr indent="0" marL="0">
              <a:buNone/>
            </a:pPr>
            <a:r>
              <a:rPr lang="en-US" sz="1250" dirty="0">
                <a:solidFill>
                  <a:srgbClr val="CADCFC"/>
                </a:solidFill>
                <a:latin typeface="Calibri" pitchFamily="34" charset="0"/>
                <a:ea typeface="Calibri" pitchFamily="34" charset="-122"/>
                <a:cs typeface="Calibri" pitchFamily="34" charset="-120"/>
              </a:rPr>
              <a:t>The generator reads the BIAN-shaped interface from the mapping workbook and consults the System of Record for one purpose only: to decide whether each element is backed. It can </a:t>
            </a:r>
            <a:pPr indent="0" marL="0">
              <a:buNone/>
            </a:pPr>
            <a:r>
              <a:rPr lang="en-US" sz="1250" b="1" dirty="0">
                <a:solidFill>
                  <a:srgbClr val="C9A227"/>
                </a:solidFill>
                <a:latin typeface="Calibri" pitchFamily="34" charset="0"/>
                <a:ea typeface="Calibri" pitchFamily="34" charset="-122"/>
                <a:cs typeface="Calibri" pitchFamily="34" charset="-120"/>
              </a:rPr>
              <a:t>remove</a:t>
            </a:r>
            <a:pPr indent="0" marL="0">
              <a:buNone/>
            </a:pPr>
            <a:r>
              <a:rPr lang="en-US" sz="1250" dirty="0">
                <a:solidFill>
                  <a:srgbClr val="CADCFC"/>
                </a:solidFill>
                <a:latin typeface="Calibri" pitchFamily="34" charset="0"/>
                <a:ea typeface="Calibri" pitchFamily="34" charset="-122"/>
                <a:cs typeface="Calibri" pitchFamily="34" charset="-120"/>
              </a:rPr>
              <a:t>. It can never rename, re-nest, re-group, split an operation or choose a verb. Shape is not an output of the System of Record.</a:t>
            </a:r>
            <a:endParaRPr lang="en-US" sz="1300" dirty="0"/>
          </a:p>
        </p:txBody>
      </p:sp>
      <p:sp>
        <p:nvSpPr>
          <p:cNvPr id="28" name="Text 26"/>
          <p:cNvSpPr txBox="1"/>
          <p:nvPr/>
        </p:nvSpPr>
        <p:spPr>
          <a:xfrm>
            <a:off x="566928" y="6455664"/>
            <a:ext cx="5486400" cy="256032"/>
          </a:xfrm>
          <a:prstGeom prst="rect">
            <a:avLst/>
          </a:prstGeom>
          <a:noFill/>
          <a:ln/>
        </p:spPr>
        <p:txBody>
          <a:bodyPr wrap="square" lIns="0" tIns="0" rIns="0" bIns="0" rtlCol="0" anchor="ctr"/>
          <a:lstStyle/>
          <a:p>
            <a:pPr indent="0" marL="0">
              <a:buNone/>
            </a:pPr>
            <a:r>
              <a:rPr lang="en-US" sz="850" dirty="0">
                <a:solidFill>
                  <a:srgbClr val="8A97A6"/>
                </a:solidFill>
                <a:latin typeface="Calibri" pitchFamily="34" charset="0"/>
                <a:ea typeface="Calibri" pitchFamily="34" charset="-122"/>
                <a:cs typeface="Calibri" pitchFamily="34" charset="-120"/>
              </a:rPr>
              <a:t>The BIAN interface and the System of Record  ·  CC&amp;C Solutions</a:t>
            </a:r>
            <a:endParaRPr lang="en-US" sz="850" dirty="0"/>
          </a:p>
        </p:txBody>
      </p:sp>
      <p:sp>
        <p:nvSpPr>
          <p:cNvPr id="29" name="Text 27"/>
          <p:cNvSpPr txBox="1"/>
          <p:nvPr/>
        </p:nvSpPr>
        <p:spPr>
          <a:xfrm>
            <a:off x="11076127" y="6455664"/>
            <a:ext cx="548640" cy="256032"/>
          </a:xfrm>
          <a:prstGeom prst="rect">
            <a:avLst/>
          </a:prstGeom>
          <a:noFill/>
          <a:ln/>
        </p:spPr>
        <p:txBody>
          <a:bodyPr wrap="square" lIns="0" tIns="0" rIns="0" bIns="0" rtlCol="0" anchor="ctr"/>
          <a:lstStyle/>
          <a:p>
            <a:pPr algn="r" indent="0" marL="0">
              <a:buNone/>
            </a:pPr>
            <a:r>
              <a:rPr lang="en-US" sz="900" dirty="0">
                <a:solidFill>
                  <a:srgbClr val="8A97A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713232"/>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The same three events, twice</a:t>
            </a:r>
            <a:endParaRPr lang="en-US" sz="3400" dirty="0"/>
          </a:p>
        </p:txBody>
      </p:sp>
      <p:sp>
        <p:nvSpPr>
          <p:cNvPr id="3" name="Text 1"/>
          <p:cNvSpPr txBox="1"/>
          <p:nvPr/>
        </p:nvSpPr>
        <p:spPr>
          <a:xfrm>
            <a:off x="566928" y="1115568"/>
            <a:ext cx="11057839" cy="384048"/>
          </a:xfrm>
          <a:prstGeom prst="rect">
            <a:avLst/>
          </a:prstGeom>
          <a:noFill/>
          <a:ln/>
        </p:spPr>
        <p:txBody>
          <a:bodyPr wrap="square" lIns="0" tIns="0" rIns="0" bIns="0" rtlCol="0" anchor="t"/>
          <a:lstStyle/>
          <a:p>
            <a:pPr indent="0" marL="0">
              <a:buNone/>
            </a:pPr>
            <a:r>
              <a:rPr lang="en-US" sz="1400" dirty="0">
                <a:solidFill>
                  <a:srgbClr val="5C6A7A"/>
                </a:solidFill>
                <a:latin typeface="Calibri" pitchFamily="34" charset="0"/>
                <a:ea typeface="Calibri" pitchFamily="34" charset="-122"/>
                <a:cs typeface="Calibri" pitchFamily="34" charset="-120"/>
              </a:rPr>
              <a:t>What has to change, and who has to be told, over the life of the estate.</a:t>
            </a:r>
            <a:endParaRPr lang="en-US" sz="1400" dirty="0"/>
          </a:p>
        </p:txBody>
      </p:sp>
      <p:sp>
        <p:nvSpPr>
          <p:cNvPr id="4" name="Shape 2"/>
          <p:cNvSpPr/>
          <p:nvPr/>
        </p:nvSpPr>
        <p:spPr>
          <a:xfrm>
            <a:off x="2898648" y="1920240"/>
            <a:ext cx="2725826" cy="658368"/>
          </a:xfrm>
          <a:prstGeom prst="roundRect">
            <a:avLst>
              <a:gd name="adj" fmla="val 11111"/>
            </a:avLst>
          </a:prstGeom>
          <a:solidFill>
            <a:srgbClr val="F6EFE2"/>
          </a:solidFill>
          <a:ln w="12700">
            <a:solidFill>
              <a:srgbClr val="DCC79E"/>
            </a:solidFill>
            <a:prstDash val="solid"/>
          </a:ln>
        </p:spPr>
      </p:sp>
      <p:sp>
        <p:nvSpPr>
          <p:cNvPr id="5" name="Text 3"/>
          <p:cNvSpPr txBox="1"/>
          <p:nvPr/>
        </p:nvSpPr>
        <p:spPr>
          <a:xfrm>
            <a:off x="2971800" y="1920240"/>
            <a:ext cx="2579522" cy="658368"/>
          </a:xfrm>
          <a:prstGeom prst="rect">
            <a:avLst/>
          </a:prstGeom>
          <a:noFill/>
          <a:ln/>
        </p:spPr>
        <p:txBody>
          <a:bodyPr wrap="square" lIns="0" tIns="0" rIns="0" bIns="0" rtlCol="0" anchor="ctr"/>
          <a:lstStyle/>
          <a:p>
            <a:pPr algn="ctr" indent="0" marL="0">
              <a:buNone/>
            </a:pPr>
            <a:r>
              <a:rPr lang="en-US" sz="1100" b="1" dirty="0">
                <a:solidFill>
                  <a:srgbClr val="6E4B1F"/>
                </a:solidFill>
                <a:latin typeface="Calibri" pitchFamily="34" charset="0"/>
                <a:ea typeface="Calibri" pitchFamily="34" charset="-122"/>
                <a:cs typeface="Calibri" pitchFamily="34" charset="-120"/>
              </a:rPr>
              <a:t>Product upgrade</a:t>
            </a:r>
            <a:endParaRPr lang="en-US" sz="1100" dirty="0"/>
          </a:p>
          <a:p>
            <a:pPr algn="ctr" indent="0" marL="0">
              <a:buNone/>
            </a:pPr>
            <a:r>
              <a:rPr lang="en-US" sz="1100" b="1" dirty="0">
                <a:solidFill>
                  <a:srgbClr val="6E4B1F"/>
                </a:solidFill>
                <a:latin typeface="Calibri" pitchFamily="34" charset="0"/>
                <a:ea typeface="Calibri" pitchFamily="34" charset="-122"/>
                <a:cs typeface="Calibri" pitchFamily="34" charset="-120"/>
              </a:rPr>
              <a:t>renames a field</a:t>
            </a:r>
            <a:endParaRPr lang="en-US" sz="1100" dirty="0"/>
          </a:p>
        </p:txBody>
      </p:sp>
      <p:sp>
        <p:nvSpPr>
          <p:cNvPr id="6" name="Shape 4"/>
          <p:cNvSpPr/>
          <p:nvPr/>
        </p:nvSpPr>
        <p:spPr>
          <a:xfrm>
            <a:off x="5898794" y="1920240"/>
            <a:ext cx="2725826" cy="658368"/>
          </a:xfrm>
          <a:prstGeom prst="roundRect">
            <a:avLst>
              <a:gd name="adj" fmla="val 11111"/>
            </a:avLst>
          </a:prstGeom>
          <a:solidFill>
            <a:srgbClr val="F6EFE2"/>
          </a:solidFill>
          <a:ln w="12700">
            <a:solidFill>
              <a:srgbClr val="DCC79E"/>
            </a:solidFill>
            <a:prstDash val="solid"/>
          </a:ln>
        </p:spPr>
      </p:sp>
      <p:sp>
        <p:nvSpPr>
          <p:cNvPr id="7" name="Text 5"/>
          <p:cNvSpPr txBox="1"/>
          <p:nvPr/>
        </p:nvSpPr>
        <p:spPr>
          <a:xfrm>
            <a:off x="5971946" y="1920240"/>
            <a:ext cx="2579522" cy="658368"/>
          </a:xfrm>
          <a:prstGeom prst="rect">
            <a:avLst/>
          </a:prstGeom>
          <a:noFill/>
          <a:ln/>
        </p:spPr>
        <p:txBody>
          <a:bodyPr wrap="square" lIns="0" tIns="0" rIns="0" bIns="0" rtlCol="0" anchor="ctr"/>
          <a:lstStyle/>
          <a:p>
            <a:pPr algn="ctr" indent="0" marL="0">
              <a:buNone/>
            </a:pPr>
            <a:r>
              <a:rPr lang="en-US" sz="1100" b="1" dirty="0">
                <a:solidFill>
                  <a:srgbClr val="6E4B1F"/>
                </a:solidFill>
                <a:latin typeface="Calibri" pitchFamily="34" charset="0"/>
                <a:ea typeface="Calibri" pitchFamily="34" charset="-122"/>
                <a:cs typeface="Calibri" pitchFamily="34" charset="-120"/>
              </a:rPr>
              <a:t>Product adds a</a:t>
            </a:r>
            <a:endParaRPr lang="en-US" sz="1100" dirty="0"/>
          </a:p>
          <a:p>
            <a:pPr algn="ctr" indent="0" marL="0">
              <a:buNone/>
            </a:pPr>
            <a:r>
              <a:rPr lang="en-US" sz="1100" b="1" dirty="0">
                <a:solidFill>
                  <a:srgbClr val="6E4B1F"/>
                </a:solidFill>
                <a:latin typeface="Calibri" pitchFamily="34" charset="0"/>
                <a:ea typeface="Calibri" pitchFamily="34" charset="-122"/>
                <a:cs typeface="Calibri" pitchFamily="34" charset="-120"/>
              </a:rPr>
              <a:t>sixth sub-resource</a:t>
            </a:r>
            <a:endParaRPr lang="en-US" sz="1100" dirty="0"/>
          </a:p>
        </p:txBody>
      </p:sp>
      <p:sp>
        <p:nvSpPr>
          <p:cNvPr id="8" name="Shape 6"/>
          <p:cNvSpPr/>
          <p:nvPr/>
        </p:nvSpPr>
        <p:spPr>
          <a:xfrm>
            <a:off x="8898941" y="1920240"/>
            <a:ext cx="2725826" cy="658368"/>
          </a:xfrm>
          <a:prstGeom prst="roundRect">
            <a:avLst>
              <a:gd name="adj" fmla="val 11111"/>
            </a:avLst>
          </a:prstGeom>
          <a:solidFill>
            <a:srgbClr val="F6EFE2"/>
          </a:solidFill>
          <a:ln w="12700">
            <a:solidFill>
              <a:srgbClr val="DCC79E"/>
            </a:solidFill>
            <a:prstDash val="solid"/>
          </a:ln>
        </p:spPr>
      </p:sp>
      <p:sp>
        <p:nvSpPr>
          <p:cNvPr id="9" name="Text 7"/>
          <p:cNvSpPr txBox="1"/>
          <p:nvPr/>
        </p:nvSpPr>
        <p:spPr>
          <a:xfrm>
            <a:off x="8972093" y="1920240"/>
            <a:ext cx="2579522" cy="658368"/>
          </a:xfrm>
          <a:prstGeom prst="rect">
            <a:avLst/>
          </a:prstGeom>
          <a:noFill/>
          <a:ln/>
        </p:spPr>
        <p:txBody>
          <a:bodyPr wrap="square" lIns="0" tIns="0" rIns="0" bIns="0" rtlCol="0" anchor="ctr"/>
          <a:lstStyle/>
          <a:p>
            <a:pPr algn="ctr" indent="0" marL="0">
              <a:buNone/>
            </a:pPr>
            <a:r>
              <a:rPr lang="en-US" sz="1100" b="1" dirty="0">
                <a:solidFill>
                  <a:srgbClr val="6E4B1F"/>
                </a:solidFill>
                <a:latin typeface="Calibri" pitchFamily="34" charset="0"/>
                <a:ea typeface="Calibri" pitchFamily="34" charset="-122"/>
                <a:cs typeface="Calibri" pitchFamily="34" charset="-120"/>
              </a:rPr>
              <a:t>Product is replaced</a:t>
            </a:r>
            <a:endParaRPr lang="en-US" sz="1100" dirty="0"/>
          </a:p>
          <a:p>
            <a:pPr algn="ctr" indent="0" marL="0">
              <a:buNone/>
            </a:pPr>
            <a:r>
              <a:rPr lang="en-US" sz="1100" b="1" dirty="0">
                <a:solidFill>
                  <a:srgbClr val="6E4B1F"/>
                </a:solidFill>
                <a:latin typeface="Calibri" pitchFamily="34" charset="0"/>
                <a:ea typeface="Calibri" pitchFamily="34" charset="-122"/>
                <a:cs typeface="Calibri" pitchFamily="34" charset="-120"/>
              </a:rPr>
              <a:t>by another vendor</a:t>
            </a:r>
            <a:endParaRPr lang="en-US" sz="1100" dirty="0"/>
          </a:p>
        </p:txBody>
      </p:sp>
      <p:sp>
        <p:nvSpPr>
          <p:cNvPr id="10" name="Shape 8"/>
          <p:cNvSpPr/>
          <p:nvPr/>
        </p:nvSpPr>
        <p:spPr>
          <a:xfrm>
            <a:off x="566928" y="2834640"/>
            <a:ext cx="2194560" cy="1170432"/>
          </a:xfrm>
          <a:prstGeom prst="roundRect">
            <a:avLst>
              <a:gd name="adj" fmla="val 6250"/>
            </a:avLst>
          </a:prstGeom>
          <a:solidFill>
            <a:srgbClr val="FDEAEA"/>
          </a:solidFill>
          <a:ln w="12700">
            <a:solidFill>
              <a:srgbClr val="F0B8B8"/>
            </a:solidFill>
            <a:prstDash val="solid"/>
          </a:ln>
        </p:spPr>
      </p:sp>
      <p:sp>
        <p:nvSpPr>
          <p:cNvPr id="11" name="Text 9"/>
          <p:cNvSpPr txBox="1"/>
          <p:nvPr/>
        </p:nvSpPr>
        <p:spPr>
          <a:xfrm>
            <a:off x="640080" y="2834640"/>
            <a:ext cx="2048256" cy="1170432"/>
          </a:xfrm>
          <a:prstGeom prst="rect">
            <a:avLst/>
          </a:prstGeom>
          <a:noFill/>
          <a:ln/>
        </p:spPr>
        <p:txBody>
          <a:bodyPr wrap="square" lIns="0" tIns="0" rIns="0" bIns="0" rtlCol="0" anchor="ctr"/>
          <a:lstStyle/>
          <a:p>
            <a:pPr algn="ctr" indent="0" marL="0">
              <a:buNone/>
            </a:pPr>
            <a:r>
              <a:rPr lang="en-US" sz="1150" b="1" dirty="0">
                <a:solidFill>
                  <a:srgbClr val="A11B1B"/>
                </a:solidFill>
                <a:latin typeface="Calibri" pitchFamily="34" charset="0"/>
                <a:ea typeface="Calibri" pitchFamily="34" charset="-122"/>
                <a:cs typeface="Calibri" pitchFamily="34" charset="-120"/>
              </a:rPr>
              <a:t>SOR shapes the contract</a:t>
            </a:r>
            <a:endParaRPr lang="en-US" sz="1150" dirty="0"/>
          </a:p>
        </p:txBody>
      </p:sp>
      <p:sp>
        <p:nvSpPr>
          <p:cNvPr id="12" name="Shape 10"/>
          <p:cNvSpPr/>
          <p:nvPr/>
        </p:nvSpPr>
        <p:spPr>
          <a:xfrm>
            <a:off x="2898648" y="2834640"/>
            <a:ext cx="2725826" cy="1170432"/>
          </a:xfrm>
          <a:prstGeom prst="roundRect">
            <a:avLst>
              <a:gd name="adj" fmla="val 6250"/>
            </a:avLst>
          </a:prstGeom>
          <a:solidFill>
            <a:srgbClr val="FDEAEA"/>
          </a:solidFill>
          <a:ln w="12700">
            <a:solidFill>
              <a:srgbClr val="F0B8B8"/>
            </a:solidFill>
            <a:prstDash val="solid"/>
          </a:ln>
        </p:spPr>
      </p:sp>
      <p:sp>
        <p:nvSpPr>
          <p:cNvPr id="13" name="Text 11"/>
          <p:cNvSpPr txBox="1"/>
          <p:nvPr/>
        </p:nvSpPr>
        <p:spPr>
          <a:xfrm>
            <a:off x="2971800" y="2834640"/>
            <a:ext cx="2579522" cy="1170432"/>
          </a:xfrm>
          <a:prstGeom prst="rect">
            <a:avLst/>
          </a:prstGeom>
          <a:noFill/>
          <a:ln/>
        </p:spPr>
        <p:txBody>
          <a:bodyPr wrap="square" lIns="0" tIns="0" rIns="0" bIns="0" rtlCol="0" anchor="ctr"/>
          <a:lstStyle/>
          <a:p>
            <a:pPr algn="ctr" indent="0" marL="0">
              <a:buNone/>
            </a:pPr>
            <a:r>
              <a:rPr lang="en-US" sz="1150" b="1" dirty="0">
                <a:solidFill>
                  <a:srgbClr val="A11B1B"/>
                </a:solidFill>
                <a:latin typeface="Calibri" pitchFamily="34" charset="0"/>
                <a:ea typeface="Calibri" pitchFamily="34" charset="-122"/>
                <a:cs typeface="Calibri" pitchFamily="34" charset="-120"/>
              </a:rPr>
              <a:t>contract changes</a:t>
            </a:r>
            <a:endParaRPr lang="en-US" sz="1150" dirty="0"/>
          </a:p>
          <a:p>
            <a:pPr algn="ctr" indent="0" marL="0">
              <a:buNone/>
            </a:pPr>
            <a:r>
              <a:rPr lang="en-US" sz="1150" b="1" dirty="0">
                <a:solidFill>
                  <a:srgbClr val="A11B1B"/>
                </a:solidFill>
                <a:latin typeface="Calibri" pitchFamily="34" charset="0"/>
                <a:ea typeface="Calibri" pitchFamily="34" charset="-122"/>
                <a:cs typeface="Calibri" pitchFamily="34" charset="-120"/>
              </a:rPr>
              <a:t>4 consumers change</a:t>
            </a:r>
            <a:endParaRPr lang="en-US" sz="1150" dirty="0"/>
          </a:p>
        </p:txBody>
      </p:sp>
      <p:sp>
        <p:nvSpPr>
          <p:cNvPr id="14" name="Shape 12"/>
          <p:cNvSpPr/>
          <p:nvPr/>
        </p:nvSpPr>
        <p:spPr>
          <a:xfrm>
            <a:off x="4261561" y="2615184"/>
            <a:ext cx="0" cy="182880"/>
          </a:xfrm>
          <a:prstGeom prst="line">
            <a:avLst/>
          </a:prstGeom>
          <a:noFill/>
          <a:ln w="15240">
            <a:solidFill>
              <a:srgbClr val="F0B8B8"/>
            </a:solidFill>
            <a:prstDash val="solid"/>
            <a:tailEnd type="triangle"/>
          </a:ln>
        </p:spPr>
      </p:sp>
      <p:sp>
        <p:nvSpPr>
          <p:cNvPr id="15" name="Shape 13"/>
          <p:cNvSpPr/>
          <p:nvPr/>
        </p:nvSpPr>
        <p:spPr>
          <a:xfrm>
            <a:off x="5898794" y="2834640"/>
            <a:ext cx="2725826" cy="1170432"/>
          </a:xfrm>
          <a:prstGeom prst="roundRect">
            <a:avLst>
              <a:gd name="adj" fmla="val 6250"/>
            </a:avLst>
          </a:prstGeom>
          <a:solidFill>
            <a:srgbClr val="FDEAEA"/>
          </a:solidFill>
          <a:ln w="12700">
            <a:solidFill>
              <a:srgbClr val="F0B8B8"/>
            </a:solidFill>
            <a:prstDash val="solid"/>
          </a:ln>
        </p:spPr>
      </p:sp>
      <p:sp>
        <p:nvSpPr>
          <p:cNvPr id="16" name="Text 14"/>
          <p:cNvSpPr txBox="1"/>
          <p:nvPr/>
        </p:nvSpPr>
        <p:spPr>
          <a:xfrm>
            <a:off x="5971946" y="2834640"/>
            <a:ext cx="2579522" cy="1170432"/>
          </a:xfrm>
          <a:prstGeom prst="rect">
            <a:avLst/>
          </a:prstGeom>
          <a:noFill/>
          <a:ln/>
        </p:spPr>
        <p:txBody>
          <a:bodyPr wrap="square" lIns="0" tIns="0" rIns="0" bIns="0" rtlCol="0" anchor="ctr"/>
          <a:lstStyle/>
          <a:p>
            <a:pPr algn="ctr" indent="0" marL="0">
              <a:buNone/>
            </a:pPr>
            <a:r>
              <a:rPr lang="en-US" sz="1150" b="1" dirty="0">
                <a:solidFill>
                  <a:srgbClr val="A11B1B"/>
                </a:solidFill>
                <a:latin typeface="Calibri" pitchFamily="34" charset="0"/>
                <a:ea typeface="Calibri" pitchFamily="34" charset="-122"/>
                <a:cs typeface="Calibri" pitchFamily="34" charset="-120"/>
              </a:rPr>
              <a:t>contract changes</a:t>
            </a:r>
            <a:endParaRPr lang="en-US" sz="1150" dirty="0"/>
          </a:p>
          <a:p>
            <a:pPr algn="ctr" indent="0" marL="0">
              <a:buNone/>
            </a:pPr>
            <a:r>
              <a:rPr lang="en-US" sz="1150" b="1" dirty="0">
                <a:solidFill>
                  <a:srgbClr val="A11B1B"/>
                </a:solidFill>
                <a:latin typeface="Calibri" pitchFamily="34" charset="0"/>
                <a:ea typeface="Calibri" pitchFamily="34" charset="-122"/>
                <a:cs typeface="Calibri" pitchFamily="34" charset="-120"/>
              </a:rPr>
              <a:t>4 consumers change</a:t>
            </a:r>
            <a:endParaRPr lang="en-US" sz="1150" dirty="0"/>
          </a:p>
        </p:txBody>
      </p:sp>
      <p:sp>
        <p:nvSpPr>
          <p:cNvPr id="17" name="Shape 15"/>
          <p:cNvSpPr/>
          <p:nvPr/>
        </p:nvSpPr>
        <p:spPr>
          <a:xfrm>
            <a:off x="7261708" y="2615184"/>
            <a:ext cx="0" cy="182880"/>
          </a:xfrm>
          <a:prstGeom prst="line">
            <a:avLst/>
          </a:prstGeom>
          <a:noFill/>
          <a:ln w="15240">
            <a:solidFill>
              <a:srgbClr val="F0B8B8"/>
            </a:solidFill>
            <a:prstDash val="solid"/>
            <a:tailEnd type="triangle"/>
          </a:ln>
        </p:spPr>
      </p:sp>
      <p:sp>
        <p:nvSpPr>
          <p:cNvPr id="18" name="Shape 16"/>
          <p:cNvSpPr/>
          <p:nvPr/>
        </p:nvSpPr>
        <p:spPr>
          <a:xfrm>
            <a:off x="8898941" y="2834640"/>
            <a:ext cx="2725826" cy="1170432"/>
          </a:xfrm>
          <a:prstGeom prst="roundRect">
            <a:avLst>
              <a:gd name="adj" fmla="val 6250"/>
            </a:avLst>
          </a:prstGeom>
          <a:solidFill>
            <a:srgbClr val="FDEAEA"/>
          </a:solidFill>
          <a:ln w="12700">
            <a:solidFill>
              <a:srgbClr val="F0B8B8"/>
            </a:solidFill>
            <a:prstDash val="solid"/>
          </a:ln>
        </p:spPr>
      </p:sp>
      <p:sp>
        <p:nvSpPr>
          <p:cNvPr id="19" name="Text 17"/>
          <p:cNvSpPr txBox="1"/>
          <p:nvPr/>
        </p:nvSpPr>
        <p:spPr>
          <a:xfrm>
            <a:off x="8972093" y="2834640"/>
            <a:ext cx="2579522" cy="1170432"/>
          </a:xfrm>
          <a:prstGeom prst="rect">
            <a:avLst/>
          </a:prstGeom>
          <a:noFill/>
          <a:ln/>
        </p:spPr>
        <p:txBody>
          <a:bodyPr wrap="square" lIns="0" tIns="0" rIns="0" bIns="0" rtlCol="0" anchor="ctr"/>
          <a:lstStyle/>
          <a:p>
            <a:pPr algn="ctr" indent="0" marL="0">
              <a:buNone/>
            </a:pPr>
            <a:r>
              <a:rPr lang="en-US" sz="1150" b="1" dirty="0">
                <a:solidFill>
                  <a:srgbClr val="A11B1B"/>
                </a:solidFill>
                <a:latin typeface="Calibri" pitchFamily="34" charset="0"/>
                <a:ea typeface="Calibri" pitchFamily="34" charset="-122"/>
                <a:cs typeface="Calibri" pitchFamily="34" charset="-120"/>
              </a:rPr>
              <a:t>contract rewritten</a:t>
            </a:r>
            <a:endParaRPr lang="en-US" sz="1150" dirty="0"/>
          </a:p>
          <a:p>
            <a:pPr algn="ctr" indent="0" marL="0">
              <a:buNone/>
            </a:pPr>
            <a:r>
              <a:rPr lang="en-US" sz="1150" b="1" dirty="0">
                <a:solidFill>
                  <a:srgbClr val="A11B1B"/>
                </a:solidFill>
                <a:latin typeface="Calibri" pitchFamily="34" charset="0"/>
                <a:ea typeface="Calibri" pitchFamily="34" charset="-122"/>
                <a:cs typeface="Calibri" pitchFamily="34" charset="-120"/>
              </a:rPr>
              <a:t>every consumer rewritten</a:t>
            </a:r>
            <a:endParaRPr lang="en-US" sz="1150" dirty="0"/>
          </a:p>
        </p:txBody>
      </p:sp>
      <p:sp>
        <p:nvSpPr>
          <p:cNvPr id="20" name="Shape 18"/>
          <p:cNvSpPr/>
          <p:nvPr/>
        </p:nvSpPr>
        <p:spPr>
          <a:xfrm>
            <a:off x="10261854" y="2615184"/>
            <a:ext cx="0" cy="182880"/>
          </a:xfrm>
          <a:prstGeom prst="line">
            <a:avLst/>
          </a:prstGeom>
          <a:noFill/>
          <a:ln w="15240">
            <a:solidFill>
              <a:srgbClr val="F0B8B8"/>
            </a:solidFill>
            <a:prstDash val="solid"/>
            <a:tailEnd type="triangle"/>
          </a:ln>
        </p:spPr>
      </p:sp>
      <p:sp>
        <p:nvSpPr>
          <p:cNvPr id="21" name="Shape 19"/>
          <p:cNvSpPr/>
          <p:nvPr/>
        </p:nvSpPr>
        <p:spPr>
          <a:xfrm>
            <a:off x="566928" y="4206240"/>
            <a:ext cx="2194560" cy="1170432"/>
          </a:xfrm>
          <a:prstGeom prst="roundRect">
            <a:avLst>
              <a:gd name="adj" fmla="val 6250"/>
            </a:avLst>
          </a:prstGeom>
          <a:solidFill>
            <a:srgbClr val="E6F4EA"/>
          </a:solidFill>
          <a:ln w="12700">
            <a:solidFill>
              <a:srgbClr val="A8D8B9"/>
            </a:solidFill>
            <a:prstDash val="solid"/>
          </a:ln>
        </p:spPr>
      </p:sp>
      <p:sp>
        <p:nvSpPr>
          <p:cNvPr id="22" name="Text 20"/>
          <p:cNvSpPr txBox="1"/>
          <p:nvPr/>
        </p:nvSpPr>
        <p:spPr>
          <a:xfrm>
            <a:off x="640080" y="4206240"/>
            <a:ext cx="2048256" cy="1170432"/>
          </a:xfrm>
          <a:prstGeom prst="rect">
            <a:avLst/>
          </a:prstGeom>
          <a:noFill/>
          <a:ln/>
        </p:spPr>
        <p:txBody>
          <a:bodyPr wrap="square" lIns="0" tIns="0" rIns="0" bIns="0" rtlCol="0" anchor="ctr"/>
          <a:lstStyle/>
          <a:p>
            <a:pPr algn="ctr" indent="0" marL="0">
              <a:buNone/>
            </a:pPr>
            <a:r>
              <a:rPr lang="en-US" sz="1150" b="1" dirty="0">
                <a:solidFill>
                  <a:srgbClr val="1C6B38"/>
                </a:solidFill>
                <a:latin typeface="Calibri" pitchFamily="34" charset="0"/>
                <a:ea typeface="Calibri" pitchFamily="34" charset="-122"/>
                <a:cs typeface="Calibri" pitchFamily="34" charset="-120"/>
              </a:rPr>
              <a:t>Contract shapes the mapping</a:t>
            </a:r>
            <a:endParaRPr lang="en-US" sz="1150" dirty="0"/>
          </a:p>
        </p:txBody>
      </p:sp>
      <p:sp>
        <p:nvSpPr>
          <p:cNvPr id="23" name="Shape 21"/>
          <p:cNvSpPr/>
          <p:nvPr/>
        </p:nvSpPr>
        <p:spPr>
          <a:xfrm>
            <a:off x="2898648" y="4206240"/>
            <a:ext cx="2725826" cy="1170432"/>
          </a:xfrm>
          <a:prstGeom prst="roundRect">
            <a:avLst>
              <a:gd name="adj" fmla="val 6250"/>
            </a:avLst>
          </a:prstGeom>
          <a:solidFill>
            <a:srgbClr val="FFFFFF"/>
          </a:solidFill>
          <a:ln w="12700">
            <a:solidFill>
              <a:srgbClr val="A8D8B9"/>
            </a:solidFill>
            <a:prstDash val="solid"/>
          </a:ln>
        </p:spPr>
      </p:sp>
      <p:sp>
        <p:nvSpPr>
          <p:cNvPr id="24" name="Text 22"/>
          <p:cNvSpPr txBox="1"/>
          <p:nvPr/>
        </p:nvSpPr>
        <p:spPr>
          <a:xfrm>
            <a:off x="2971800" y="4206240"/>
            <a:ext cx="2579522" cy="1170432"/>
          </a:xfrm>
          <a:prstGeom prst="rect">
            <a:avLst/>
          </a:prstGeom>
          <a:noFill/>
          <a:ln/>
        </p:spPr>
        <p:txBody>
          <a:bodyPr wrap="square" lIns="0" tIns="0" rIns="0" bIns="0" rtlCol="0" anchor="ctr"/>
          <a:lstStyle/>
          <a:p>
            <a:pPr algn="ctr" indent="0" marL="0">
              <a:buNone/>
            </a:pPr>
            <a:r>
              <a:rPr lang="en-US" sz="1150" dirty="0">
                <a:solidFill>
                  <a:srgbClr val="1C6B38"/>
                </a:solidFill>
                <a:latin typeface="Calibri" pitchFamily="34" charset="0"/>
                <a:ea typeface="Calibri" pitchFamily="34" charset="-122"/>
                <a:cs typeface="Calibri" pitchFamily="34" charset="-120"/>
              </a:rPr>
              <a:t>mapping cell edited</a:t>
            </a:r>
            <a:endParaRPr lang="en-US" sz="1150" dirty="0"/>
          </a:p>
          <a:p>
            <a:pPr algn="ctr" indent="0" marL="0">
              <a:buNone/>
            </a:pPr>
            <a:r>
              <a:rPr lang="en-US" sz="1150" dirty="0">
                <a:solidFill>
                  <a:srgbClr val="1C6B38"/>
                </a:solidFill>
                <a:latin typeface="Calibri" pitchFamily="34" charset="0"/>
                <a:ea typeface="Calibri" pitchFamily="34" charset="-122"/>
                <a:cs typeface="Calibri" pitchFamily="34" charset="-120"/>
              </a:rPr>
              <a:t>nobody told</a:t>
            </a:r>
            <a:endParaRPr lang="en-US" sz="1150" dirty="0"/>
          </a:p>
        </p:txBody>
      </p:sp>
      <p:sp>
        <p:nvSpPr>
          <p:cNvPr id="25" name="Shape 23"/>
          <p:cNvSpPr/>
          <p:nvPr/>
        </p:nvSpPr>
        <p:spPr>
          <a:xfrm>
            <a:off x="4261561" y="3986784"/>
            <a:ext cx="0" cy="182880"/>
          </a:xfrm>
          <a:prstGeom prst="line">
            <a:avLst/>
          </a:prstGeom>
          <a:noFill/>
          <a:ln w="15240">
            <a:solidFill>
              <a:srgbClr val="A8D8B9"/>
            </a:solidFill>
            <a:prstDash val="solid"/>
            <a:tailEnd type="triangle"/>
          </a:ln>
        </p:spPr>
      </p:sp>
      <p:sp>
        <p:nvSpPr>
          <p:cNvPr id="26" name="Shape 24"/>
          <p:cNvSpPr/>
          <p:nvPr/>
        </p:nvSpPr>
        <p:spPr>
          <a:xfrm>
            <a:off x="5898794" y="4206240"/>
            <a:ext cx="2725826" cy="1170432"/>
          </a:xfrm>
          <a:prstGeom prst="roundRect">
            <a:avLst>
              <a:gd name="adj" fmla="val 6250"/>
            </a:avLst>
          </a:prstGeom>
          <a:solidFill>
            <a:srgbClr val="FFFFFF"/>
          </a:solidFill>
          <a:ln w="12700">
            <a:solidFill>
              <a:srgbClr val="A8D8B9"/>
            </a:solidFill>
            <a:prstDash val="solid"/>
          </a:ln>
        </p:spPr>
      </p:sp>
      <p:sp>
        <p:nvSpPr>
          <p:cNvPr id="27" name="Text 25"/>
          <p:cNvSpPr txBox="1"/>
          <p:nvPr/>
        </p:nvSpPr>
        <p:spPr>
          <a:xfrm>
            <a:off x="5971946" y="4206240"/>
            <a:ext cx="2579522" cy="1170432"/>
          </a:xfrm>
          <a:prstGeom prst="rect">
            <a:avLst/>
          </a:prstGeom>
          <a:noFill/>
          <a:ln/>
        </p:spPr>
        <p:txBody>
          <a:bodyPr wrap="square" lIns="0" tIns="0" rIns="0" bIns="0" rtlCol="0" anchor="ctr"/>
          <a:lstStyle/>
          <a:p>
            <a:pPr algn="ctr" indent="0" marL="0">
              <a:buNone/>
            </a:pPr>
            <a:r>
              <a:rPr lang="en-US" sz="1150" dirty="0">
                <a:solidFill>
                  <a:srgbClr val="1C6B38"/>
                </a:solidFill>
                <a:latin typeface="Calibri" pitchFamily="34" charset="0"/>
                <a:ea typeface="Calibri" pitchFamily="34" charset="-122"/>
                <a:cs typeface="Calibri" pitchFamily="34" charset="-120"/>
              </a:rPr>
              <a:t>mapping gains a variant</a:t>
            </a:r>
            <a:endParaRPr lang="en-US" sz="1150" dirty="0"/>
          </a:p>
          <a:p>
            <a:pPr algn="ctr" indent="0" marL="0">
              <a:buNone/>
            </a:pPr>
            <a:r>
              <a:rPr lang="en-US" sz="1150" dirty="0">
                <a:solidFill>
                  <a:srgbClr val="1C6B38"/>
                </a:solidFill>
                <a:latin typeface="Calibri" pitchFamily="34" charset="0"/>
                <a:ea typeface="Calibri" pitchFamily="34" charset="-122"/>
                <a:cs typeface="Calibri" pitchFamily="34" charset="-120"/>
              </a:rPr>
              <a:t>nobody told</a:t>
            </a:r>
            <a:endParaRPr lang="en-US" sz="1150" dirty="0"/>
          </a:p>
        </p:txBody>
      </p:sp>
      <p:sp>
        <p:nvSpPr>
          <p:cNvPr id="28" name="Shape 26"/>
          <p:cNvSpPr/>
          <p:nvPr/>
        </p:nvSpPr>
        <p:spPr>
          <a:xfrm>
            <a:off x="7261708" y="3986784"/>
            <a:ext cx="0" cy="182880"/>
          </a:xfrm>
          <a:prstGeom prst="line">
            <a:avLst/>
          </a:prstGeom>
          <a:noFill/>
          <a:ln w="15240">
            <a:solidFill>
              <a:srgbClr val="A8D8B9"/>
            </a:solidFill>
            <a:prstDash val="solid"/>
            <a:tailEnd type="triangle"/>
          </a:ln>
        </p:spPr>
      </p:sp>
      <p:sp>
        <p:nvSpPr>
          <p:cNvPr id="29" name="Shape 27"/>
          <p:cNvSpPr/>
          <p:nvPr/>
        </p:nvSpPr>
        <p:spPr>
          <a:xfrm>
            <a:off x="8898941" y="4206240"/>
            <a:ext cx="2725826" cy="1170432"/>
          </a:xfrm>
          <a:prstGeom prst="roundRect">
            <a:avLst>
              <a:gd name="adj" fmla="val 6250"/>
            </a:avLst>
          </a:prstGeom>
          <a:solidFill>
            <a:srgbClr val="FFFFFF"/>
          </a:solidFill>
          <a:ln w="12700">
            <a:solidFill>
              <a:srgbClr val="A8D8B9"/>
            </a:solidFill>
            <a:prstDash val="solid"/>
          </a:ln>
        </p:spPr>
      </p:sp>
      <p:sp>
        <p:nvSpPr>
          <p:cNvPr id="30" name="Text 28"/>
          <p:cNvSpPr txBox="1"/>
          <p:nvPr/>
        </p:nvSpPr>
        <p:spPr>
          <a:xfrm>
            <a:off x="8972093" y="4206240"/>
            <a:ext cx="2579522" cy="1170432"/>
          </a:xfrm>
          <a:prstGeom prst="rect">
            <a:avLst/>
          </a:prstGeom>
          <a:noFill/>
          <a:ln/>
        </p:spPr>
        <p:txBody>
          <a:bodyPr wrap="square" lIns="0" tIns="0" rIns="0" bIns="0" rtlCol="0" anchor="ctr"/>
          <a:lstStyle/>
          <a:p>
            <a:pPr algn="ctr" indent="0" marL="0">
              <a:buNone/>
            </a:pPr>
            <a:r>
              <a:rPr lang="en-US" sz="1150" dirty="0">
                <a:solidFill>
                  <a:srgbClr val="1C6B38"/>
                </a:solidFill>
                <a:latin typeface="Calibri" pitchFamily="34" charset="0"/>
                <a:ea typeface="Calibri" pitchFamily="34" charset="-122"/>
                <a:cs typeface="Calibri" pitchFamily="34" charset="-120"/>
              </a:rPr>
              <a:t>mapping rewritten</a:t>
            </a:r>
            <a:endParaRPr lang="en-US" sz="1150" dirty="0"/>
          </a:p>
          <a:p>
            <a:pPr algn="ctr" indent="0" marL="0">
              <a:buNone/>
            </a:pPr>
            <a:r>
              <a:rPr lang="en-US" sz="1150" dirty="0">
                <a:solidFill>
                  <a:srgbClr val="1C6B38"/>
                </a:solidFill>
                <a:latin typeface="Calibri" pitchFamily="34" charset="0"/>
                <a:ea typeface="Calibri" pitchFamily="34" charset="-122"/>
                <a:cs typeface="Calibri" pitchFamily="34" charset="-120"/>
              </a:rPr>
              <a:t>nobody told</a:t>
            </a:r>
            <a:endParaRPr lang="en-US" sz="1150" dirty="0"/>
          </a:p>
        </p:txBody>
      </p:sp>
      <p:sp>
        <p:nvSpPr>
          <p:cNvPr id="31" name="Shape 29"/>
          <p:cNvSpPr/>
          <p:nvPr/>
        </p:nvSpPr>
        <p:spPr>
          <a:xfrm>
            <a:off x="10261854" y="3986784"/>
            <a:ext cx="0" cy="182880"/>
          </a:xfrm>
          <a:prstGeom prst="line">
            <a:avLst/>
          </a:prstGeom>
          <a:noFill/>
          <a:ln w="15240">
            <a:solidFill>
              <a:srgbClr val="A8D8B9"/>
            </a:solidFill>
            <a:prstDash val="solid"/>
            <a:tailEnd type="triangle"/>
          </a:ln>
        </p:spPr>
      </p:sp>
      <p:sp>
        <p:nvSpPr>
          <p:cNvPr id="32" name="Shape 30"/>
          <p:cNvSpPr/>
          <p:nvPr/>
        </p:nvSpPr>
        <p:spPr>
          <a:xfrm>
            <a:off x="566928" y="5669280"/>
            <a:ext cx="11057839" cy="713232"/>
          </a:xfrm>
          <a:prstGeom prst="roundRect">
            <a:avLst>
              <a:gd name="adj" fmla="val 10256"/>
            </a:avLst>
          </a:prstGeom>
          <a:solidFill>
            <a:srgbClr val="1E2761"/>
          </a:solidFill>
          <a:ln w="12700">
            <a:solidFill>
              <a:srgbClr val="1E2761"/>
            </a:solidFill>
            <a:prstDash val="solid"/>
          </a:ln>
        </p:spPr>
      </p:sp>
      <p:sp>
        <p:nvSpPr>
          <p:cNvPr id="33" name="Text 31"/>
          <p:cNvSpPr txBox="1"/>
          <p:nvPr/>
        </p:nvSpPr>
        <p:spPr>
          <a:xfrm>
            <a:off x="841248" y="5669280"/>
            <a:ext cx="10509199" cy="7132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Twelve consumer changes against none.  </a:t>
            </a:r>
            <a:pPr indent="0" marL="0">
              <a:buNone/>
            </a:pPr>
            <a:r>
              <a:rPr lang="en-US" sz="1250" dirty="0">
                <a:solidFill>
                  <a:srgbClr val="CADCFC"/>
                </a:solidFill>
                <a:latin typeface="Calibri" pitchFamily="34" charset="0"/>
                <a:ea typeface="Calibri" pitchFamily="34" charset="-122"/>
                <a:cs typeface="Calibri" pitchFamily="34" charset="-120"/>
              </a:rPr>
              <a:t>The work does not disappear in the lower row. It is done once, in the one artefact whose job is to know both vocabularies.</a:t>
            </a:r>
            <a:endParaRPr lang="en-US" sz="1300" dirty="0"/>
          </a:p>
        </p:txBody>
      </p:sp>
      <p:sp>
        <p:nvSpPr>
          <p:cNvPr id="34" name="Text 32"/>
          <p:cNvSpPr txBox="1"/>
          <p:nvPr/>
        </p:nvSpPr>
        <p:spPr>
          <a:xfrm>
            <a:off x="566928" y="6455664"/>
            <a:ext cx="5486400" cy="256032"/>
          </a:xfrm>
          <a:prstGeom prst="rect">
            <a:avLst/>
          </a:prstGeom>
          <a:noFill/>
          <a:ln/>
        </p:spPr>
        <p:txBody>
          <a:bodyPr wrap="square" lIns="0" tIns="0" rIns="0" bIns="0" rtlCol="0" anchor="ctr"/>
          <a:lstStyle/>
          <a:p>
            <a:pPr indent="0" marL="0">
              <a:buNone/>
            </a:pPr>
            <a:r>
              <a:rPr lang="en-US" sz="850" dirty="0">
                <a:solidFill>
                  <a:srgbClr val="8A97A6"/>
                </a:solidFill>
                <a:latin typeface="Calibri" pitchFamily="34" charset="0"/>
                <a:ea typeface="Calibri" pitchFamily="34" charset="-122"/>
                <a:cs typeface="Calibri" pitchFamily="34" charset="-120"/>
              </a:rPr>
              <a:t>The BIAN interface and the System of Record  ·  CC&amp;C Solutions</a:t>
            </a:r>
            <a:endParaRPr lang="en-US" sz="850" dirty="0"/>
          </a:p>
        </p:txBody>
      </p:sp>
      <p:sp>
        <p:nvSpPr>
          <p:cNvPr id="35" name="Text 33"/>
          <p:cNvSpPr txBox="1"/>
          <p:nvPr/>
        </p:nvSpPr>
        <p:spPr>
          <a:xfrm>
            <a:off x="11076127" y="6455664"/>
            <a:ext cx="548640" cy="256032"/>
          </a:xfrm>
          <a:prstGeom prst="rect">
            <a:avLst/>
          </a:prstGeom>
          <a:noFill/>
          <a:ln/>
        </p:spPr>
        <p:txBody>
          <a:bodyPr wrap="square" lIns="0" tIns="0" rIns="0" bIns="0" rtlCol="0" anchor="ctr"/>
          <a:lstStyle/>
          <a:p>
            <a:pPr algn="r" indent="0" marL="0">
              <a:buNone/>
            </a:pPr>
            <a:r>
              <a:rPr lang="en-US" sz="900" dirty="0">
                <a:solidFill>
                  <a:srgbClr val="8A97A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713232"/>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What the standard buys, and what a leak spends</a:t>
            </a:r>
            <a:endParaRPr lang="en-US" sz="3400" dirty="0"/>
          </a:p>
        </p:txBody>
      </p:sp>
      <p:sp>
        <p:nvSpPr>
          <p:cNvPr id="3" name="Text 1"/>
          <p:cNvSpPr txBox="1"/>
          <p:nvPr/>
        </p:nvSpPr>
        <p:spPr>
          <a:xfrm>
            <a:off x="566928" y="1115568"/>
            <a:ext cx="11057839" cy="384048"/>
          </a:xfrm>
          <a:prstGeom prst="rect">
            <a:avLst/>
          </a:prstGeom>
          <a:noFill/>
          <a:ln/>
        </p:spPr>
        <p:txBody>
          <a:bodyPr wrap="square" lIns="0" tIns="0" rIns="0" bIns="0" rtlCol="0" anchor="t"/>
          <a:lstStyle/>
          <a:p>
            <a:pPr indent="0" marL="0">
              <a:buNone/>
            </a:pPr>
            <a:r>
              <a:rPr lang="en-US" sz="1400" dirty="0">
                <a:solidFill>
                  <a:srgbClr val="5C6A7A"/>
                </a:solidFill>
                <a:latin typeface="Calibri" pitchFamily="34" charset="0"/>
                <a:ea typeface="Calibri" pitchFamily="34" charset="-122"/>
                <a:cs typeface="Calibri" pitchFamily="34" charset="-120"/>
              </a:rPr>
              <a:t>Each benefit of standardising depends on the contract being independent of the product.</a:t>
            </a:r>
            <a:endParaRPr lang="en-US" sz="1400" dirty="0"/>
          </a:p>
        </p:txBody>
      </p:sp>
      <p:sp>
        <p:nvSpPr>
          <p:cNvPr id="4" name="Shape 2"/>
          <p:cNvSpPr/>
          <p:nvPr/>
        </p:nvSpPr>
        <p:spPr>
          <a:xfrm>
            <a:off x="2852928" y="1444752"/>
            <a:ext cx="2834640" cy="237744"/>
          </a:xfrm>
          <a:prstGeom prst="roundRect">
            <a:avLst>
              <a:gd name="adj" fmla="val 50000"/>
            </a:avLst>
          </a:prstGeom>
          <a:solidFill>
            <a:srgbClr val="E6F4EA"/>
          </a:solidFill>
          <a:ln w="9525">
            <a:solidFill>
              <a:srgbClr val="A8D8B9"/>
            </a:solidFill>
            <a:prstDash val="solid"/>
          </a:ln>
        </p:spPr>
      </p:sp>
      <p:sp>
        <p:nvSpPr>
          <p:cNvPr id="5" name="Text 3"/>
          <p:cNvSpPr txBox="1"/>
          <p:nvPr/>
        </p:nvSpPr>
        <p:spPr>
          <a:xfrm>
            <a:off x="2852928" y="1444752"/>
            <a:ext cx="2834640" cy="237744"/>
          </a:xfrm>
          <a:prstGeom prst="rect">
            <a:avLst/>
          </a:prstGeom>
          <a:noFill/>
          <a:ln/>
        </p:spPr>
        <p:txBody>
          <a:bodyPr wrap="square" lIns="0" tIns="0" rIns="0" bIns="0" rtlCol="0" anchor="ctr"/>
          <a:lstStyle/>
          <a:p>
            <a:pPr algn="ctr" indent="0" marL="0">
              <a:buNone/>
            </a:pPr>
            <a:r>
              <a:rPr lang="en-US" sz="950" b="1" dirty="0">
                <a:solidFill>
                  <a:srgbClr val="1C6B38"/>
                </a:solidFill>
                <a:latin typeface="Calibri" pitchFamily="34" charset="0"/>
                <a:ea typeface="Calibri" pitchFamily="34" charset="-122"/>
                <a:cs typeface="Calibri" pitchFamily="34" charset="-120"/>
              </a:rPr>
              <a:t>WITH THE LINE HELD</a:t>
            </a:r>
            <a:endParaRPr lang="en-US" sz="950" dirty="0"/>
          </a:p>
        </p:txBody>
      </p:sp>
      <p:sp>
        <p:nvSpPr>
          <p:cNvPr id="6" name="Shape 4"/>
          <p:cNvSpPr/>
          <p:nvPr/>
        </p:nvSpPr>
        <p:spPr>
          <a:xfrm>
            <a:off x="7104888" y="1444752"/>
            <a:ext cx="3017520" cy="237744"/>
          </a:xfrm>
          <a:prstGeom prst="roundRect">
            <a:avLst>
              <a:gd name="adj" fmla="val 50000"/>
            </a:avLst>
          </a:prstGeom>
          <a:solidFill>
            <a:srgbClr val="FDEAEA"/>
          </a:solidFill>
          <a:ln w="9525">
            <a:solidFill>
              <a:srgbClr val="F0B8B8"/>
            </a:solidFill>
            <a:prstDash val="solid"/>
          </a:ln>
        </p:spPr>
      </p:sp>
      <p:sp>
        <p:nvSpPr>
          <p:cNvPr id="7" name="Text 5"/>
          <p:cNvSpPr txBox="1"/>
          <p:nvPr/>
        </p:nvSpPr>
        <p:spPr>
          <a:xfrm>
            <a:off x="7104888" y="1444752"/>
            <a:ext cx="3017520" cy="237744"/>
          </a:xfrm>
          <a:prstGeom prst="rect">
            <a:avLst/>
          </a:prstGeom>
          <a:noFill/>
          <a:ln/>
        </p:spPr>
        <p:txBody>
          <a:bodyPr wrap="square" lIns="0" tIns="0" rIns="0" bIns="0" rtlCol="0" anchor="ctr"/>
          <a:lstStyle/>
          <a:p>
            <a:pPr algn="ctr" indent="0" marL="0">
              <a:buNone/>
            </a:pPr>
            <a:r>
              <a:rPr lang="en-US" sz="950" b="1" dirty="0">
                <a:solidFill>
                  <a:srgbClr val="A11B1B"/>
                </a:solidFill>
                <a:latin typeface="Calibri" pitchFamily="34" charset="0"/>
                <a:ea typeface="Calibri" pitchFamily="34" charset="-122"/>
                <a:cs typeface="Calibri" pitchFamily="34" charset="-120"/>
              </a:rPr>
              <a:t>WITH THE LINE CROSSED</a:t>
            </a:r>
            <a:endParaRPr lang="en-US" sz="950" dirty="0"/>
          </a:p>
        </p:txBody>
      </p:sp>
      <p:sp>
        <p:nvSpPr>
          <p:cNvPr id="8" name="Text 6"/>
          <p:cNvSpPr txBox="1"/>
          <p:nvPr/>
        </p:nvSpPr>
        <p:spPr>
          <a:xfrm>
            <a:off x="566928" y="1865376"/>
            <a:ext cx="2103120" cy="457200"/>
          </a:xfrm>
          <a:prstGeom prst="rect">
            <a:avLst/>
          </a:prstGeom>
          <a:noFill/>
          <a:ln/>
        </p:spPr>
        <p:txBody>
          <a:bodyPr wrap="square" lIns="0" tIns="0" rIns="0" bIns="0" rtlCol="0" anchor="t"/>
          <a:lstStyle/>
          <a:p>
            <a:pPr indent="0" marL="0">
              <a:buNone/>
            </a:pPr>
            <a:r>
              <a:rPr lang="en-US" sz="1300" b="1" dirty="0">
                <a:solidFill>
                  <a:srgbClr val="1E2761"/>
                </a:solidFill>
                <a:latin typeface="Cambria" pitchFamily="34" charset="0"/>
                <a:ea typeface="Cambria" pitchFamily="34" charset="-122"/>
                <a:cs typeface="Cambria" pitchFamily="34" charset="-120"/>
              </a:rPr>
              <a:t>Replaceability</a:t>
            </a:r>
            <a:endParaRPr lang="en-US" sz="1300" dirty="0"/>
          </a:p>
        </p:txBody>
      </p:sp>
      <p:sp>
        <p:nvSpPr>
          <p:cNvPr id="9" name="Shape 7"/>
          <p:cNvSpPr/>
          <p:nvPr/>
        </p:nvSpPr>
        <p:spPr>
          <a:xfrm>
            <a:off x="2852928" y="1828800"/>
            <a:ext cx="4069080" cy="658368"/>
          </a:xfrm>
          <a:prstGeom prst="roundRect">
            <a:avLst>
              <a:gd name="adj" fmla="val 11111"/>
            </a:avLst>
          </a:prstGeom>
          <a:solidFill>
            <a:srgbClr val="E6F4EA"/>
          </a:solidFill>
          <a:ln w="12700">
            <a:solidFill>
              <a:srgbClr val="A8D8B9"/>
            </a:solidFill>
            <a:prstDash val="solid"/>
          </a:ln>
        </p:spPr>
      </p:sp>
      <p:sp>
        <p:nvSpPr>
          <p:cNvPr id="10" name="Text 8"/>
          <p:cNvSpPr txBox="1"/>
          <p:nvPr/>
        </p:nvSpPr>
        <p:spPr>
          <a:xfrm>
            <a:off x="2926080" y="1828800"/>
            <a:ext cx="3922776" cy="658368"/>
          </a:xfrm>
          <a:prstGeom prst="rect">
            <a:avLst/>
          </a:prstGeom>
          <a:noFill/>
          <a:ln/>
        </p:spPr>
        <p:txBody>
          <a:bodyPr wrap="square" lIns="0" tIns="0" rIns="0" bIns="0" rtlCol="0" anchor="ctr"/>
          <a:lstStyle/>
          <a:p>
            <a:pPr algn="l" indent="0" marL="0">
              <a:buNone/>
            </a:pPr>
            <a:r>
              <a:rPr lang="en-US" sz="1050" dirty="0">
                <a:solidFill>
                  <a:srgbClr val="1C6B38"/>
                </a:solidFill>
                <a:latin typeface="Calibri" pitchFamily="34" charset="0"/>
                <a:ea typeface="Calibri" pitchFamily="34" charset="-122"/>
                <a:cs typeface="Calibri" pitchFamily="34" charset="-120"/>
              </a:rPr>
              <a:t>Swap the product, keep the contract.</a:t>
            </a:r>
            <a:endParaRPr lang="en-US" sz="1050" dirty="0"/>
          </a:p>
        </p:txBody>
      </p:sp>
      <p:sp>
        <p:nvSpPr>
          <p:cNvPr id="11" name="Shape 9"/>
          <p:cNvSpPr/>
          <p:nvPr/>
        </p:nvSpPr>
        <p:spPr>
          <a:xfrm>
            <a:off x="7104888" y="1828800"/>
            <a:ext cx="4519879" cy="658368"/>
          </a:xfrm>
          <a:prstGeom prst="roundRect">
            <a:avLst>
              <a:gd name="adj" fmla="val 11111"/>
            </a:avLst>
          </a:prstGeom>
          <a:solidFill>
            <a:srgbClr val="FDEAEA"/>
          </a:solidFill>
          <a:ln w="12700">
            <a:solidFill>
              <a:srgbClr val="F0B8B8"/>
            </a:solidFill>
            <a:prstDash val="solid"/>
          </a:ln>
        </p:spPr>
      </p:sp>
      <p:sp>
        <p:nvSpPr>
          <p:cNvPr id="12" name="Text 10"/>
          <p:cNvSpPr txBox="1"/>
          <p:nvPr/>
        </p:nvSpPr>
        <p:spPr>
          <a:xfrm>
            <a:off x="7178040" y="1828800"/>
            <a:ext cx="4373575" cy="658368"/>
          </a:xfrm>
          <a:prstGeom prst="rect">
            <a:avLst/>
          </a:prstGeom>
          <a:noFill/>
          <a:ln/>
        </p:spPr>
        <p:txBody>
          <a:bodyPr wrap="square" lIns="0" tIns="0" rIns="0" bIns="0" rtlCol="0" anchor="ctr"/>
          <a:lstStyle/>
          <a:p>
            <a:pPr algn="l" indent="0" marL="0">
              <a:buNone/>
            </a:pPr>
            <a:r>
              <a:rPr lang="en-US" sz="1050" dirty="0">
                <a:solidFill>
                  <a:srgbClr val="A11B1B"/>
                </a:solidFill>
                <a:latin typeface="Calibri" pitchFamily="34" charset="0"/>
                <a:ea typeface="Calibri" pitchFamily="34" charset="-122"/>
                <a:cs typeface="Calibri" pitchFamily="34" charset="-120"/>
              </a:rPr>
              <a:t>The product is embedded in every consumer, so replacing it is a programme rather than a project.</a:t>
            </a:r>
            <a:endParaRPr lang="en-US" sz="1050" dirty="0"/>
          </a:p>
        </p:txBody>
      </p:sp>
      <p:sp>
        <p:nvSpPr>
          <p:cNvPr id="13" name="Text 11"/>
          <p:cNvSpPr txBox="1"/>
          <p:nvPr/>
        </p:nvSpPr>
        <p:spPr>
          <a:xfrm>
            <a:off x="566928" y="2651760"/>
            <a:ext cx="2103120" cy="457200"/>
          </a:xfrm>
          <a:prstGeom prst="rect">
            <a:avLst/>
          </a:prstGeom>
          <a:noFill/>
          <a:ln/>
        </p:spPr>
        <p:txBody>
          <a:bodyPr wrap="square" lIns="0" tIns="0" rIns="0" bIns="0" rtlCol="0" anchor="t"/>
          <a:lstStyle/>
          <a:p>
            <a:pPr indent="0" marL="0">
              <a:buNone/>
            </a:pPr>
            <a:r>
              <a:rPr lang="en-US" sz="1300" b="1" dirty="0">
                <a:solidFill>
                  <a:srgbClr val="1E2761"/>
                </a:solidFill>
                <a:latin typeface="Cambria" pitchFamily="34" charset="0"/>
                <a:ea typeface="Cambria" pitchFamily="34" charset="-122"/>
                <a:cs typeface="Cambria" pitchFamily="34" charset="-120"/>
              </a:rPr>
              <a:t>Reuse</a:t>
            </a:r>
            <a:endParaRPr lang="en-US" sz="1300" dirty="0"/>
          </a:p>
        </p:txBody>
      </p:sp>
      <p:sp>
        <p:nvSpPr>
          <p:cNvPr id="14" name="Shape 12"/>
          <p:cNvSpPr/>
          <p:nvPr/>
        </p:nvSpPr>
        <p:spPr>
          <a:xfrm>
            <a:off x="2852928" y="2615184"/>
            <a:ext cx="4069080" cy="658368"/>
          </a:xfrm>
          <a:prstGeom prst="roundRect">
            <a:avLst>
              <a:gd name="adj" fmla="val 11111"/>
            </a:avLst>
          </a:prstGeom>
          <a:solidFill>
            <a:srgbClr val="E6F4EA"/>
          </a:solidFill>
          <a:ln w="12700">
            <a:solidFill>
              <a:srgbClr val="A8D8B9"/>
            </a:solidFill>
            <a:prstDash val="solid"/>
          </a:ln>
        </p:spPr>
      </p:sp>
      <p:sp>
        <p:nvSpPr>
          <p:cNvPr id="15" name="Text 13"/>
          <p:cNvSpPr txBox="1"/>
          <p:nvPr/>
        </p:nvSpPr>
        <p:spPr>
          <a:xfrm>
            <a:off x="2926080" y="2615184"/>
            <a:ext cx="3922776" cy="658368"/>
          </a:xfrm>
          <a:prstGeom prst="rect">
            <a:avLst/>
          </a:prstGeom>
          <a:noFill/>
          <a:ln/>
        </p:spPr>
        <p:txBody>
          <a:bodyPr wrap="square" lIns="0" tIns="0" rIns="0" bIns="0" rtlCol="0" anchor="ctr"/>
          <a:lstStyle/>
          <a:p>
            <a:pPr algn="l" indent="0" marL="0">
              <a:buNone/>
            </a:pPr>
            <a:r>
              <a:rPr lang="en-US" sz="1050" dirty="0">
                <a:solidFill>
                  <a:srgbClr val="1C6B38"/>
                </a:solidFill>
                <a:latin typeface="Calibri" pitchFamily="34" charset="0"/>
                <a:ea typeface="Calibri" pitchFamily="34" charset="-122"/>
                <a:cs typeface="Calibri" pitchFamily="34" charset="-120"/>
              </a:rPr>
              <a:t>Many consumers, one contract, no per-channel variation.</a:t>
            </a:r>
            <a:endParaRPr lang="en-US" sz="1050" dirty="0"/>
          </a:p>
        </p:txBody>
      </p:sp>
      <p:sp>
        <p:nvSpPr>
          <p:cNvPr id="16" name="Shape 14"/>
          <p:cNvSpPr/>
          <p:nvPr/>
        </p:nvSpPr>
        <p:spPr>
          <a:xfrm>
            <a:off x="7104888" y="2615184"/>
            <a:ext cx="4519879" cy="658368"/>
          </a:xfrm>
          <a:prstGeom prst="roundRect">
            <a:avLst>
              <a:gd name="adj" fmla="val 11111"/>
            </a:avLst>
          </a:prstGeom>
          <a:solidFill>
            <a:srgbClr val="FDEAEA"/>
          </a:solidFill>
          <a:ln w="12700">
            <a:solidFill>
              <a:srgbClr val="F0B8B8"/>
            </a:solidFill>
            <a:prstDash val="solid"/>
          </a:ln>
        </p:spPr>
      </p:sp>
      <p:sp>
        <p:nvSpPr>
          <p:cNvPr id="17" name="Text 15"/>
          <p:cNvSpPr txBox="1"/>
          <p:nvPr/>
        </p:nvSpPr>
        <p:spPr>
          <a:xfrm>
            <a:off x="7178040" y="2615184"/>
            <a:ext cx="4373575" cy="658368"/>
          </a:xfrm>
          <a:prstGeom prst="rect">
            <a:avLst/>
          </a:prstGeom>
          <a:noFill/>
          <a:ln/>
        </p:spPr>
        <p:txBody>
          <a:bodyPr wrap="square" lIns="0" tIns="0" rIns="0" bIns="0" rtlCol="0" anchor="ctr"/>
          <a:lstStyle/>
          <a:p>
            <a:pPr algn="l" indent="0" marL="0">
              <a:buNone/>
            </a:pPr>
            <a:r>
              <a:rPr lang="en-US" sz="1050" dirty="0">
                <a:solidFill>
                  <a:srgbClr val="A11B1B"/>
                </a:solidFill>
                <a:latin typeface="Calibri" pitchFamily="34" charset="0"/>
                <a:ea typeface="Calibri" pitchFamily="34" charset="-122"/>
                <a:cs typeface="Calibri" pitchFamily="34" charset="-120"/>
              </a:rPr>
              <a:t>Each consumer learns the product's model, so the same knowledge is bought several times over.</a:t>
            </a:r>
            <a:endParaRPr lang="en-US" sz="1050" dirty="0"/>
          </a:p>
        </p:txBody>
      </p:sp>
      <p:sp>
        <p:nvSpPr>
          <p:cNvPr id="18" name="Text 16"/>
          <p:cNvSpPr txBox="1"/>
          <p:nvPr/>
        </p:nvSpPr>
        <p:spPr>
          <a:xfrm>
            <a:off x="566928" y="3438144"/>
            <a:ext cx="2103120" cy="457200"/>
          </a:xfrm>
          <a:prstGeom prst="rect">
            <a:avLst/>
          </a:prstGeom>
          <a:noFill/>
          <a:ln/>
        </p:spPr>
        <p:txBody>
          <a:bodyPr wrap="square" lIns="0" tIns="0" rIns="0" bIns="0" rtlCol="0" anchor="t"/>
          <a:lstStyle/>
          <a:p>
            <a:pPr indent="0" marL="0">
              <a:buNone/>
            </a:pPr>
            <a:r>
              <a:rPr lang="en-US" sz="1300" b="1" dirty="0">
                <a:solidFill>
                  <a:srgbClr val="1E2761"/>
                </a:solidFill>
                <a:latin typeface="Cambria" pitchFamily="34" charset="0"/>
                <a:ea typeface="Cambria" pitchFamily="34" charset="-122"/>
                <a:cs typeface="Cambria" pitchFamily="34" charset="-120"/>
              </a:rPr>
              <a:t>Comparability</a:t>
            </a:r>
            <a:endParaRPr lang="en-US" sz="1300" dirty="0"/>
          </a:p>
        </p:txBody>
      </p:sp>
      <p:sp>
        <p:nvSpPr>
          <p:cNvPr id="19" name="Shape 17"/>
          <p:cNvSpPr/>
          <p:nvPr/>
        </p:nvSpPr>
        <p:spPr>
          <a:xfrm>
            <a:off x="2852928" y="3401568"/>
            <a:ext cx="4069080" cy="658368"/>
          </a:xfrm>
          <a:prstGeom prst="roundRect">
            <a:avLst>
              <a:gd name="adj" fmla="val 11111"/>
            </a:avLst>
          </a:prstGeom>
          <a:solidFill>
            <a:srgbClr val="E6F4EA"/>
          </a:solidFill>
          <a:ln w="12700">
            <a:solidFill>
              <a:srgbClr val="A8D8B9"/>
            </a:solidFill>
            <a:prstDash val="solid"/>
          </a:ln>
        </p:spPr>
      </p:sp>
      <p:sp>
        <p:nvSpPr>
          <p:cNvPr id="20" name="Text 18"/>
          <p:cNvSpPr txBox="1"/>
          <p:nvPr/>
        </p:nvSpPr>
        <p:spPr>
          <a:xfrm>
            <a:off x="2926080" y="3401568"/>
            <a:ext cx="3922776" cy="658368"/>
          </a:xfrm>
          <a:prstGeom prst="rect">
            <a:avLst/>
          </a:prstGeom>
          <a:noFill/>
          <a:ln/>
        </p:spPr>
        <p:txBody>
          <a:bodyPr wrap="square" lIns="0" tIns="0" rIns="0" bIns="0" rtlCol="0" anchor="ctr"/>
          <a:lstStyle/>
          <a:p>
            <a:pPr algn="l" indent="0" marL="0">
              <a:buNone/>
            </a:pPr>
            <a:r>
              <a:rPr lang="en-US" sz="1050" dirty="0">
                <a:solidFill>
                  <a:srgbClr val="1C6B38"/>
                </a:solidFill>
                <a:latin typeface="Calibri" pitchFamily="34" charset="0"/>
                <a:ea typeface="Calibri" pitchFamily="34" charset="-122"/>
                <a:cs typeface="Calibri" pitchFamily="34" charset="-120"/>
              </a:rPr>
              <a:t>Two service domains, or two banks, describe a capability the same way.</a:t>
            </a:r>
            <a:endParaRPr lang="en-US" sz="1050" dirty="0"/>
          </a:p>
        </p:txBody>
      </p:sp>
      <p:sp>
        <p:nvSpPr>
          <p:cNvPr id="21" name="Shape 19"/>
          <p:cNvSpPr/>
          <p:nvPr/>
        </p:nvSpPr>
        <p:spPr>
          <a:xfrm>
            <a:off x="7104888" y="3401568"/>
            <a:ext cx="4519879" cy="658368"/>
          </a:xfrm>
          <a:prstGeom prst="roundRect">
            <a:avLst>
              <a:gd name="adj" fmla="val 11111"/>
            </a:avLst>
          </a:prstGeom>
          <a:solidFill>
            <a:srgbClr val="FDEAEA"/>
          </a:solidFill>
          <a:ln w="12700">
            <a:solidFill>
              <a:srgbClr val="F0B8B8"/>
            </a:solidFill>
            <a:prstDash val="solid"/>
          </a:ln>
        </p:spPr>
      </p:sp>
      <p:sp>
        <p:nvSpPr>
          <p:cNvPr id="22" name="Text 20"/>
          <p:cNvSpPr txBox="1"/>
          <p:nvPr/>
        </p:nvSpPr>
        <p:spPr>
          <a:xfrm>
            <a:off x="7178040" y="3401568"/>
            <a:ext cx="4373575" cy="658368"/>
          </a:xfrm>
          <a:prstGeom prst="rect">
            <a:avLst/>
          </a:prstGeom>
          <a:noFill/>
          <a:ln/>
        </p:spPr>
        <p:txBody>
          <a:bodyPr wrap="square" lIns="0" tIns="0" rIns="0" bIns="0" rtlCol="0" anchor="ctr"/>
          <a:lstStyle/>
          <a:p>
            <a:pPr algn="l" indent="0" marL="0">
              <a:buNone/>
            </a:pPr>
            <a:r>
              <a:rPr lang="en-US" sz="1050" dirty="0">
                <a:solidFill>
                  <a:srgbClr val="A11B1B"/>
                </a:solidFill>
                <a:latin typeface="Calibri" pitchFamily="34" charset="0"/>
                <a:ea typeface="Calibri" pitchFamily="34" charset="-122"/>
                <a:cs typeface="Calibri" pitchFamily="34" charset="-120"/>
              </a:rPr>
              <a:t>Two domains backed by two products describe the same capability differently, and neither is wrong.</a:t>
            </a:r>
            <a:endParaRPr lang="en-US" sz="1050" dirty="0"/>
          </a:p>
        </p:txBody>
      </p:sp>
      <p:sp>
        <p:nvSpPr>
          <p:cNvPr id="23" name="Text 21"/>
          <p:cNvSpPr txBox="1"/>
          <p:nvPr/>
        </p:nvSpPr>
        <p:spPr>
          <a:xfrm>
            <a:off x="566928" y="4224528"/>
            <a:ext cx="2103120" cy="457200"/>
          </a:xfrm>
          <a:prstGeom prst="rect">
            <a:avLst/>
          </a:prstGeom>
          <a:noFill/>
          <a:ln/>
        </p:spPr>
        <p:txBody>
          <a:bodyPr wrap="square" lIns="0" tIns="0" rIns="0" bIns="0" rtlCol="0" anchor="t"/>
          <a:lstStyle/>
          <a:p>
            <a:pPr indent="0" marL="0">
              <a:buNone/>
            </a:pPr>
            <a:r>
              <a:rPr lang="en-US" sz="1300" b="1" dirty="0">
                <a:solidFill>
                  <a:srgbClr val="1E2761"/>
                </a:solidFill>
                <a:latin typeface="Cambria" pitchFamily="34" charset="0"/>
                <a:ea typeface="Cambria" pitchFamily="34" charset="-122"/>
                <a:cs typeface="Cambria" pitchFamily="34" charset="-120"/>
              </a:rPr>
              <a:t>Leverage</a:t>
            </a:r>
            <a:endParaRPr lang="en-US" sz="1300" dirty="0"/>
          </a:p>
        </p:txBody>
      </p:sp>
      <p:sp>
        <p:nvSpPr>
          <p:cNvPr id="24" name="Shape 22"/>
          <p:cNvSpPr/>
          <p:nvPr/>
        </p:nvSpPr>
        <p:spPr>
          <a:xfrm>
            <a:off x="2852928" y="4187952"/>
            <a:ext cx="4069080" cy="658368"/>
          </a:xfrm>
          <a:prstGeom prst="roundRect">
            <a:avLst>
              <a:gd name="adj" fmla="val 11111"/>
            </a:avLst>
          </a:prstGeom>
          <a:solidFill>
            <a:srgbClr val="E6F4EA"/>
          </a:solidFill>
          <a:ln w="12700">
            <a:solidFill>
              <a:srgbClr val="A8D8B9"/>
            </a:solidFill>
            <a:prstDash val="solid"/>
          </a:ln>
        </p:spPr>
      </p:sp>
      <p:sp>
        <p:nvSpPr>
          <p:cNvPr id="25" name="Text 23"/>
          <p:cNvSpPr txBox="1"/>
          <p:nvPr/>
        </p:nvSpPr>
        <p:spPr>
          <a:xfrm>
            <a:off x="2926080" y="4187952"/>
            <a:ext cx="3922776" cy="658368"/>
          </a:xfrm>
          <a:prstGeom prst="rect">
            <a:avLst/>
          </a:prstGeom>
          <a:noFill/>
          <a:ln/>
        </p:spPr>
        <p:txBody>
          <a:bodyPr wrap="square" lIns="0" tIns="0" rIns="0" bIns="0" rtlCol="0" anchor="ctr"/>
          <a:lstStyle/>
          <a:p>
            <a:pPr algn="l" indent="0" marL="0">
              <a:buNone/>
            </a:pPr>
            <a:r>
              <a:rPr lang="en-US" sz="1050" dirty="0">
                <a:solidFill>
                  <a:srgbClr val="1C6B38"/>
                </a:solidFill>
                <a:latin typeface="Calibri" pitchFamily="34" charset="0"/>
                <a:ea typeface="Calibri" pitchFamily="34" charset="-122"/>
                <a:cs typeface="Calibri" pitchFamily="34" charset="-120"/>
              </a:rPr>
              <a:t>The vendor's model is not a dependency you have to defend in a negotiation.</a:t>
            </a:r>
            <a:endParaRPr lang="en-US" sz="1050" dirty="0"/>
          </a:p>
        </p:txBody>
      </p:sp>
      <p:sp>
        <p:nvSpPr>
          <p:cNvPr id="26" name="Shape 24"/>
          <p:cNvSpPr/>
          <p:nvPr/>
        </p:nvSpPr>
        <p:spPr>
          <a:xfrm>
            <a:off x="7104888" y="4187952"/>
            <a:ext cx="4519879" cy="658368"/>
          </a:xfrm>
          <a:prstGeom prst="roundRect">
            <a:avLst>
              <a:gd name="adj" fmla="val 11111"/>
            </a:avLst>
          </a:prstGeom>
          <a:solidFill>
            <a:srgbClr val="FDEAEA"/>
          </a:solidFill>
          <a:ln w="12700">
            <a:solidFill>
              <a:srgbClr val="F0B8B8"/>
            </a:solidFill>
            <a:prstDash val="solid"/>
          </a:ln>
        </p:spPr>
      </p:sp>
      <p:sp>
        <p:nvSpPr>
          <p:cNvPr id="27" name="Text 25"/>
          <p:cNvSpPr txBox="1"/>
          <p:nvPr/>
        </p:nvSpPr>
        <p:spPr>
          <a:xfrm>
            <a:off x="7178040" y="4187952"/>
            <a:ext cx="4373575" cy="658368"/>
          </a:xfrm>
          <a:prstGeom prst="rect">
            <a:avLst/>
          </a:prstGeom>
          <a:noFill/>
          <a:ln/>
        </p:spPr>
        <p:txBody>
          <a:bodyPr wrap="square" lIns="0" tIns="0" rIns="0" bIns="0" rtlCol="0" anchor="ctr"/>
          <a:lstStyle/>
          <a:p>
            <a:pPr algn="l" indent="0" marL="0">
              <a:buNone/>
            </a:pPr>
            <a:r>
              <a:rPr lang="en-US" sz="1050" dirty="0">
                <a:solidFill>
                  <a:srgbClr val="A11B1B"/>
                </a:solidFill>
                <a:latin typeface="Calibri" pitchFamily="34" charset="0"/>
                <a:ea typeface="Calibri" pitchFamily="34" charset="-122"/>
                <a:cs typeface="Calibri" pitchFamily="34" charset="-120"/>
              </a:rPr>
              <a:t>The estate's shape is the vendor's asset, and they know it.</a:t>
            </a:r>
            <a:endParaRPr lang="en-US" sz="1050" dirty="0"/>
          </a:p>
        </p:txBody>
      </p:sp>
      <p:sp>
        <p:nvSpPr>
          <p:cNvPr id="28" name="Text 26"/>
          <p:cNvSpPr txBox="1"/>
          <p:nvPr/>
        </p:nvSpPr>
        <p:spPr>
          <a:xfrm>
            <a:off x="566928" y="5010912"/>
            <a:ext cx="2103120" cy="457200"/>
          </a:xfrm>
          <a:prstGeom prst="rect">
            <a:avLst/>
          </a:prstGeom>
          <a:noFill/>
          <a:ln/>
        </p:spPr>
        <p:txBody>
          <a:bodyPr wrap="square" lIns="0" tIns="0" rIns="0" bIns="0" rtlCol="0" anchor="t"/>
          <a:lstStyle/>
          <a:p>
            <a:pPr indent="0" marL="0">
              <a:buNone/>
            </a:pPr>
            <a:r>
              <a:rPr lang="en-US" sz="1300" b="1" dirty="0">
                <a:solidFill>
                  <a:srgbClr val="1E2761"/>
                </a:solidFill>
                <a:latin typeface="Cambria" pitchFamily="34" charset="0"/>
                <a:ea typeface="Cambria" pitchFamily="34" charset="-122"/>
                <a:cs typeface="Cambria" pitchFamily="34" charset="-120"/>
              </a:rPr>
              <a:t>Governance</a:t>
            </a:r>
            <a:endParaRPr lang="en-US" sz="1300" dirty="0"/>
          </a:p>
        </p:txBody>
      </p:sp>
      <p:sp>
        <p:nvSpPr>
          <p:cNvPr id="29" name="Shape 27"/>
          <p:cNvSpPr/>
          <p:nvPr/>
        </p:nvSpPr>
        <p:spPr>
          <a:xfrm>
            <a:off x="2852928" y="4974336"/>
            <a:ext cx="4069080" cy="658368"/>
          </a:xfrm>
          <a:prstGeom prst="roundRect">
            <a:avLst>
              <a:gd name="adj" fmla="val 11111"/>
            </a:avLst>
          </a:prstGeom>
          <a:solidFill>
            <a:srgbClr val="E6F4EA"/>
          </a:solidFill>
          <a:ln w="12700">
            <a:solidFill>
              <a:srgbClr val="A8D8B9"/>
            </a:solidFill>
            <a:prstDash val="solid"/>
          </a:ln>
        </p:spPr>
      </p:sp>
      <p:sp>
        <p:nvSpPr>
          <p:cNvPr id="30" name="Text 28"/>
          <p:cNvSpPr txBox="1"/>
          <p:nvPr/>
        </p:nvSpPr>
        <p:spPr>
          <a:xfrm>
            <a:off x="2926080" y="4974336"/>
            <a:ext cx="3922776" cy="658368"/>
          </a:xfrm>
          <a:prstGeom prst="rect">
            <a:avLst/>
          </a:prstGeom>
          <a:noFill/>
          <a:ln/>
        </p:spPr>
        <p:txBody>
          <a:bodyPr wrap="square" lIns="0" tIns="0" rIns="0" bIns="0" rtlCol="0" anchor="ctr"/>
          <a:lstStyle/>
          <a:p>
            <a:pPr algn="l" indent="0" marL="0">
              <a:buNone/>
            </a:pPr>
            <a:r>
              <a:rPr lang="en-US" sz="1050" dirty="0">
                <a:solidFill>
                  <a:srgbClr val="1C6B38"/>
                </a:solidFill>
                <a:latin typeface="Calibri" pitchFamily="34" charset="0"/>
                <a:ea typeface="Calibri" pitchFamily="34" charset="-122"/>
                <a:cs typeface="Calibri" pitchFamily="34" charset="-120"/>
              </a:rPr>
              <a:t>A review of the published surface means something.</a:t>
            </a:r>
            <a:endParaRPr lang="en-US" sz="1050" dirty="0"/>
          </a:p>
        </p:txBody>
      </p:sp>
      <p:sp>
        <p:nvSpPr>
          <p:cNvPr id="31" name="Shape 29"/>
          <p:cNvSpPr/>
          <p:nvPr/>
        </p:nvSpPr>
        <p:spPr>
          <a:xfrm>
            <a:off x="7104888" y="4974336"/>
            <a:ext cx="4519879" cy="658368"/>
          </a:xfrm>
          <a:prstGeom prst="roundRect">
            <a:avLst>
              <a:gd name="adj" fmla="val 11111"/>
            </a:avLst>
          </a:prstGeom>
          <a:solidFill>
            <a:srgbClr val="FDEAEA"/>
          </a:solidFill>
          <a:ln w="12700">
            <a:solidFill>
              <a:srgbClr val="F0B8B8"/>
            </a:solidFill>
            <a:prstDash val="solid"/>
          </a:ln>
        </p:spPr>
      </p:sp>
      <p:sp>
        <p:nvSpPr>
          <p:cNvPr id="32" name="Text 30"/>
          <p:cNvSpPr txBox="1"/>
          <p:nvPr/>
        </p:nvSpPr>
        <p:spPr>
          <a:xfrm>
            <a:off x="7178040" y="4974336"/>
            <a:ext cx="4373575" cy="658368"/>
          </a:xfrm>
          <a:prstGeom prst="rect">
            <a:avLst/>
          </a:prstGeom>
          <a:noFill/>
          <a:ln/>
        </p:spPr>
        <p:txBody>
          <a:bodyPr wrap="square" lIns="0" tIns="0" rIns="0" bIns="0" rtlCol="0" anchor="ctr"/>
          <a:lstStyle/>
          <a:p>
            <a:pPr algn="l" indent="0" marL="0">
              <a:buNone/>
            </a:pPr>
            <a:r>
              <a:rPr lang="en-US" sz="1050" dirty="0">
                <a:solidFill>
                  <a:srgbClr val="A11B1B"/>
                </a:solidFill>
                <a:latin typeface="Calibri" pitchFamily="34" charset="0"/>
                <a:ea typeface="Calibri" pitchFamily="34" charset="-122"/>
                <a:cs typeface="Calibri" pitchFamily="34" charset="-120"/>
              </a:rPr>
              <a:t>A review approves a rename of somebody else's design decisions.</a:t>
            </a:r>
            <a:endParaRPr lang="en-US" sz="1050" dirty="0"/>
          </a:p>
        </p:txBody>
      </p:sp>
      <p:sp>
        <p:nvSpPr>
          <p:cNvPr id="33" name="Text 31"/>
          <p:cNvSpPr txBox="1"/>
          <p:nvPr/>
        </p:nvSpPr>
        <p:spPr>
          <a:xfrm>
            <a:off x="566928" y="6455664"/>
            <a:ext cx="5486400" cy="256032"/>
          </a:xfrm>
          <a:prstGeom prst="rect">
            <a:avLst/>
          </a:prstGeom>
          <a:noFill/>
          <a:ln/>
        </p:spPr>
        <p:txBody>
          <a:bodyPr wrap="square" lIns="0" tIns="0" rIns="0" bIns="0" rtlCol="0" anchor="ctr"/>
          <a:lstStyle/>
          <a:p>
            <a:pPr indent="0" marL="0">
              <a:buNone/>
            </a:pPr>
            <a:r>
              <a:rPr lang="en-US" sz="850" dirty="0">
                <a:solidFill>
                  <a:srgbClr val="8A97A6"/>
                </a:solidFill>
                <a:latin typeface="Calibri" pitchFamily="34" charset="0"/>
                <a:ea typeface="Calibri" pitchFamily="34" charset="-122"/>
                <a:cs typeface="Calibri" pitchFamily="34" charset="-120"/>
              </a:rPr>
              <a:t>The BIAN interface and the System of Record  ·  CC&amp;C Solutions</a:t>
            </a:r>
            <a:endParaRPr lang="en-US" sz="850" dirty="0"/>
          </a:p>
        </p:txBody>
      </p:sp>
      <p:sp>
        <p:nvSpPr>
          <p:cNvPr id="34" name="Text 32"/>
          <p:cNvSpPr txBox="1"/>
          <p:nvPr/>
        </p:nvSpPr>
        <p:spPr>
          <a:xfrm>
            <a:off x="11076127" y="6455664"/>
            <a:ext cx="548640" cy="256032"/>
          </a:xfrm>
          <a:prstGeom prst="rect">
            <a:avLst/>
          </a:prstGeom>
          <a:noFill/>
          <a:ln/>
        </p:spPr>
        <p:txBody>
          <a:bodyPr wrap="square" lIns="0" tIns="0" rIns="0" bIns="0" rtlCol="0" anchor="ctr"/>
          <a:lstStyle/>
          <a:p>
            <a:pPr algn="r" indent="0" marL="0">
              <a:buNone/>
            </a:pPr>
            <a:r>
              <a:rPr lang="en-US" sz="900" dirty="0">
                <a:solidFill>
                  <a:srgbClr val="8A97A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713232"/>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Six questions a reviewer can actually ask</a:t>
            </a:r>
            <a:endParaRPr lang="en-US" sz="3400" dirty="0"/>
          </a:p>
        </p:txBody>
      </p:sp>
      <p:sp>
        <p:nvSpPr>
          <p:cNvPr id="3" name="Text 1"/>
          <p:cNvSpPr txBox="1"/>
          <p:nvPr/>
        </p:nvSpPr>
        <p:spPr>
          <a:xfrm>
            <a:off x="566928" y="1115568"/>
            <a:ext cx="11057839" cy="384048"/>
          </a:xfrm>
          <a:prstGeom prst="rect">
            <a:avLst/>
          </a:prstGeom>
          <a:noFill/>
          <a:ln/>
        </p:spPr>
        <p:txBody>
          <a:bodyPr wrap="square" lIns="0" tIns="0" rIns="0" bIns="0" rtlCol="0" anchor="t"/>
          <a:lstStyle/>
          <a:p>
            <a:pPr indent="0" marL="0">
              <a:buNone/>
            </a:pPr>
            <a:r>
              <a:rPr lang="en-US" sz="1400" dirty="0">
                <a:solidFill>
                  <a:srgbClr val="5C6A7A"/>
                </a:solidFill>
                <a:latin typeface="Calibri" pitchFamily="34" charset="0"/>
                <a:ea typeface="Calibri" pitchFamily="34" charset="-122"/>
                <a:cs typeface="Calibri" pitchFamily="34" charset="-120"/>
              </a:rPr>
              <a:t>Every yes is a place the product has reached through the contract.</a:t>
            </a:r>
            <a:endParaRPr lang="en-US" sz="1400" dirty="0"/>
          </a:p>
        </p:txBody>
      </p:sp>
      <p:sp>
        <p:nvSpPr>
          <p:cNvPr id="4" name="Shape 2"/>
          <p:cNvSpPr/>
          <p:nvPr/>
        </p:nvSpPr>
        <p:spPr>
          <a:xfrm>
            <a:off x="566928" y="1938528"/>
            <a:ext cx="365760" cy="365760"/>
          </a:xfrm>
          <a:prstGeom prst="ellipse">
            <a:avLst/>
          </a:prstGeom>
          <a:solidFill>
            <a:srgbClr val="CADCFC"/>
          </a:solidFill>
          <a:ln w="12700">
            <a:solidFill>
              <a:srgbClr val="CADCFC"/>
            </a:solidFill>
            <a:prstDash val="solid"/>
          </a:ln>
        </p:spPr>
      </p:sp>
      <p:sp>
        <p:nvSpPr>
          <p:cNvPr id="5" name="Text 3"/>
          <p:cNvSpPr txBox="1"/>
          <p:nvPr/>
        </p:nvSpPr>
        <p:spPr>
          <a:xfrm>
            <a:off x="566928" y="1938528"/>
            <a:ext cx="365760" cy="36576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1</a:t>
            </a:r>
            <a:endParaRPr lang="en-US" sz="1250" dirty="0"/>
          </a:p>
        </p:txBody>
      </p:sp>
      <p:sp>
        <p:nvSpPr>
          <p:cNvPr id="6" name="Shape 4"/>
          <p:cNvSpPr/>
          <p:nvPr/>
        </p:nvSpPr>
        <p:spPr>
          <a:xfrm>
            <a:off x="1060704" y="1847088"/>
            <a:ext cx="7589520" cy="548640"/>
          </a:xfrm>
          <a:prstGeom prst="roundRect">
            <a:avLst>
              <a:gd name="adj" fmla="val 13333"/>
            </a:avLst>
          </a:prstGeom>
          <a:solidFill>
            <a:srgbClr val="FFFFFF"/>
          </a:solidFill>
          <a:ln w="12700">
            <a:solidFill>
              <a:srgbClr val="E2E8F1"/>
            </a:solidFill>
            <a:prstDash val="solid"/>
          </a:ln>
        </p:spPr>
      </p:sp>
      <p:sp>
        <p:nvSpPr>
          <p:cNvPr id="7" name="Text 5"/>
          <p:cNvSpPr txBox="1"/>
          <p:nvPr/>
        </p:nvSpPr>
        <p:spPr>
          <a:xfrm>
            <a:off x="1133856" y="1847088"/>
            <a:ext cx="7443216" cy="548640"/>
          </a:xfrm>
          <a:prstGeom prst="rect">
            <a:avLst/>
          </a:prstGeom>
          <a:noFill/>
          <a:ln/>
        </p:spPr>
        <p:txBody>
          <a:bodyPr wrap="square" lIns="0" tIns="0" rIns="0" bIns="0" rtlCol="0" anchor="ctr"/>
          <a:lstStyle/>
          <a:p>
            <a:pPr algn="l" indent="0" marL="0">
              <a:buNone/>
            </a:pPr>
            <a:r>
              <a:rPr lang="en-US" sz="1200" dirty="0">
                <a:solidFill>
                  <a:srgbClr val="16202C"/>
                </a:solidFill>
                <a:latin typeface="Calibri" pitchFamily="34" charset="0"/>
                <a:ea typeface="Calibri" pitchFamily="34" charset="-122"/>
                <a:cs typeface="Calibri" pitchFamily="34" charset="-120"/>
              </a:rPr>
              <a:t>Does any published name appear in the vendor's documentation?</a:t>
            </a:r>
            <a:endParaRPr lang="en-US" sz="1200" dirty="0"/>
          </a:p>
        </p:txBody>
      </p:sp>
      <p:sp>
        <p:nvSpPr>
          <p:cNvPr id="8" name="Shape 6"/>
          <p:cNvSpPr/>
          <p:nvPr/>
        </p:nvSpPr>
        <p:spPr>
          <a:xfrm>
            <a:off x="8796528" y="1847088"/>
            <a:ext cx="2828239" cy="548640"/>
          </a:xfrm>
          <a:prstGeom prst="roundRect">
            <a:avLst>
              <a:gd name="adj" fmla="val 13333"/>
            </a:avLst>
          </a:prstGeom>
          <a:solidFill>
            <a:srgbClr val="F6EFE2"/>
          </a:solidFill>
          <a:ln w="12700">
            <a:solidFill>
              <a:srgbClr val="DCC79E"/>
            </a:solidFill>
            <a:prstDash val="solid"/>
          </a:ln>
        </p:spPr>
      </p:sp>
      <p:sp>
        <p:nvSpPr>
          <p:cNvPr id="9" name="Text 7"/>
          <p:cNvSpPr txBox="1"/>
          <p:nvPr/>
        </p:nvSpPr>
        <p:spPr>
          <a:xfrm>
            <a:off x="8869680" y="1847088"/>
            <a:ext cx="2681935" cy="548640"/>
          </a:xfrm>
          <a:prstGeom prst="rect">
            <a:avLst/>
          </a:prstGeom>
          <a:noFill/>
          <a:ln/>
        </p:spPr>
        <p:txBody>
          <a:bodyPr wrap="square" lIns="0" tIns="0" rIns="0" bIns="0" rtlCol="0" anchor="ctr"/>
          <a:lstStyle/>
          <a:p>
            <a:pPr algn="ctr" indent="0" marL="0">
              <a:buNone/>
            </a:pPr>
            <a:r>
              <a:rPr lang="en-US" sz="1050" b="1" dirty="0">
                <a:solidFill>
                  <a:srgbClr val="6E4B1F"/>
                </a:solidFill>
                <a:latin typeface="Calibri" pitchFamily="34" charset="0"/>
                <a:ea typeface="Calibri" pitchFamily="34" charset="-122"/>
                <a:cs typeface="Calibri" pitchFamily="34" charset="-120"/>
              </a:rPr>
              <a:t>22 found</a:t>
            </a:r>
            <a:endParaRPr lang="en-US" sz="1050" dirty="0"/>
          </a:p>
        </p:txBody>
      </p:sp>
      <p:sp>
        <p:nvSpPr>
          <p:cNvPr id="10" name="Shape 8"/>
          <p:cNvSpPr/>
          <p:nvPr/>
        </p:nvSpPr>
        <p:spPr>
          <a:xfrm>
            <a:off x="566928" y="2596896"/>
            <a:ext cx="365760" cy="365760"/>
          </a:xfrm>
          <a:prstGeom prst="ellipse">
            <a:avLst/>
          </a:prstGeom>
          <a:solidFill>
            <a:srgbClr val="CADCFC"/>
          </a:solidFill>
          <a:ln w="12700">
            <a:solidFill>
              <a:srgbClr val="CADCFC"/>
            </a:solidFill>
            <a:prstDash val="solid"/>
          </a:ln>
        </p:spPr>
      </p:sp>
      <p:sp>
        <p:nvSpPr>
          <p:cNvPr id="11" name="Text 9"/>
          <p:cNvSpPr txBox="1"/>
          <p:nvPr/>
        </p:nvSpPr>
        <p:spPr>
          <a:xfrm>
            <a:off x="566928" y="2596896"/>
            <a:ext cx="365760" cy="36576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2</a:t>
            </a:r>
            <a:endParaRPr lang="en-US" sz="1250" dirty="0"/>
          </a:p>
        </p:txBody>
      </p:sp>
      <p:sp>
        <p:nvSpPr>
          <p:cNvPr id="12" name="Shape 10"/>
          <p:cNvSpPr/>
          <p:nvPr/>
        </p:nvSpPr>
        <p:spPr>
          <a:xfrm>
            <a:off x="1060704" y="2505456"/>
            <a:ext cx="7589520" cy="548640"/>
          </a:xfrm>
          <a:prstGeom prst="roundRect">
            <a:avLst>
              <a:gd name="adj" fmla="val 13333"/>
            </a:avLst>
          </a:prstGeom>
          <a:solidFill>
            <a:srgbClr val="F4F7FB"/>
          </a:solidFill>
          <a:ln w="12700">
            <a:solidFill>
              <a:srgbClr val="E2E8F1"/>
            </a:solidFill>
            <a:prstDash val="solid"/>
          </a:ln>
        </p:spPr>
      </p:sp>
      <p:sp>
        <p:nvSpPr>
          <p:cNvPr id="13" name="Text 11"/>
          <p:cNvSpPr txBox="1"/>
          <p:nvPr/>
        </p:nvSpPr>
        <p:spPr>
          <a:xfrm>
            <a:off x="1133856" y="2505456"/>
            <a:ext cx="7443216" cy="548640"/>
          </a:xfrm>
          <a:prstGeom prst="rect">
            <a:avLst/>
          </a:prstGeom>
          <a:noFill/>
          <a:ln/>
        </p:spPr>
        <p:txBody>
          <a:bodyPr wrap="square" lIns="0" tIns="0" rIns="0" bIns="0" rtlCol="0" anchor="ctr"/>
          <a:lstStyle/>
          <a:p>
            <a:pPr algn="l" indent="0" marL="0">
              <a:buNone/>
            </a:pPr>
            <a:r>
              <a:rPr lang="en-US" sz="1200" dirty="0">
                <a:solidFill>
                  <a:srgbClr val="16202C"/>
                </a:solidFill>
                <a:latin typeface="Calibri" pitchFamily="34" charset="0"/>
                <a:ea typeface="Calibri" pitchFamily="34" charset="-122"/>
                <a:cs typeface="Calibri" pitchFamily="34" charset="-120"/>
              </a:rPr>
              <a:t>Does the nesting mirror the vendor's payload?</a:t>
            </a:r>
            <a:endParaRPr lang="en-US" sz="1200" dirty="0"/>
          </a:p>
        </p:txBody>
      </p:sp>
      <p:sp>
        <p:nvSpPr>
          <p:cNvPr id="14" name="Shape 12"/>
          <p:cNvSpPr/>
          <p:nvPr/>
        </p:nvSpPr>
        <p:spPr>
          <a:xfrm>
            <a:off x="8796528" y="2505456"/>
            <a:ext cx="2828239" cy="548640"/>
          </a:xfrm>
          <a:prstGeom prst="roundRect">
            <a:avLst>
              <a:gd name="adj" fmla="val 13333"/>
            </a:avLst>
          </a:prstGeom>
          <a:solidFill>
            <a:srgbClr val="F6EFE2"/>
          </a:solidFill>
          <a:ln w="12700">
            <a:solidFill>
              <a:srgbClr val="DCC79E"/>
            </a:solidFill>
            <a:prstDash val="solid"/>
          </a:ln>
        </p:spPr>
      </p:sp>
      <p:sp>
        <p:nvSpPr>
          <p:cNvPr id="15" name="Text 13"/>
          <p:cNvSpPr txBox="1"/>
          <p:nvPr/>
        </p:nvSpPr>
        <p:spPr>
          <a:xfrm>
            <a:off x="8869680" y="2505456"/>
            <a:ext cx="2681935" cy="548640"/>
          </a:xfrm>
          <a:prstGeom prst="rect">
            <a:avLst/>
          </a:prstGeom>
          <a:noFill/>
          <a:ln/>
        </p:spPr>
        <p:txBody>
          <a:bodyPr wrap="square" lIns="0" tIns="0" rIns="0" bIns="0" rtlCol="0" anchor="ctr"/>
          <a:lstStyle/>
          <a:p>
            <a:pPr algn="ctr" indent="0" marL="0">
              <a:buNone/>
            </a:pPr>
            <a:r>
              <a:rPr lang="en-US" sz="1050" b="1" dirty="0">
                <a:solidFill>
                  <a:srgbClr val="6E4B1F"/>
                </a:solidFill>
                <a:latin typeface="Calibri" pitchFamily="34" charset="0"/>
                <a:ea typeface="Calibri" pitchFamily="34" charset="-122"/>
                <a:cs typeface="Calibri" pitchFamily="34" charset="-120"/>
              </a:rPr>
              <a:t>95 found</a:t>
            </a:r>
            <a:endParaRPr lang="en-US" sz="1050" dirty="0"/>
          </a:p>
        </p:txBody>
      </p:sp>
      <p:sp>
        <p:nvSpPr>
          <p:cNvPr id="16" name="Shape 14"/>
          <p:cNvSpPr/>
          <p:nvPr/>
        </p:nvSpPr>
        <p:spPr>
          <a:xfrm>
            <a:off x="566928" y="3255264"/>
            <a:ext cx="365760" cy="365760"/>
          </a:xfrm>
          <a:prstGeom prst="ellipse">
            <a:avLst/>
          </a:prstGeom>
          <a:solidFill>
            <a:srgbClr val="CADCFC"/>
          </a:solidFill>
          <a:ln w="12700">
            <a:solidFill>
              <a:srgbClr val="CADCFC"/>
            </a:solidFill>
            <a:prstDash val="solid"/>
          </a:ln>
        </p:spPr>
      </p:sp>
      <p:sp>
        <p:nvSpPr>
          <p:cNvPr id="17" name="Text 15"/>
          <p:cNvSpPr txBox="1"/>
          <p:nvPr/>
        </p:nvSpPr>
        <p:spPr>
          <a:xfrm>
            <a:off x="566928" y="3255264"/>
            <a:ext cx="365760" cy="36576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3</a:t>
            </a:r>
            <a:endParaRPr lang="en-US" sz="1250" dirty="0"/>
          </a:p>
        </p:txBody>
      </p:sp>
      <p:sp>
        <p:nvSpPr>
          <p:cNvPr id="18" name="Shape 16"/>
          <p:cNvSpPr/>
          <p:nvPr/>
        </p:nvSpPr>
        <p:spPr>
          <a:xfrm>
            <a:off x="1060704" y="3163824"/>
            <a:ext cx="7589520" cy="548640"/>
          </a:xfrm>
          <a:prstGeom prst="roundRect">
            <a:avLst>
              <a:gd name="adj" fmla="val 13333"/>
            </a:avLst>
          </a:prstGeom>
          <a:solidFill>
            <a:srgbClr val="FFFFFF"/>
          </a:solidFill>
          <a:ln w="12700">
            <a:solidFill>
              <a:srgbClr val="E2E8F1"/>
            </a:solidFill>
            <a:prstDash val="solid"/>
          </a:ln>
        </p:spPr>
      </p:sp>
      <p:sp>
        <p:nvSpPr>
          <p:cNvPr id="19" name="Text 17"/>
          <p:cNvSpPr txBox="1"/>
          <p:nvPr/>
        </p:nvSpPr>
        <p:spPr>
          <a:xfrm>
            <a:off x="1133856" y="3163824"/>
            <a:ext cx="7443216" cy="548640"/>
          </a:xfrm>
          <a:prstGeom prst="rect">
            <a:avLst/>
          </a:prstGeom>
          <a:noFill/>
          <a:ln/>
        </p:spPr>
        <p:txBody>
          <a:bodyPr wrap="square" lIns="0" tIns="0" rIns="0" bIns="0" rtlCol="0" anchor="ctr"/>
          <a:lstStyle/>
          <a:p>
            <a:pPr algn="l" indent="0" marL="0">
              <a:buNone/>
            </a:pPr>
            <a:r>
              <a:rPr lang="en-US" sz="1200" dirty="0">
                <a:solidFill>
                  <a:srgbClr val="16202C"/>
                </a:solidFill>
                <a:latin typeface="Calibri" pitchFamily="34" charset="0"/>
                <a:ea typeface="Calibri" pitchFamily="34" charset="-122"/>
                <a:cs typeface="Calibri" pitchFamily="34" charset="-120"/>
              </a:rPr>
              <a:t>Does the operation count match the vendor's call count?</a:t>
            </a:r>
            <a:endParaRPr lang="en-US" sz="1200" dirty="0"/>
          </a:p>
        </p:txBody>
      </p:sp>
      <p:sp>
        <p:nvSpPr>
          <p:cNvPr id="20" name="Shape 18"/>
          <p:cNvSpPr/>
          <p:nvPr/>
        </p:nvSpPr>
        <p:spPr>
          <a:xfrm>
            <a:off x="8796528" y="3163824"/>
            <a:ext cx="2828239" cy="548640"/>
          </a:xfrm>
          <a:prstGeom prst="roundRect">
            <a:avLst>
              <a:gd name="adj" fmla="val 13333"/>
            </a:avLst>
          </a:prstGeom>
          <a:solidFill>
            <a:srgbClr val="F6EFE2"/>
          </a:solidFill>
          <a:ln w="12700">
            <a:solidFill>
              <a:srgbClr val="DCC79E"/>
            </a:solidFill>
            <a:prstDash val="solid"/>
          </a:ln>
        </p:spPr>
      </p:sp>
      <p:sp>
        <p:nvSpPr>
          <p:cNvPr id="21" name="Text 19"/>
          <p:cNvSpPr txBox="1"/>
          <p:nvPr/>
        </p:nvSpPr>
        <p:spPr>
          <a:xfrm>
            <a:off x="8869680" y="3163824"/>
            <a:ext cx="2681935" cy="548640"/>
          </a:xfrm>
          <a:prstGeom prst="rect">
            <a:avLst/>
          </a:prstGeom>
          <a:noFill/>
          <a:ln/>
        </p:spPr>
        <p:txBody>
          <a:bodyPr wrap="square" lIns="0" tIns="0" rIns="0" bIns="0" rtlCol="0" anchor="ctr"/>
          <a:lstStyle/>
          <a:p>
            <a:pPr algn="ctr" indent="0" marL="0">
              <a:buNone/>
            </a:pPr>
            <a:r>
              <a:rPr lang="en-US" sz="1050" b="1" dirty="0">
                <a:solidFill>
                  <a:srgbClr val="6E4B1F"/>
                </a:solidFill>
                <a:latin typeface="Calibri" pitchFamily="34" charset="0"/>
                <a:ea typeface="Calibri" pitchFamily="34" charset="-122"/>
                <a:cs typeface="Calibri" pitchFamily="34" charset="-120"/>
              </a:rPr>
              <a:t>3 found</a:t>
            </a:r>
            <a:endParaRPr lang="en-US" sz="1050" dirty="0"/>
          </a:p>
        </p:txBody>
      </p:sp>
      <p:sp>
        <p:nvSpPr>
          <p:cNvPr id="22" name="Shape 20"/>
          <p:cNvSpPr/>
          <p:nvPr/>
        </p:nvSpPr>
        <p:spPr>
          <a:xfrm>
            <a:off x="566928" y="3913632"/>
            <a:ext cx="365760" cy="365760"/>
          </a:xfrm>
          <a:prstGeom prst="ellipse">
            <a:avLst/>
          </a:prstGeom>
          <a:solidFill>
            <a:srgbClr val="CADCFC"/>
          </a:solidFill>
          <a:ln w="12700">
            <a:solidFill>
              <a:srgbClr val="CADCFC"/>
            </a:solidFill>
            <a:prstDash val="solid"/>
          </a:ln>
        </p:spPr>
      </p:sp>
      <p:sp>
        <p:nvSpPr>
          <p:cNvPr id="23" name="Text 21"/>
          <p:cNvSpPr txBox="1"/>
          <p:nvPr/>
        </p:nvSpPr>
        <p:spPr>
          <a:xfrm>
            <a:off x="566928" y="3913632"/>
            <a:ext cx="365760" cy="36576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4</a:t>
            </a:r>
            <a:endParaRPr lang="en-US" sz="1250" dirty="0"/>
          </a:p>
        </p:txBody>
      </p:sp>
      <p:sp>
        <p:nvSpPr>
          <p:cNvPr id="24" name="Shape 22"/>
          <p:cNvSpPr/>
          <p:nvPr/>
        </p:nvSpPr>
        <p:spPr>
          <a:xfrm>
            <a:off x="1060704" y="3822192"/>
            <a:ext cx="7589520" cy="548640"/>
          </a:xfrm>
          <a:prstGeom prst="roundRect">
            <a:avLst>
              <a:gd name="adj" fmla="val 13333"/>
            </a:avLst>
          </a:prstGeom>
          <a:solidFill>
            <a:srgbClr val="F4F7FB"/>
          </a:solidFill>
          <a:ln w="12700">
            <a:solidFill>
              <a:srgbClr val="E2E8F1"/>
            </a:solidFill>
            <a:prstDash val="solid"/>
          </a:ln>
        </p:spPr>
      </p:sp>
      <p:sp>
        <p:nvSpPr>
          <p:cNvPr id="25" name="Text 23"/>
          <p:cNvSpPr txBox="1"/>
          <p:nvPr/>
        </p:nvSpPr>
        <p:spPr>
          <a:xfrm>
            <a:off x="1133856" y="3822192"/>
            <a:ext cx="7443216" cy="548640"/>
          </a:xfrm>
          <a:prstGeom prst="rect">
            <a:avLst/>
          </a:prstGeom>
          <a:noFill/>
          <a:ln/>
        </p:spPr>
        <p:txBody>
          <a:bodyPr wrap="square" lIns="0" tIns="0" rIns="0" bIns="0" rtlCol="0" anchor="ctr"/>
          <a:lstStyle/>
          <a:p>
            <a:pPr algn="l" indent="0" marL="0">
              <a:buNone/>
            </a:pPr>
            <a:r>
              <a:rPr lang="en-US" sz="1200" dirty="0">
                <a:solidFill>
                  <a:srgbClr val="16202C"/>
                </a:solidFill>
                <a:latin typeface="Calibri" pitchFamily="34" charset="0"/>
                <a:ea typeface="Calibri" pitchFamily="34" charset="-122"/>
                <a:cs typeface="Calibri" pitchFamily="34" charset="-120"/>
              </a:rPr>
              <a:t>Does an HTTP verb follow the vendor's method rather than the action term?</a:t>
            </a:r>
            <a:endParaRPr lang="en-US" sz="1200" dirty="0"/>
          </a:p>
        </p:txBody>
      </p:sp>
      <p:sp>
        <p:nvSpPr>
          <p:cNvPr id="26" name="Shape 24"/>
          <p:cNvSpPr/>
          <p:nvPr/>
        </p:nvSpPr>
        <p:spPr>
          <a:xfrm>
            <a:off x="8796528" y="3822192"/>
            <a:ext cx="2828239" cy="548640"/>
          </a:xfrm>
          <a:prstGeom prst="roundRect">
            <a:avLst>
              <a:gd name="adj" fmla="val 13333"/>
            </a:avLst>
          </a:prstGeom>
          <a:solidFill>
            <a:srgbClr val="F6EFE2"/>
          </a:solidFill>
          <a:ln w="12700">
            <a:solidFill>
              <a:srgbClr val="DCC79E"/>
            </a:solidFill>
            <a:prstDash val="solid"/>
          </a:ln>
        </p:spPr>
      </p:sp>
      <p:sp>
        <p:nvSpPr>
          <p:cNvPr id="27" name="Text 25"/>
          <p:cNvSpPr txBox="1"/>
          <p:nvPr/>
        </p:nvSpPr>
        <p:spPr>
          <a:xfrm>
            <a:off x="8869680" y="3822192"/>
            <a:ext cx="2681935" cy="548640"/>
          </a:xfrm>
          <a:prstGeom prst="rect">
            <a:avLst/>
          </a:prstGeom>
          <a:noFill/>
          <a:ln/>
        </p:spPr>
        <p:txBody>
          <a:bodyPr wrap="square" lIns="0" tIns="0" rIns="0" bIns="0" rtlCol="0" anchor="ctr"/>
          <a:lstStyle/>
          <a:p>
            <a:pPr algn="ctr" indent="0" marL="0">
              <a:buNone/>
            </a:pPr>
            <a:r>
              <a:rPr lang="en-US" sz="1050" b="1" dirty="0">
                <a:solidFill>
                  <a:srgbClr val="6E4B1F"/>
                </a:solidFill>
                <a:latin typeface="Calibri" pitchFamily="34" charset="0"/>
                <a:ea typeface="Calibri" pitchFamily="34" charset="-122"/>
                <a:cs typeface="Calibri" pitchFamily="34" charset="-120"/>
              </a:rPr>
              <a:t>2 found</a:t>
            </a:r>
            <a:endParaRPr lang="en-US" sz="1050" dirty="0"/>
          </a:p>
        </p:txBody>
      </p:sp>
      <p:sp>
        <p:nvSpPr>
          <p:cNvPr id="28" name="Shape 26"/>
          <p:cNvSpPr/>
          <p:nvPr/>
        </p:nvSpPr>
        <p:spPr>
          <a:xfrm>
            <a:off x="566928" y="4572000"/>
            <a:ext cx="365760" cy="365760"/>
          </a:xfrm>
          <a:prstGeom prst="ellipse">
            <a:avLst/>
          </a:prstGeom>
          <a:solidFill>
            <a:srgbClr val="CADCFC"/>
          </a:solidFill>
          <a:ln w="12700">
            <a:solidFill>
              <a:srgbClr val="CADCFC"/>
            </a:solidFill>
            <a:prstDash val="solid"/>
          </a:ln>
        </p:spPr>
      </p:sp>
      <p:sp>
        <p:nvSpPr>
          <p:cNvPr id="29" name="Text 27"/>
          <p:cNvSpPr txBox="1"/>
          <p:nvPr/>
        </p:nvSpPr>
        <p:spPr>
          <a:xfrm>
            <a:off x="566928" y="4572000"/>
            <a:ext cx="365760" cy="36576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5</a:t>
            </a:r>
            <a:endParaRPr lang="en-US" sz="1250" dirty="0"/>
          </a:p>
        </p:txBody>
      </p:sp>
      <p:sp>
        <p:nvSpPr>
          <p:cNvPr id="30" name="Shape 28"/>
          <p:cNvSpPr/>
          <p:nvPr/>
        </p:nvSpPr>
        <p:spPr>
          <a:xfrm>
            <a:off x="1060704" y="4480560"/>
            <a:ext cx="7589520" cy="548640"/>
          </a:xfrm>
          <a:prstGeom prst="roundRect">
            <a:avLst>
              <a:gd name="adj" fmla="val 13333"/>
            </a:avLst>
          </a:prstGeom>
          <a:solidFill>
            <a:srgbClr val="FFFFFF"/>
          </a:solidFill>
          <a:ln w="12700">
            <a:solidFill>
              <a:srgbClr val="E2E8F1"/>
            </a:solidFill>
            <a:prstDash val="solid"/>
          </a:ln>
        </p:spPr>
      </p:sp>
      <p:sp>
        <p:nvSpPr>
          <p:cNvPr id="31" name="Text 29"/>
          <p:cNvSpPr txBox="1"/>
          <p:nvPr/>
        </p:nvSpPr>
        <p:spPr>
          <a:xfrm>
            <a:off x="1133856" y="4480560"/>
            <a:ext cx="7443216" cy="548640"/>
          </a:xfrm>
          <a:prstGeom prst="rect">
            <a:avLst/>
          </a:prstGeom>
          <a:noFill/>
          <a:ln/>
        </p:spPr>
        <p:txBody>
          <a:bodyPr wrap="square" lIns="0" tIns="0" rIns="0" bIns="0" rtlCol="0" anchor="ctr"/>
          <a:lstStyle/>
          <a:p>
            <a:pPr algn="l" indent="0" marL="0">
              <a:buNone/>
            </a:pPr>
            <a:r>
              <a:rPr lang="en-US" sz="1200" dirty="0">
                <a:solidFill>
                  <a:srgbClr val="16202C"/>
                </a:solidFill>
                <a:latin typeface="Calibri" pitchFamily="34" charset="0"/>
                <a:ea typeface="Calibri" pitchFamily="34" charset="-122"/>
                <a:cs typeface="Calibri" pitchFamily="34" charset="-120"/>
              </a:rPr>
              <a:t>Is there a parameter whose only purpose is to control the vendor's payload size?</a:t>
            </a:r>
            <a:endParaRPr lang="en-US" sz="1200" dirty="0"/>
          </a:p>
        </p:txBody>
      </p:sp>
      <p:sp>
        <p:nvSpPr>
          <p:cNvPr id="32" name="Shape 30"/>
          <p:cNvSpPr/>
          <p:nvPr/>
        </p:nvSpPr>
        <p:spPr>
          <a:xfrm>
            <a:off x="8796528" y="4480560"/>
            <a:ext cx="2828239" cy="548640"/>
          </a:xfrm>
          <a:prstGeom prst="roundRect">
            <a:avLst>
              <a:gd name="adj" fmla="val 13333"/>
            </a:avLst>
          </a:prstGeom>
          <a:solidFill>
            <a:srgbClr val="F6EFE2"/>
          </a:solidFill>
          <a:ln w="12700">
            <a:solidFill>
              <a:srgbClr val="DCC79E"/>
            </a:solidFill>
            <a:prstDash val="solid"/>
          </a:ln>
        </p:spPr>
      </p:sp>
      <p:sp>
        <p:nvSpPr>
          <p:cNvPr id="33" name="Text 31"/>
          <p:cNvSpPr txBox="1"/>
          <p:nvPr/>
        </p:nvSpPr>
        <p:spPr>
          <a:xfrm>
            <a:off x="8869680" y="4480560"/>
            <a:ext cx="2681935" cy="548640"/>
          </a:xfrm>
          <a:prstGeom prst="rect">
            <a:avLst/>
          </a:prstGeom>
          <a:noFill/>
          <a:ln/>
        </p:spPr>
        <p:txBody>
          <a:bodyPr wrap="square" lIns="0" tIns="0" rIns="0" bIns="0" rtlCol="0" anchor="ctr"/>
          <a:lstStyle/>
          <a:p>
            <a:pPr algn="ctr" indent="0" marL="0">
              <a:buNone/>
            </a:pPr>
            <a:r>
              <a:rPr lang="en-US" sz="1050" b="1" dirty="0">
                <a:solidFill>
                  <a:srgbClr val="6E4B1F"/>
                </a:solidFill>
                <a:latin typeface="Calibri" pitchFamily="34" charset="0"/>
                <a:ea typeface="Calibri" pitchFamily="34" charset="-122"/>
                <a:cs typeface="Calibri" pitchFamily="34" charset="-120"/>
              </a:rPr>
              <a:t>2 found</a:t>
            </a:r>
            <a:endParaRPr lang="en-US" sz="1050" dirty="0"/>
          </a:p>
        </p:txBody>
      </p:sp>
      <p:sp>
        <p:nvSpPr>
          <p:cNvPr id="34" name="Shape 32"/>
          <p:cNvSpPr/>
          <p:nvPr/>
        </p:nvSpPr>
        <p:spPr>
          <a:xfrm>
            <a:off x="566928" y="5230368"/>
            <a:ext cx="365760" cy="365760"/>
          </a:xfrm>
          <a:prstGeom prst="ellipse">
            <a:avLst/>
          </a:prstGeom>
          <a:solidFill>
            <a:srgbClr val="1E2761"/>
          </a:solidFill>
          <a:ln w="12700">
            <a:solidFill>
              <a:srgbClr val="1E2761"/>
            </a:solidFill>
            <a:prstDash val="solid"/>
          </a:ln>
        </p:spPr>
      </p:sp>
      <p:sp>
        <p:nvSpPr>
          <p:cNvPr id="35" name="Text 33"/>
          <p:cNvSpPr txBox="1"/>
          <p:nvPr/>
        </p:nvSpPr>
        <p:spPr>
          <a:xfrm>
            <a:off x="566928" y="523036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6" name="Shape 34"/>
          <p:cNvSpPr/>
          <p:nvPr/>
        </p:nvSpPr>
        <p:spPr>
          <a:xfrm>
            <a:off x="1060704" y="5138928"/>
            <a:ext cx="7589520" cy="548640"/>
          </a:xfrm>
          <a:prstGeom prst="roundRect">
            <a:avLst>
              <a:gd name="adj" fmla="val 13333"/>
            </a:avLst>
          </a:prstGeom>
          <a:solidFill>
            <a:srgbClr val="1E2761"/>
          </a:solidFill>
          <a:ln w="12700">
            <a:solidFill>
              <a:srgbClr val="1E2761"/>
            </a:solidFill>
            <a:prstDash val="solid"/>
          </a:ln>
        </p:spPr>
      </p:sp>
      <p:sp>
        <p:nvSpPr>
          <p:cNvPr id="37" name="Text 35"/>
          <p:cNvSpPr txBox="1"/>
          <p:nvPr/>
        </p:nvSpPr>
        <p:spPr>
          <a:xfrm>
            <a:off x="1133856" y="5138928"/>
            <a:ext cx="7443216" cy="54864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Would replacing the product change anything a consumer can see?</a:t>
            </a:r>
            <a:endParaRPr lang="en-US" sz="1200" dirty="0"/>
          </a:p>
        </p:txBody>
      </p:sp>
      <p:sp>
        <p:nvSpPr>
          <p:cNvPr id="38" name="Shape 36"/>
          <p:cNvSpPr/>
          <p:nvPr/>
        </p:nvSpPr>
        <p:spPr>
          <a:xfrm>
            <a:off x="8796528" y="5138928"/>
            <a:ext cx="2828239" cy="548640"/>
          </a:xfrm>
          <a:prstGeom prst="roundRect">
            <a:avLst>
              <a:gd name="adj" fmla="val 13333"/>
            </a:avLst>
          </a:prstGeom>
          <a:solidFill>
            <a:srgbClr val="F4F7FB"/>
          </a:solidFill>
          <a:ln w="12700">
            <a:solidFill>
              <a:srgbClr val="E2E8F1"/>
            </a:solidFill>
            <a:prstDash val="solid"/>
          </a:ln>
        </p:spPr>
      </p:sp>
      <p:sp>
        <p:nvSpPr>
          <p:cNvPr id="39" name="Text 37"/>
          <p:cNvSpPr txBox="1"/>
          <p:nvPr/>
        </p:nvSpPr>
        <p:spPr>
          <a:xfrm>
            <a:off x="8869680" y="5138928"/>
            <a:ext cx="2681935" cy="548640"/>
          </a:xfrm>
          <a:prstGeom prst="rect">
            <a:avLst/>
          </a:prstGeom>
          <a:noFill/>
          <a:ln/>
        </p:spPr>
        <p:txBody>
          <a:bodyPr wrap="square" lIns="0" tIns="0" rIns="0" bIns="0" rtlCol="0" anchor="ctr"/>
          <a:lstStyle/>
          <a:p>
            <a:pPr algn="ctr" indent="0" marL="0">
              <a:buNone/>
            </a:pPr>
            <a:r>
              <a:rPr lang="en-US" sz="1050" i="1" dirty="0">
                <a:solidFill>
                  <a:srgbClr val="5C6A7A"/>
                </a:solidFill>
                <a:latin typeface="Calibri" pitchFamily="34" charset="0"/>
                <a:ea typeface="Calibri" pitchFamily="34" charset="-122"/>
                <a:cs typeface="Calibri" pitchFamily="34" charset="-120"/>
              </a:rPr>
              <a:t>the summary of the five above</a:t>
            </a:r>
            <a:endParaRPr lang="en-US" sz="1050" dirty="0"/>
          </a:p>
        </p:txBody>
      </p:sp>
      <p:sp>
        <p:nvSpPr>
          <p:cNvPr id="40" name="Text 38"/>
          <p:cNvSpPr txBox="1"/>
          <p:nvPr/>
        </p:nvSpPr>
        <p:spPr>
          <a:xfrm>
            <a:off x="566928" y="5943600"/>
            <a:ext cx="11057839" cy="310896"/>
          </a:xfrm>
          <a:prstGeom prst="rect">
            <a:avLst/>
          </a:prstGeom>
          <a:noFill/>
          <a:ln/>
        </p:spPr>
        <p:txBody>
          <a:bodyPr wrap="square" lIns="0" tIns="0" rIns="0" bIns="0" rtlCol="0" anchor="t"/>
          <a:lstStyle/>
          <a:p>
            <a:pPr indent="0" marL="0">
              <a:buNone/>
            </a:pPr>
            <a:r>
              <a:rPr lang="en-US" sz="1050" dirty="0">
                <a:solidFill>
                  <a:srgbClr val="5C6A7A"/>
                </a:solidFill>
                <a:latin typeface="Calibri" pitchFamily="34" charset="0"/>
                <a:ea typeface="Calibri" pitchFamily="34" charset="-122"/>
                <a:cs typeface="Calibri" pitchFamily="34" charset="-120"/>
              </a:rPr>
              <a:t>Counts are from the credit card mapping workbook. The two payload-size switches, IncludePhoneAddress and IncludePostalAddress, are the clearest case: they exist to tell the product how much to return.</a:t>
            </a:r>
            <a:endParaRPr lang="en-US" sz="1050" dirty="0"/>
          </a:p>
        </p:txBody>
      </p:sp>
      <p:sp>
        <p:nvSpPr>
          <p:cNvPr id="41" name="Text 39"/>
          <p:cNvSpPr txBox="1"/>
          <p:nvPr/>
        </p:nvSpPr>
        <p:spPr>
          <a:xfrm>
            <a:off x="566928" y="6455664"/>
            <a:ext cx="5486400" cy="256032"/>
          </a:xfrm>
          <a:prstGeom prst="rect">
            <a:avLst/>
          </a:prstGeom>
          <a:noFill/>
          <a:ln/>
        </p:spPr>
        <p:txBody>
          <a:bodyPr wrap="square" lIns="0" tIns="0" rIns="0" bIns="0" rtlCol="0" anchor="ctr"/>
          <a:lstStyle/>
          <a:p>
            <a:pPr indent="0" marL="0">
              <a:buNone/>
            </a:pPr>
            <a:r>
              <a:rPr lang="en-US" sz="850" dirty="0">
                <a:solidFill>
                  <a:srgbClr val="8A97A6"/>
                </a:solidFill>
                <a:latin typeface="Calibri" pitchFamily="34" charset="0"/>
                <a:ea typeface="Calibri" pitchFamily="34" charset="-122"/>
                <a:cs typeface="Calibri" pitchFamily="34" charset="-120"/>
              </a:rPr>
              <a:t>The BIAN interface and the System of Record  ·  CC&amp;C Solutions</a:t>
            </a:r>
            <a:endParaRPr lang="en-US" sz="850" dirty="0"/>
          </a:p>
        </p:txBody>
      </p:sp>
      <p:sp>
        <p:nvSpPr>
          <p:cNvPr id="42" name="Text 40"/>
          <p:cNvSpPr txBox="1"/>
          <p:nvPr/>
        </p:nvSpPr>
        <p:spPr>
          <a:xfrm>
            <a:off x="11076127" y="6455664"/>
            <a:ext cx="548640" cy="256032"/>
          </a:xfrm>
          <a:prstGeom prst="rect">
            <a:avLst/>
          </a:prstGeom>
          <a:noFill/>
          <a:ln/>
        </p:spPr>
        <p:txBody>
          <a:bodyPr wrap="square" lIns="0" tIns="0" rIns="0" bIns="0" rtlCol="0" anchor="ctr"/>
          <a:lstStyle/>
          <a:p>
            <a:pPr algn="r" indent="0" marL="0">
              <a:buNone/>
            </a:pPr>
            <a:r>
              <a:rPr lang="en-US" sz="900" dirty="0">
                <a:solidFill>
                  <a:srgbClr val="8A97A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713232"/>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Where the line sits, and what crosses it</a:t>
            </a:r>
            <a:endParaRPr lang="en-US" sz="3400" dirty="0"/>
          </a:p>
        </p:txBody>
      </p:sp>
      <p:sp>
        <p:nvSpPr>
          <p:cNvPr id="3" name="Text 1"/>
          <p:cNvSpPr txBox="1"/>
          <p:nvPr/>
        </p:nvSpPr>
        <p:spPr>
          <a:xfrm>
            <a:off x="566928" y="1115568"/>
            <a:ext cx="11057839" cy="384048"/>
          </a:xfrm>
          <a:prstGeom prst="rect">
            <a:avLst/>
          </a:prstGeom>
          <a:noFill/>
          <a:ln/>
        </p:spPr>
        <p:txBody>
          <a:bodyPr wrap="square" lIns="0" tIns="0" rIns="0" bIns="0" rtlCol="0" anchor="t"/>
          <a:lstStyle/>
          <a:p>
            <a:pPr indent="0" marL="0">
              <a:buNone/>
            </a:pPr>
            <a:r>
              <a:rPr lang="en-US" sz="1400" dirty="0">
                <a:solidFill>
                  <a:srgbClr val="5C6A7A"/>
                </a:solidFill>
                <a:latin typeface="Calibri" pitchFamily="34" charset="0"/>
                <a:ea typeface="Calibri" pitchFamily="34" charset="-122"/>
                <a:cs typeface="Calibri" pitchFamily="34" charset="-120"/>
              </a:rPr>
              <a:t>Meaning travels down. Data travels up. Shape never travels up.</a:t>
            </a:r>
            <a:endParaRPr lang="en-US" sz="1400" dirty="0"/>
          </a:p>
        </p:txBody>
      </p:sp>
      <p:sp>
        <p:nvSpPr>
          <p:cNvPr id="4" name="Shape 2"/>
          <p:cNvSpPr/>
          <p:nvPr/>
        </p:nvSpPr>
        <p:spPr>
          <a:xfrm>
            <a:off x="1316736" y="2011680"/>
            <a:ext cx="9558223" cy="603504"/>
          </a:xfrm>
          <a:prstGeom prst="roundRect">
            <a:avLst>
              <a:gd name="adj" fmla="val 12121"/>
            </a:avLst>
          </a:prstGeom>
          <a:solidFill>
            <a:srgbClr val="CADCFC"/>
          </a:solidFill>
          <a:ln w="12700">
            <a:solidFill>
              <a:srgbClr val="CADCFC"/>
            </a:solidFill>
            <a:prstDash val="solid"/>
          </a:ln>
        </p:spPr>
      </p:sp>
      <p:sp>
        <p:nvSpPr>
          <p:cNvPr id="5" name="Text 3"/>
          <p:cNvSpPr txBox="1"/>
          <p:nvPr/>
        </p:nvSpPr>
        <p:spPr>
          <a:xfrm>
            <a:off x="1591056" y="2011680"/>
            <a:ext cx="2606040" cy="603504"/>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Consumers</a:t>
            </a:r>
            <a:endParaRPr lang="en-US" sz="1400" dirty="0"/>
          </a:p>
        </p:txBody>
      </p:sp>
      <p:sp>
        <p:nvSpPr>
          <p:cNvPr id="6" name="Text 4"/>
          <p:cNvSpPr txBox="1"/>
          <p:nvPr/>
        </p:nvSpPr>
        <p:spPr>
          <a:xfrm>
            <a:off x="4334256" y="2011680"/>
            <a:ext cx="6266383" cy="603504"/>
          </a:xfrm>
          <a:prstGeom prst="rect">
            <a:avLst/>
          </a:prstGeom>
          <a:noFill/>
          <a:ln/>
        </p:spPr>
        <p:txBody>
          <a:bodyPr wrap="square" lIns="0" tIns="0" rIns="0" bIns="0" rtlCol="0" anchor="ctr"/>
          <a:lstStyle/>
          <a:p>
            <a:pPr indent="0" marL="0">
              <a:buNone/>
            </a:pPr>
            <a:r>
              <a:rPr lang="en-US" sz="1150" dirty="0">
                <a:solidFill>
                  <a:srgbClr val="1E2761"/>
                </a:solidFill>
                <a:latin typeface="Calibri" pitchFamily="34" charset="0"/>
                <a:ea typeface="Calibri" pitchFamily="34" charset="-122"/>
                <a:cs typeface="Calibri" pitchFamily="34" charset="-120"/>
              </a:rPr>
              <a:t>know the contract and nothing else</a:t>
            </a:r>
            <a:endParaRPr lang="en-US" sz="1150" dirty="0"/>
          </a:p>
        </p:txBody>
      </p:sp>
      <p:sp>
        <p:nvSpPr>
          <p:cNvPr id="7" name="Shape 5"/>
          <p:cNvSpPr/>
          <p:nvPr/>
        </p:nvSpPr>
        <p:spPr>
          <a:xfrm>
            <a:off x="1316736" y="2743200"/>
            <a:ext cx="9558223" cy="713232"/>
          </a:xfrm>
          <a:prstGeom prst="roundRect">
            <a:avLst>
              <a:gd name="adj" fmla="val 10256"/>
            </a:avLst>
          </a:prstGeom>
          <a:solidFill>
            <a:srgbClr val="1E2761"/>
          </a:solidFill>
          <a:ln w="12700">
            <a:solidFill>
              <a:srgbClr val="1E2761"/>
            </a:solidFill>
            <a:prstDash val="solid"/>
          </a:ln>
        </p:spPr>
      </p:sp>
      <p:sp>
        <p:nvSpPr>
          <p:cNvPr id="8" name="Text 6"/>
          <p:cNvSpPr txBox="1"/>
          <p:nvPr/>
        </p:nvSpPr>
        <p:spPr>
          <a:xfrm>
            <a:off x="1591056" y="2743200"/>
            <a:ext cx="2606040" cy="713232"/>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BIAN interface</a:t>
            </a:r>
            <a:endParaRPr lang="en-US" sz="1400" dirty="0"/>
          </a:p>
        </p:txBody>
      </p:sp>
      <p:sp>
        <p:nvSpPr>
          <p:cNvPr id="9" name="Text 7"/>
          <p:cNvSpPr txBox="1"/>
          <p:nvPr/>
        </p:nvSpPr>
        <p:spPr>
          <a:xfrm>
            <a:off x="4334256" y="2743200"/>
            <a:ext cx="6266383" cy="71323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names, structure, operations and verbs, all from the business</a:t>
            </a:r>
            <a:endParaRPr lang="en-US" sz="1150" dirty="0"/>
          </a:p>
        </p:txBody>
      </p:sp>
      <p:sp>
        <p:nvSpPr>
          <p:cNvPr id="10" name="Shape 8"/>
          <p:cNvSpPr/>
          <p:nvPr/>
        </p:nvSpPr>
        <p:spPr>
          <a:xfrm>
            <a:off x="1316736" y="3584448"/>
            <a:ext cx="9558223" cy="658368"/>
          </a:xfrm>
          <a:prstGeom prst="roundRect">
            <a:avLst>
              <a:gd name="adj" fmla="val 11111"/>
            </a:avLst>
          </a:prstGeom>
          <a:solidFill>
            <a:srgbClr val="C9A227"/>
          </a:solidFill>
          <a:ln w="12700">
            <a:solidFill>
              <a:srgbClr val="C9A227"/>
            </a:solidFill>
            <a:prstDash val="solid"/>
          </a:ln>
        </p:spPr>
      </p:sp>
      <p:sp>
        <p:nvSpPr>
          <p:cNvPr id="11" name="Text 9"/>
          <p:cNvSpPr txBox="1"/>
          <p:nvPr/>
        </p:nvSpPr>
        <p:spPr>
          <a:xfrm>
            <a:off x="1591056" y="3584448"/>
            <a:ext cx="2606040" cy="658368"/>
          </a:xfrm>
          <a:prstGeom prst="rect">
            <a:avLst/>
          </a:prstGeom>
          <a:noFill/>
          <a:ln/>
        </p:spPr>
        <p:txBody>
          <a:bodyPr wrap="square" lIns="0" tIns="0" rIns="0" bIns="0" rtlCol="0" anchor="ctr"/>
          <a:lstStyle/>
          <a:p>
            <a:pPr indent="0" marL="0">
              <a:buNone/>
            </a:pPr>
            <a:r>
              <a:rPr lang="en-US" sz="1400" b="1" dirty="0">
                <a:solidFill>
                  <a:srgbClr val="3A2E05"/>
                </a:solidFill>
                <a:latin typeface="Cambria" pitchFamily="34" charset="0"/>
                <a:ea typeface="Cambria" pitchFamily="34" charset="-122"/>
                <a:cs typeface="Cambria" pitchFamily="34" charset="-120"/>
              </a:rPr>
              <a:t>Mapping</a:t>
            </a:r>
            <a:endParaRPr lang="en-US" sz="1400" dirty="0"/>
          </a:p>
        </p:txBody>
      </p:sp>
      <p:sp>
        <p:nvSpPr>
          <p:cNvPr id="12" name="Text 10"/>
          <p:cNvSpPr txBox="1"/>
          <p:nvPr/>
        </p:nvSpPr>
        <p:spPr>
          <a:xfrm>
            <a:off x="4334256" y="3584448"/>
            <a:ext cx="6266383" cy="658368"/>
          </a:xfrm>
          <a:prstGeom prst="rect">
            <a:avLst/>
          </a:prstGeom>
          <a:noFill/>
          <a:ln/>
        </p:spPr>
        <p:txBody>
          <a:bodyPr wrap="square" lIns="0" tIns="0" rIns="0" bIns="0" rtlCol="0" anchor="ctr"/>
          <a:lstStyle/>
          <a:p>
            <a:pPr indent="0" marL="0">
              <a:buNone/>
            </a:pPr>
            <a:r>
              <a:rPr lang="en-US" sz="1150" dirty="0">
                <a:solidFill>
                  <a:srgbClr val="3A2E05"/>
                </a:solidFill>
                <a:latin typeface="Calibri" pitchFamily="34" charset="0"/>
                <a:ea typeface="Calibri" pitchFamily="34" charset="-122"/>
                <a:cs typeface="Calibri" pitchFamily="34" charset="-120"/>
              </a:rPr>
              <a:t>the only artefact that knows both vocabularies</a:t>
            </a:r>
            <a:endParaRPr lang="en-US" sz="1150" dirty="0"/>
          </a:p>
        </p:txBody>
      </p:sp>
      <p:sp>
        <p:nvSpPr>
          <p:cNvPr id="13" name="Shape 11"/>
          <p:cNvSpPr/>
          <p:nvPr/>
        </p:nvSpPr>
        <p:spPr>
          <a:xfrm>
            <a:off x="1316736" y="4370832"/>
            <a:ext cx="9558223" cy="658368"/>
          </a:xfrm>
          <a:prstGeom prst="roundRect">
            <a:avLst>
              <a:gd name="adj" fmla="val 11111"/>
            </a:avLst>
          </a:prstGeom>
          <a:solidFill>
            <a:srgbClr val="F6EFE2"/>
          </a:solidFill>
          <a:ln w="12700">
            <a:solidFill>
              <a:srgbClr val="DCC79E"/>
            </a:solidFill>
            <a:prstDash val="solid"/>
          </a:ln>
        </p:spPr>
      </p:sp>
      <p:sp>
        <p:nvSpPr>
          <p:cNvPr id="14" name="Text 12"/>
          <p:cNvSpPr txBox="1"/>
          <p:nvPr/>
        </p:nvSpPr>
        <p:spPr>
          <a:xfrm>
            <a:off x="1591056" y="4370832"/>
            <a:ext cx="2606040" cy="658368"/>
          </a:xfrm>
          <a:prstGeom prst="rect">
            <a:avLst/>
          </a:prstGeom>
          <a:noFill/>
          <a:ln/>
        </p:spPr>
        <p:txBody>
          <a:bodyPr wrap="square" lIns="0" tIns="0" rIns="0" bIns="0" rtlCol="0" anchor="ctr"/>
          <a:lstStyle/>
          <a:p>
            <a:pPr indent="0" marL="0">
              <a:buNone/>
            </a:pPr>
            <a:r>
              <a:rPr lang="en-US" sz="1400" b="1" dirty="0">
                <a:solidFill>
                  <a:srgbClr val="6E4B1F"/>
                </a:solidFill>
                <a:latin typeface="Cambria" pitchFamily="34" charset="0"/>
                <a:ea typeface="Cambria" pitchFamily="34" charset="-122"/>
                <a:cs typeface="Cambria" pitchFamily="34" charset="-120"/>
              </a:rPr>
              <a:t>Systems of Record</a:t>
            </a:r>
            <a:endParaRPr lang="en-US" sz="1400" dirty="0"/>
          </a:p>
        </p:txBody>
      </p:sp>
      <p:sp>
        <p:nvSpPr>
          <p:cNvPr id="15" name="Text 13"/>
          <p:cNvSpPr txBox="1"/>
          <p:nvPr/>
        </p:nvSpPr>
        <p:spPr>
          <a:xfrm>
            <a:off x="4334256" y="4370832"/>
            <a:ext cx="6266383" cy="658368"/>
          </a:xfrm>
          <a:prstGeom prst="rect">
            <a:avLst/>
          </a:prstGeom>
          <a:noFill/>
          <a:ln/>
        </p:spPr>
        <p:txBody>
          <a:bodyPr wrap="square" lIns="0" tIns="0" rIns="0" bIns="0" rtlCol="0" anchor="ctr"/>
          <a:lstStyle/>
          <a:p>
            <a:pPr indent="0" marL="0">
              <a:buNone/>
            </a:pPr>
            <a:r>
              <a:rPr lang="en-US" sz="1150" dirty="0">
                <a:solidFill>
                  <a:srgbClr val="6E4B1F"/>
                </a:solidFill>
                <a:latin typeface="Calibri" pitchFamily="34" charset="0"/>
                <a:ea typeface="Calibri" pitchFamily="34" charset="-122"/>
                <a:cs typeface="Calibri" pitchFamily="34" charset="-120"/>
              </a:rPr>
              <a:t>whatever the estate contains, in whatever shape the vendor chose</a:t>
            </a:r>
            <a:endParaRPr lang="en-US" sz="1150" dirty="0"/>
          </a:p>
        </p:txBody>
      </p:sp>
      <p:sp>
        <p:nvSpPr>
          <p:cNvPr id="16" name="Text 14"/>
          <p:cNvSpPr txBox="1"/>
          <p:nvPr/>
        </p:nvSpPr>
        <p:spPr>
          <a:xfrm>
            <a:off x="10874959" y="1700784"/>
            <a:ext cx="749808" cy="256032"/>
          </a:xfrm>
          <a:prstGeom prst="rect">
            <a:avLst/>
          </a:prstGeom>
          <a:noFill/>
          <a:ln/>
        </p:spPr>
        <p:txBody>
          <a:bodyPr wrap="square" lIns="0" tIns="0" rIns="0" bIns="0"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meaning</a:t>
            </a:r>
            <a:endParaRPr lang="en-US" sz="900" dirty="0"/>
          </a:p>
        </p:txBody>
      </p:sp>
      <p:sp>
        <p:nvSpPr>
          <p:cNvPr id="17" name="Shape 15"/>
          <p:cNvSpPr/>
          <p:nvPr/>
        </p:nvSpPr>
        <p:spPr>
          <a:xfrm>
            <a:off x="11249863" y="2066544"/>
            <a:ext cx="0" cy="2907792"/>
          </a:xfrm>
          <a:prstGeom prst="line">
            <a:avLst/>
          </a:prstGeom>
          <a:noFill/>
          <a:ln w="25400">
            <a:solidFill>
              <a:srgbClr val="1E2761"/>
            </a:solidFill>
            <a:prstDash val="solid"/>
            <a:tailEnd type="triangle"/>
          </a:ln>
        </p:spPr>
      </p:sp>
      <p:sp>
        <p:nvSpPr>
          <p:cNvPr id="18" name="Text 16"/>
          <p:cNvSpPr txBox="1"/>
          <p:nvPr/>
        </p:nvSpPr>
        <p:spPr>
          <a:xfrm>
            <a:off x="566928" y="5084064"/>
            <a:ext cx="749808" cy="256032"/>
          </a:xfrm>
          <a:prstGeom prst="rect">
            <a:avLst/>
          </a:prstGeom>
          <a:noFill/>
          <a:ln/>
        </p:spPr>
        <p:txBody>
          <a:bodyPr wrap="square" lIns="0" tIns="0" rIns="0" bIns="0" rtlCol="0" anchor="ctr"/>
          <a:lstStyle/>
          <a:p>
            <a:pPr algn="ctr" indent="0" marL="0">
              <a:buNone/>
            </a:pPr>
            <a:r>
              <a:rPr lang="en-US" sz="900" b="1" dirty="0">
                <a:solidFill>
                  <a:srgbClr val="6E4B1F"/>
                </a:solidFill>
                <a:latin typeface="Calibri" pitchFamily="34" charset="0"/>
                <a:ea typeface="Calibri" pitchFamily="34" charset="-122"/>
                <a:cs typeface="Calibri" pitchFamily="34" charset="-120"/>
              </a:rPr>
              <a:t>data</a:t>
            </a:r>
            <a:endParaRPr lang="en-US" sz="900" dirty="0"/>
          </a:p>
        </p:txBody>
      </p:sp>
      <p:sp>
        <p:nvSpPr>
          <p:cNvPr id="19" name="Shape 17"/>
          <p:cNvSpPr/>
          <p:nvPr/>
        </p:nvSpPr>
        <p:spPr>
          <a:xfrm flipV="1">
            <a:off x="941832" y="2066544"/>
            <a:ext cx="0" cy="2907792"/>
          </a:xfrm>
          <a:prstGeom prst="line">
            <a:avLst/>
          </a:prstGeom>
          <a:noFill/>
          <a:ln w="25400">
            <a:solidFill>
              <a:srgbClr val="6E4B1F"/>
            </a:solidFill>
            <a:prstDash val="solid"/>
            <a:tailEnd type="triangle"/>
          </a:ln>
        </p:spPr>
      </p:sp>
      <p:sp>
        <p:nvSpPr>
          <p:cNvPr id="20" name="Shape 18"/>
          <p:cNvSpPr/>
          <p:nvPr/>
        </p:nvSpPr>
        <p:spPr>
          <a:xfrm>
            <a:off x="566928" y="5340096"/>
            <a:ext cx="11057839" cy="822960"/>
          </a:xfrm>
          <a:prstGeom prst="roundRect">
            <a:avLst>
              <a:gd name="adj" fmla="val 8889"/>
            </a:avLst>
          </a:prstGeom>
          <a:solidFill>
            <a:srgbClr val="FDEAEA"/>
          </a:solidFill>
          <a:ln w="12700">
            <a:solidFill>
              <a:srgbClr val="F0B8B8"/>
            </a:solidFill>
            <a:prstDash val="solid"/>
          </a:ln>
        </p:spPr>
      </p:sp>
      <p:sp>
        <p:nvSpPr>
          <p:cNvPr id="21" name="Text 19"/>
          <p:cNvSpPr txBox="1"/>
          <p:nvPr/>
        </p:nvSpPr>
        <p:spPr>
          <a:xfrm>
            <a:off x="841248" y="5340096"/>
            <a:ext cx="10509199" cy="822960"/>
          </a:xfrm>
          <a:prstGeom prst="rect">
            <a:avLst/>
          </a:prstGeom>
          <a:noFill/>
          <a:ln/>
        </p:spPr>
        <p:txBody>
          <a:bodyPr wrap="square" lIns="0" tIns="0" rIns="0" bIns="0" rtlCol="0" anchor="ctr"/>
          <a:lstStyle/>
          <a:p>
            <a:pPr indent="0" marL="0">
              <a:buNone/>
            </a:pPr>
            <a:r>
              <a:rPr lang="en-US" sz="1300" b="1" dirty="0">
                <a:solidFill>
                  <a:srgbClr val="A11B1B"/>
                </a:solidFill>
                <a:latin typeface="Calibri" pitchFamily="34" charset="0"/>
                <a:ea typeface="Calibri" pitchFamily="34" charset="-122"/>
                <a:cs typeface="Calibri" pitchFamily="34" charset="-120"/>
              </a:rPr>
              <a:t>The single rule:  </a:t>
            </a:r>
            <a:pPr indent="0" marL="0">
              <a:buNone/>
            </a:pPr>
            <a:r>
              <a:rPr lang="en-US" sz="1250" dirty="0">
                <a:solidFill>
                  <a:srgbClr val="A11B1B"/>
                </a:solidFill>
                <a:latin typeface="Calibri" pitchFamily="34" charset="0"/>
                <a:ea typeface="Calibri" pitchFamily="34" charset="-122"/>
                <a:cs typeface="Calibri" pitchFamily="34" charset="-120"/>
              </a:rPr>
              <a:t>no name, no level of nesting, no operation boundary and no verb in the BIAN interface may be traceable to a decision made by a vendor. If it can be, the line has been crossed and the standard is doing none of the work it was adopted for.</a:t>
            </a:r>
            <a:endParaRPr lang="en-US" sz="1300" dirty="0"/>
          </a:p>
        </p:txBody>
      </p:sp>
      <p:sp>
        <p:nvSpPr>
          <p:cNvPr id="22" name="Text 20"/>
          <p:cNvSpPr txBox="1"/>
          <p:nvPr/>
        </p:nvSpPr>
        <p:spPr>
          <a:xfrm>
            <a:off x="566928" y="6455664"/>
            <a:ext cx="5486400" cy="256032"/>
          </a:xfrm>
          <a:prstGeom prst="rect">
            <a:avLst/>
          </a:prstGeom>
          <a:noFill/>
          <a:ln/>
        </p:spPr>
        <p:txBody>
          <a:bodyPr wrap="square" lIns="0" tIns="0" rIns="0" bIns="0" rtlCol="0" anchor="ctr"/>
          <a:lstStyle/>
          <a:p>
            <a:pPr indent="0" marL="0">
              <a:buNone/>
            </a:pPr>
            <a:r>
              <a:rPr lang="en-US" sz="850" dirty="0">
                <a:solidFill>
                  <a:srgbClr val="8A97A6"/>
                </a:solidFill>
                <a:latin typeface="Calibri" pitchFamily="34" charset="0"/>
                <a:ea typeface="Calibri" pitchFamily="34" charset="-122"/>
                <a:cs typeface="Calibri" pitchFamily="34" charset="-120"/>
              </a:rPr>
              <a:t>The BIAN interface and the System of Record  ·  CC&amp;C Solutions</a:t>
            </a:r>
            <a:endParaRPr lang="en-US" sz="850" dirty="0"/>
          </a:p>
        </p:txBody>
      </p:sp>
      <p:sp>
        <p:nvSpPr>
          <p:cNvPr id="23" name="Text 21"/>
          <p:cNvSpPr txBox="1"/>
          <p:nvPr/>
        </p:nvSpPr>
        <p:spPr>
          <a:xfrm>
            <a:off x="11076127" y="6455664"/>
            <a:ext cx="548640" cy="256032"/>
          </a:xfrm>
          <a:prstGeom prst="rect">
            <a:avLst/>
          </a:prstGeom>
          <a:noFill/>
          <a:ln/>
        </p:spPr>
        <p:txBody>
          <a:bodyPr wrap="square" lIns="0" tIns="0" rIns="0" bIns="0" rtlCol="0" anchor="ctr"/>
          <a:lstStyle/>
          <a:p>
            <a:pPr algn="r" indent="0" marL="0">
              <a:buNone/>
            </a:pPr>
            <a:r>
              <a:rPr lang="en-US" sz="900" dirty="0">
                <a:solidFill>
                  <a:srgbClr val="8A97A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103120" y="2834640"/>
            <a:ext cx="5486400" cy="5486400"/>
          </a:xfrm>
          <a:prstGeom prst="ellipse">
            <a:avLst/>
          </a:prstGeom>
          <a:solidFill>
            <a:srgbClr val="141C46"/>
          </a:solidFill>
          <a:ln w="12700">
            <a:solidFill>
              <a:srgbClr val="333333"/>
            </a:solidFill>
            <a:prstDash val="solid"/>
          </a:ln>
        </p:spPr>
      </p:sp>
      <p:sp>
        <p:nvSpPr>
          <p:cNvPr id="3" name="Text 1"/>
          <p:cNvSpPr txBox="1"/>
          <p:nvPr/>
        </p:nvSpPr>
        <p:spPr>
          <a:xfrm>
            <a:off x="566928" y="822960"/>
            <a:ext cx="86868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In one sentence</a:t>
            </a:r>
            <a:endParaRPr lang="en-US" sz="3200" dirty="0"/>
          </a:p>
        </p:txBody>
      </p:sp>
      <p:sp>
        <p:nvSpPr>
          <p:cNvPr id="4" name="Shape 2"/>
          <p:cNvSpPr/>
          <p:nvPr/>
        </p:nvSpPr>
        <p:spPr>
          <a:xfrm>
            <a:off x="566928" y="1783080"/>
            <a:ext cx="11057839" cy="1371600"/>
          </a:xfrm>
          <a:prstGeom prst="roundRect">
            <a:avLst>
              <a:gd name="adj" fmla="val 5333"/>
            </a:avLst>
          </a:prstGeom>
          <a:solidFill>
            <a:srgbClr val="141C46"/>
          </a:solidFill>
          <a:ln w="19050">
            <a:solidFill>
              <a:srgbClr val="C9A227"/>
            </a:solidFill>
            <a:prstDash val="solid"/>
          </a:ln>
        </p:spPr>
      </p:sp>
      <p:sp>
        <p:nvSpPr>
          <p:cNvPr id="5" name="Text 3"/>
          <p:cNvSpPr txBox="1"/>
          <p:nvPr/>
        </p:nvSpPr>
        <p:spPr>
          <a:xfrm>
            <a:off x="978408" y="1874520"/>
            <a:ext cx="10234879" cy="1188720"/>
          </a:xfrm>
          <a:prstGeom prst="rect">
            <a:avLst/>
          </a:prstGeom>
          <a:noFill/>
          <a:ln/>
        </p:spPr>
        <p:txBody>
          <a:bodyPr wrap="square" lIns="0" tIns="0" rIns="0" bIns="0" rtlCol="0" anchor="ctr"/>
          <a:lstStyle/>
          <a:p>
            <a:pPr indent="0" marL="0">
              <a:buNone/>
            </a:pPr>
            <a:r>
              <a:rPr lang="en-US" sz="1900" dirty="0">
                <a:solidFill>
                  <a:srgbClr val="CADCFC"/>
                </a:solidFill>
                <a:latin typeface="Cambria" pitchFamily="34" charset="0"/>
                <a:ea typeface="Cambria" pitchFamily="34" charset="-122"/>
                <a:cs typeface="Cambria" pitchFamily="34" charset="-120"/>
              </a:rPr>
              <a:t>The System of Record tells you </a:t>
            </a:r>
            <a:pPr indent="0" marL="0">
              <a:buNone/>
            </a:pPr>
            <a:r>
              <a:rPr lang="en-US" sz="1900" b="1" dirty="0">
                <a:solidFill>
                  <a:srgbClr val="C9A227"/>
                </a:solidFill>
                <a:latin typeface="Cambria" pitchFamily="34" charset="0"/>
                <a:ea typeface="Cambria" pitchFamily="34" charset="-122"/>
                <a:cs typeface="Cambria" pitchFamily="34" charset="-120"/>
              </a:rPr>
              <a:t>what can be filled in</a:t>
            </a:r>
            <a:pPr indent="0" marL="0">
              <a:buNone/>
            </a:pPr>
            <a:r>
              <a:rPr lang="en-US" sz="1900" dirty="0">
                <a:solidFill>
                  <a:srgbClr val="CADCFC"/>
                </a:solidFill>
                <a:latin typeface="Cambria" pitchFamily="34" charset="0"/>
                <a:ea typeface="Cambria" pitchFamily="34" charset="-122"/>
                <a:cs typeface="Cambria" pitchFamily="34" charset="-120"/>
              </a:rPr>
              <a:t>.</a:t>
            </a:r>
            <a:endParaRPr lang="en-US" sz="1900" dirty="0"/>
          </a:p>
          <a:p>
            <a:pPr indent="0" marL="0">
              <a:buNone/>
            </a:pPr>
            <a:r>
              <a:rPr lang="en-US" sz="1900" dirty="0">
                <a:solidFill>
                  <a:srgbClr val="CADCFC"/>
                </a:solidFill>
                <a:latin typeface="Cambria" pitchFamily="34" charset="0"/>
                <a:ea typeface="Cambria" pitchFamily="34" charset="-122"/>
                <a:cs typeface="Cambria" pitchFamily="34" charset="-120"/>
              </a:rPr>
              <a:t>The business tells you </a:t>
            </a:r>
            <a:endParaRPr lang="en-US" sz="1900" dirty="0"/>
          </a:p>
          <a:p>
            <a:pPr indent="0" marL="0">
              <a:buNone/>
            </a:pPr>
            <a:r>
              <a:rPr lang="en-US" sz="1900" b="1" dirty="0">
                <a:solidFill>
                  <a:srgbClr val="FFFFFF"/>
                </a:solidFill>
                <a:latin typeface="Cambria" pitchFamily="34" charset="0"/>
                <a:ea typeface="Cambria" pitchFamily="34" charset="-122"/>
                <a:cs typeface="Cambria" pitchFamily="34" charset="-120"/>
              </a:rPr>
              <a:t>what the interface looks like</a:t>
            </a:r>
            <a:pPr indent="0" marL="0">
              <a:buNone/>
            </a:pPr>
            <a:r>
              <a:rPr lang="en-US" sz="1900" dirty="0">
                <a:solidFill>
                  <a:srgbClr val="CADCFC"/>
                </a:solidFill>
                <a:latin typeface="Cambria" pitchFamily="34" charset="0"/>
                <a:ea typeface="Cambria" pitchFamily="34" charset="-122"/>
                <a:cs typeface="Cambria" pitchFamily="34" charset="-120"/>
              </a:rPr>
              <a:t>.</a:t>
            </a:r>
            <a:endParaRPr lang="en-US" sz="1900" dirty="0"/>
          </a:p>
        </p:txBody>
      </p:sp>
      <p:sp>
        <p:nvSpPr>
          <p:cNvPr id="6" name="Shape 4"/>
          <p:cNvSpPr/>
          <p:nvPr/>
        </p:nvSpPr>
        <p:spPr>
          <a:xfrm>
            <a:off x="566928" y="3429000"/>
            <a:ext cx="3472586" cy="2103120"/>
          </a:xfrm>
          <a:prstGeom prst="roundRect">
            <a:avLst>
              <a:gd name="adj" fmla="val 3478"/>
            </a:avLst>
          </a:prstGeom>
          <a:solidFill>
            <a:srgbClr val="CADCFC"/>
          </a:solidFill>
          <a:ln w="12700">
            <a:solidFill>
              <a:srgbClr val="333333"/>
            </a:solidFill>
            <a:prstDash val="solid"/>
          </a:ln>
        </p:spPr>
      </p:sp>
      <p:sp>
        <p:nvSpPr>
          <p:cNvPr id="7" name="Text 5"/>
          <p:cNvSpPr txBox="1"/>
          <p:nvPr/>
        </p:nvSpPr>
        <p:spPr>
          <a:xfrm>
            <a:off x="804672" y="3630168"/>
            <a:ext cx="2997098" cy="310896"/>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Hold the line and</a:t>
            </a:r>
            <a:endParaRPr lang="en-US" sz="1400" dirty="0"/>
          </a:p>
        </p:txBody>
      </p:sp>
      <p:sp>
        <p:nvSpPr>
          <p:cNvPr id="8" name="Text 6"/>
          <p:cNvSpPr txBox="1"/>
          <p:nvPr/>
        </p:nvSpPr>
        <p:spPr>
          <a:xfrm>
            <a:off x="804672" y="4032504"/>
            <a:ext cx="2997098" cy="1371600"/>
          </a:xfrm>
          <a:prstGeom prst="rect">
            <a:avLst/>
          </a:prstGeom>
          <a:noFill/>
          <a:ln/>
        </p:spPr>
        <p:txBody>
          <a:bodyPr wrap="square" lIns="0" tIns="0" rIns="0" bIns="0" rtlCol="0" anchor="t"/>
          <a:lstStyle/>
          <a:p>
            <a:pPr marL="152400" indent="-152400">
              <a:spcAft>
                <a:spcPts val="900"/>
              </a:spcAft>
              <a:buSzPct val="100000"/>
              <a:buChar char="•"/>
            </a:pPr>
            <a:r>
              <a:rPr lang="en-US" sz="1150" dirty="0">
                <a:solidFill>
                  <a:srgbClr val="1E2761"/>
                </a:solidFill>
                <a:latin typeface="Calibri" pitchFamily="34" charset="0"/>
                <a:ea typeface="Calibri" pitchFamily="34" charset="-122"/>
                <a:cs typeface="Calibri" pitchFamily="34" charset="-120"/>
              </a:rPr>
              <a:t>the vendor stays replaceable</a:t>
            </a:r>
            <a:endParaRPr lang="en-US" sz="1150" dirty="0"/>
          </a:p>
          <a:p>
            <a:pPr marL="152400" indent="-152400">
              <a:spcAft>
                <a:spcPts val="900"/>
              </a:spcAft>
              <a:buSzPct val="100000"/>
              <a:buChar char="•"/>
            </a:pPr>
            <a:r>
              <a:rPr lang="en-US" sz="1150" dirty="0">
                <a:solidFill>
                  <a:srgbClr val="1E2761"/>
                </a:solidFill>
                <a:latin typeface="Calibri" pitchFamily="34" charset="0"/>
                <a:ea typeface="Calibri" pitchFamily="34" charset="-122"/>
                <a:cs typeface="Calibri" pitchFamily="34" charset="-120"/>
              </a:rPr>
              <a:t>consumers learn one contract, once</a:t>
            </a:r>
            <a:endParaRPr lang="en-US" sz="1150" dirty="0"/>
          </a:p>
          <a:p>
            <a:pPr marL="152400" indent="-152400">
              <a:spcAft>
                <a:spcPts val="900"/>
              </a:spcAft>
              <a:buSzPct val="100000"/>
              <a:buChar char="•"/>
            </a:pPr>
            <a:r>
              <a:rPr lang="en-US" sz="1150" dirty="0">
                <a:solidFill>
                  <a:srgbClr val="1E2761"/>
                </a:solidFill>
                <a:latin typeface="Calibri" pitchFamily="34" charset="0"/>
                <a:ea typeface="Calibri" pitchFamily="34" charset="-122"/>
                <a:cs typeface="Calibri" pitchFamily="34" charset="-120"/>
              </a:rPr>
              <a:t>a review of the surface means something</a:t>
            </a:r>
            <a:endParaRPr lang="en-US" sz="1150" dirty="0"/>
          </a:p>
        </p:txBody>
      </p:sp>
      <p:sp>
        <p:nvSpPr>
          <p:cNvPr id="9" name="Shape 7"/>
          <p:cNvSpPr/>
          <p:nvPr/>
        </p:nvSpPr>
        <p:spPr>
          <a:xfrm>
            <a:off x="4359554" y="3429000"/>
            <a:ext cx="3472586" cy="2103120"/>
          </a:xfrm>
          <a:prstGeom prst="roundRect">
            <a:avLst>
              <a:gd name="adj" fmla="val 3478"/>
            </a:avLst>
          </a:prstGeom>
          <a:solidFill>
            <a:srgbClr val="C9A227"/>
          </a:solidFill>
          <a:ln w="12700">
            <a:solidFill>
              <a:srgbClr val="333333"/>
            </a:solidFill>
            <a:prstDash val="solid"/>
          </a:ln>
        </p:spPr>
      </p:sp>
      <p:sp>
        <p:nvSpPr>
          <p:cNvPr id="10" name="Text 8"/>
          <p:cNvSpPr txBox="1"/>
          <p:nvPr/>
        </p:nvSpPr>
        <p:spPr>
          <a:xfrm>
            <a:off x="4597298" y="3630168"/>
            <a:ext cx="2997098" cy="310896"/>
          </a:xfrm>
          <a:prstGeom prst="rect">
            <a:avLst/>
          </a:prstGeom>
          <a:noFill/>
          <a:ln/>
        </p:spPr>
        <p:txBody>
          <a:bodyPr wrap="square" lIns="0" tIns="0" rIns="0" bIns="0" rtlCol="0" anchor="ctr"/>
          <a:lstStyle/>
          <a:p>
            <a:pPr indent="0" marL="0">
              <a:buNone/>
            </a:pPr>
            <a:r>
              <a:rPr lang="en-US" sz="1400" b="1" dirty="0">
                <a:solidFill>
                  <a:srgbClr val="3A2E05"/>
                </a:solidFill>
                <a:latin typeface="Cambria" pitchFamily="34" charset="0"/>
                <a:ea typeface="Cambria" pitchFamily="34" charset="-122"/>
                <a:cs typeface="Cambria" pitchFamily="34" charset="-120"/>
              </a:rPr>
              <a:t>Cross it and</a:t>
            </a:r>
            <a:endParaRPr lang="en-US" sz="1400" dirty="0"/>
          </a:p>
        </p:txBody>
      </p:sp>
      <p:sp>
        <p:nvSpPr>
          <p:cNvPr id="11" name="Text 9"/>
          <p:cNvSpPr txBox="1"/>
          <p:nvPr/>
        </p:nvSpPr>
        <p:spPr>
          <a:xfrm>
            <a:off x="4597298" y="4032504"/>
            <a:ext cx="2997098" cy="1371600"/>
          </a:xfrm>
          <a:prstGeom prst="rect">
            <a:avLst/>
          </a:prstGeom>
          <a:noFill/>
          <a:ln/>
        </p:spPr>
        <p:txBody>
          <a:bodyPr wrap="square" lIns="0" tIns="0" rIns="0" bIns="0" rtlCol="0" anchor="t"/>
          <a:lstStyle/>
          <a:p>
            <a:pPr marL="152400" indent="-152400">
              <a:spcAft>
                <a:spcPts val="900"/>
              </a:spcAft>
              <a:buSzPct val="100000"/>
              <a:buChar char="•"/>
            </a:pPr>
            <a:r>
              <a:rPr lang="en-US" sz="1150" dirty="0">
                <a:solidFill>
                  <a:srgbClr val="3A2E05"/>
                </a:solidFill>
                <a:latin typeface="Calibri" pitchFamily="34" charset="0"/>
                <a:ea typeface="Calibri" pitchFamily="34" charset="-122"/>
                <a:cs typeface="Calibri" pitchFamily="34" charset="-120"/>
              </a:rPr>
              <a:t>the vendor's release plan becomes yours</a:t>
            </a:r>
            <a:endParaRPr lang="en-US" sz="1150" dirty="0"/>
          </a:p>
          <a:p>
            <a:pPr marL="152400" indent="-152400">
              <a:spcAft>
                <a:spcPts val="900"/>
              </a:spcAft>
              <a:buSzPct val="100000"/>
              <a:buChar char="•"/>
            </a:pPr>
            <a:r>
              <a:rPr lang="en-US" sz="1150" dirty="0">
                <a:solidFill>
                  <a:srgbClr val="3A2E05"/>
                </a:solidFill>
                <a:latin typeface="Calibri" pitchFamily="34" charset="0"/>
                <a:ea typeface="Calibri" pitchFamily="34" charset="-122"/>
                <a:cs typeface="Calibri" pitchFamily="34" charset="-120"/>
              </a:rPr>
              <a:t>every consumer learns their data model</a:t>
            </a:r>
            <a:endParaRPr lang="en-US" sz="1150" dirty="0"/>
          </a:p>
          <a:p>
            <a:pPr marL="152400" indent="-152400">
              <a:spcAft>
                <a:spcPts val="900"/>
              </a:spcAft>
              <a:buSzPct val="100000"/>
              <a:buChar char="•"/>
            </a:pPr>
            <a:r>
              <a:rPr lang="en-US" sz="1150" dirty="0">
                <a:solidFill>
                  <a:srgbClr val="3A2E05"/>
                </a:solidFill>
                <a:latin typeface="Calibri" pitchFamily="34" charset="0"/>
                <a:ea typeface="Calibri" pitchFamily="34" charset="-122"/>
                <a:cs typeface="Calibri" pitchFamily="34" charset="-120"/>
              </a:rPr>
              <a:t>you have paid to rename someone else's API</a:t>
            </a:r>
            <a:endParaRPr lang="en-US" sz="1150" dirty="0"/>
          </a:p>
        </p:txBody>
      </p:sp>
      <p:sp>
        <p:nvSpPr>
          <p:cNvPr id="12" name="Shape 10"/>
          <p:cNvSpPr/>
          <p:nvPr/>
        </p:nvSpPr>
        <p:spPr>
          <a:xfrm>
            <a:off x="8152181" y="3429000"/>
            <a:ext cx="3472586" cy="2103120"/>
          </a:xfrm>
          <a:prstGeom prst="roundRect">
            <a:avLst>
              <a:gd name="adj" fmla="val 3478"/>
            </a:avLst>
          </a:prstGeom>
          <a:solidFill>
            <a:srgbClr val="FFFFFF"/>
          </a:solidFill>
          <a:ln w="12700">
            <a:solidFill>
              <a:srgbClr val="333333"/>
            </a:solidFill>
            <a:prstDash val="solid"/>
          </a:ln>
        </p:spPr>
      </p:sp>
      <p:sp>
        <p:nvSpPr>
          <p:cNvPr id="13" name="Text 11"/>
          <p:cNvSpPr txBox="1"/>
          <p:nvPr/>
        </p:nvSpPr>
        <p:spPr>
          <a:xfrm>
            <a:off x="8389925" y="3630168"/>
            <a:ext cx="2997098" cy="310896"/>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So the tooling</a:t>
            </a:r>
            <a:endParaRPr lang="en-US" sz="1400" dirty="0"/>
          </a:p>
        </p:txBody>
      </p:sp>
      <p:sp>
        <p:nvSpPr>
          <p:cNvPr id="14" name="Text 12"/>
          <p:cNvSpPr txBox="1"/>
          <p:nvPr/>
        </p:nvSpPr>
        <p:spPr>
          <a:xfrm>
            <a:off x="8389925" y="4032504"/>
            <a:ext cx="2997098" cy="1371600"/>
          </a:xfrm>
          <a:prstGeom prst="rect">
            <a:avLst/>
          </a:prstGeom>
          <a:noFill/>
          <a:ln/>
        </p:spPr>
        <p:txBody>
          <a:bodyPr wrap="square" lIns="0" tIns="0" rIns="0" bIns="0" rtlCol="0" anchor="t"/>
          <a:lstStyle/>
          <a:p>
            <a:pPr marL="152400" indent="-152400">
              <a:spcAft>
                <a:spcPts val="900"/>
              </a:spcAft>
              <a:buSzPct val="100000"/>
              <a:buChar char="•"/>
            </a:pPr>
            <a:r>
              <a:rPr lang="en-US" sz="1150" dirty="0">
                <a:solidFill>
                  <a:srgbClr val="1E2761"/>
                </a:solidFill>
                <a:latin typeface="Calibri" pitchFamily="34" charset="0"/>
                <a:ea typeface="Calibri" pitchFamily="34" charset="-122"/>
                <a:cs typeface="Calibri" pitchFamily="34" charset="-120"/>
              </a:rPr>
              <a:t>takes every name and structure from the workbook</a:t>
            </a:r>
            <a:endParaRPr lang="en-US" sz="1150" dirty="0"/>
          </a:p>
          <a:p>
            <a:pPr marL="152400" indent="-152400">
              <a:spcAft>
                <a:spcPts val="900"/>
              </a:spcAft>
              <a:buSzPct val="100000"/>
              <a:buChar char="•"/>
            </a:pPr>
            <a:r>
              <a:rPr lang="en-US" sz="1150" dirty="0">
                <a:solidFill>
                  <a:srgbClr val="1E2761"/>
                </a:solidFill>
                <a:latin typeface="Calibri" pitchFamily="34" charset="0"/>
                <a:ea typeface="Calibri" pitchFamily="34" charset="-122"/>
                <a:cs typeface="Calibri" pitchFamily="34" charset="-120"/>
              </a:rPr>
              <a:t>consults the SOR only to decide presence</a:t>
            </a:r>
            <a:endParaRPr lang="en-US" sz="1150" dirty="0"/>
          </a:p>
          <a:p>
            <a:pPr marL="152400" indent="-152400">
              <a:spcAft>
                <a:spcPts val="900"/>
              </a:spcAft>
              <a:buSzPct val="100000"/>
              <a:buChar char="•"/>
            </a:pPr>
            <a:r>
              <a:rPr lang="en-US" sz="1150" dirty="0">
                <a:solidFill>
                  <a:srgbClr val="1E2761"/>
                </a:solidFill>
                <a:latin typeface="Calibri" pitchFamily="34" charset="0"/>
                <a:ea typeface="Calibri" pitchFamily="34" charset="-122"/>
                <a:cs typeface="Calibri" pitchFamily="34" charset="-120"/>
              </a:rPr>
              <a:t>can subtract, and can never reshape</a:t>
            </a:r>
            <a:endParaRPr lang="en-US" sz="1150" dirty="0"/>
          </a:p>
        </p:txBody>
      </p:sp>
      <p:sp>
        <p:nvSpPr>
          <p:cNvPr id="15" name="Text 13"/>
          <p:cNvSpPr txBox="1"/>
          <p:nvPr/>
        </p:nvSpPr>
        <p:spPr>
          <a:xfrm>
            <a:off x="566928" y="6291072"/>
            <a:ext cx="4572000" cy="292608"/>
          </a:xfrm>
          <a:prstGeom prst="rect">
            <a:avLst/>
          </a:prstGeom>
          <a:noFill/>
          <a:ln/>
        </p:spPr>
        <p:txBody>
          <a:bodyPr wrap="square" lIns="0" tIns="0" rIns="0" bIns="0" rtlCol="0" anchor="ctr"/>
          <a:lstStyle/>
          <a:p>
            <a:pPr indent="0" marL="0">
              <a:buNone/>
            </a:pPr>
            <a:r>
              <a:rPr lang="en-US" sz="1100" dirty="0">
                <a:solidFill>
                  <a:srgbClr val="9FBEEA"/>
                </a:solidFill>
                <a:latin typeface="Calibri" pitchFamily="34" charset="0"/>
                <a:ea typeface="Calibri" pitchFamily="34" charset="-122"/>
                <a:cs typeface="Calibri" pitchFamily="34" charset="-120"/>
              </a:rPr>
              <a:t>CC&amp;C Solutions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the System of Record must not shape the BIAN interface</dc:title>
  <dc:subject>PptxGenJS Presentation</dc:subject>
  <dc:creator>CC&amp;C Solutions</dc:creator>
  <cp:lastModifiedBy>CC&amp;C Solutions</cp:lastModifiedBy>
  <cp:revision>1</cp:revision>
  <dcterms:created xsi:type="dcterms:W3CDTF">2026-09-03T01:59:15Z</dcterms:created>
  <dcterms:modified xsi:type="dcterms:W3CDTF">2026-09-03T01:59:15Z</dcterms:modified>
</cp:coreProperties>
</file>