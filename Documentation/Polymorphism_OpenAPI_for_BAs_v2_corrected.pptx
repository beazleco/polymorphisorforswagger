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10"/>
  </p:normalViewPr>
  <p:slideViewPr>
    <p:cSldViewPr snapToGrid="0" snapToObjects="1">
      <p:cViewPr varScale="1">
        <p:scale>
          <a:sx n="107" d="100"/>
          <a:sy n="107" d="100"/>
        </p:scale>
        <p:origin x="52"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44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version grounds polymorphism in a concrete artefact the team touches: an OpenAPI/Swagger file. We cover both halves — defining the polymorphism in the schema, and how it is used at runtime by a client and server.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three keywords before showing code: allOf = inheritance, oneOf = the set of allowed forms, discriminator = the selector field. Everything after this is these three in action.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the base holds shared fields and the discriminator block. propertyName is the selector; mapping ties each value to a concrete schema. Stress the required constraint and the extensibility payoff.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each subtype is allOf [ $ref base, its own object ]. That is the inheritance relationship. Only the delta is defined per subtype, so the shared contract stays single-sourced.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of the structure: base Payment on top, three subtypes below, edges labelled with the discriminator mapping values. Connects the YAML to a picture the team can hold in their head.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the usage half. The endpoint references the base Payment. A concrete request carries the discriminator value ('card') plus the fields for that subtype. Same endpoint, many forms.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runtime story, left to right: raw JSON, read the discriminator, apply the mapping, validate and bind to a typed object. Code generators (openapi-generator, NSwag) build this resolution for you from the same file.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approach. oneOf enumerates the forms but there is no tag, so the body's own fields decide the match. This only works when each form is self-contained: it must declare its distinguishing fields as required and set additionalProperties: false. Two traps worth calling out. Reusing the allOf subtypes here does not work, because they inherit a base that requires paymentType, so an untagged body matches nothing. And putting additionalProperties: false inside an allOf branch does not work either, because that branch cannot see the base's properties and rejects them as unexpected. Flatten the form instead.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validator tests the untagged body against each form. Only CardForm's required fields are satisfied and it permits nothing else, so it wins. The point to labour: an absent OPTIONAL field never rules a form out. If iban and bic were merely optional, a card body would satisfy TransferForm as well and oneOf would fail with multiple matches. Ambiguity, zero or two matches, is an error, exactly like an ambiguous overload set in 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two Swagger approaches to C++: discriminator behaves like virtual dispatch, the type is known and the tag drives it; oneOf behaves like overload resolution, the payload's fields select the match. Two caveats. JSON's coarse type system means shape-matching cannot replicate true type-based overloading. And shape-matching only discriminates at all when every form declares required fields and forbids extras. Discriminator is the safer default.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tabs live on one swagger and share ChequeProcessingResultBase, the base the tooling generates. Enquiry maps the lifecycle status and image; Submission marks them Not Used In SOR. A single shared schema would force those unused fields to appear as empty rows in the POST response. Note the SOR field names on this slide come from the cheque mapping workbook and should be re-checked against it before the session.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ChequeProcessingResultBase holds the two common fields plus the discriminator, and resultContext is the selector name the tooling proposes. Nested classes such as ChequeLifestyleStatus are their own schemas, pulled in by $ref. The Enquiry profile adds the lifecycle object and the image; the Submission profile adds nothing, so unused elements never appear. The discriminator is optional: it adds a selector field the SOR does not supply, so where that is unwelcome, use plain allOf inheritance and drop the discriminator block.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one shared ChequeProcessingResultBase, two operation profiles selected by the resultContext discriminator. The Submission profile adds nothing beyond the core, so its response emits no empty rows for the unused objects, while both operations still conform to one canonical model on the same swagger. Worth adding verbally: an object that loses every mapped attribute must be removed from the specification altogether, not left declared with no properties, or the payload renders as an empty {} instead.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schema component isn't tied to a direction. The same class — here the cheque identity fields that recur in both the request and the response — is defined once in components/schemas and $ref'd from a requestBody and from a response. The same holds for the discriminated base and its profiles, so there are never duplicate request/response copies to maintain.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both halves — create (allOf + discriminator) and use (one endpoint, runtime resolution) — and the extensibility benefit. Offer to run openapi-generator on a real spec so the team can see the generated typed models.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326880" y="-1280160"/>
            <a:ext cx="4937760" cy="4937760"/>
          </a:xfrm>
          <a:prstGeom prst="ellipse">
            <a:avLst/>
          </a:prstGeom>
          <a:solidFill>
            <a:srgbClr val="065A82">
              <a:alpha val="45000"/>
            </a:srgbClr>
          </a:solidFill>
          <a:ln/>
        </p:spPr>
        <p:txBody>
          <a:bodyPr/>
          <a:lstStyle/>
          <a:p>
            <a:endParaRPr lang="en-AU"/>
          </a:p>
        </p:txBody>
      </p:sp>
      <p:sp>
        <p:nvSpPr>
          <p:cNvPr id="3" name="Shape 1"/>
          <p:cNvSpPr/>
          <p:nvPr/>
        </p:nvSpPr>
        <p:spPr>
          <a:xfrm>
            <a:off x="10424160" y="3291840"/>
            <a:ext cx="3657600" cy="3657600"/>
          </a:xfrm>
          <a:prstGeom prst="ellipse">
            <a:avLst/>
          </a:prstGeom>
          <a:solidFill>
            <a:srgbClr val="1C7293">
              <a:alpha val="40000"/>
            </a:srgbClr>
          </a:solidFill>
          <a:ln/>
        </p:spPr>
        <p:txBody>
          <a:bodyPr/>
          <a:lstStyle/>
          <a:p>
            <a:endParaRPr lang="en-AU"/>
          </a:p>
        </p:txBody>
      </p:sp>
      <p:sp>
        <p:nvSpPr>
          <p:cNvPr id="4" name="Shape 2"/>
          <p:cNvSpPr/>
          <p:nvPr/>
        </p:nvSpPr>
        <p:spPr>
          <a:xfrm>
            <a:off x="9052560" y="1965960"/>
            <a:ext cx="2377440" cy="1554480"/>
          </a:xfrm>
          <a:prstGeom prst="roundRect">
            <a:avLst>
              <a:gd name="adj" fmla="val 3529"/>
            </a:avLst>
          </a:prstGeom>
          <a:solidFill>
            <a:srgbClr val="132235"/>
          </a:solidFill>
          <a:ln/>
        </p:spPr>
        <p:txBody>
          <a:bodyPr/>
          <a:lstStyle/>
          <a:p>
            <a:endParaRPr lang="en-AU"/>
          </a:p>
        </p:txBody>
      </p:sp>
      <p:sp>
        <p:nvSpPr>
          <p:cNvPr id="5" name="Text 3"/>
          <p:cNvSpPr/>
          <p:nvPr/>
        </p:nvSpPr>
        <p:spPr>
          <a:xfrm>
            <a:off x="9235440" y="2148840"/>
            <a:ext cx="2103120" cy="1188720"/>
          </a:xfrm>
          <a:prstGeom prst="rect">
            <a:avLst/>
          </a:prstGeom>
          <a:noFill/>
          <a:ln/>
        </p:spPr>
        <p:txBody>
          <a:bodyPr wrap="square" lIns="0" tIns="0" rIns="0" bIns="0" rtlCol="0" anchor="t"/>
          <a:lstStyle/>
          <a:p>
            <a:pPr marL="0" indent="0">
              <a:lnSpc>
                <a:spcPct val="120000"/>
              </a:lnSpc>
              <a:buNone/>
            </a:pPr>
            <a:r>
              <a:rPr lang="en-US" sz="1200" dirty="0">
                <a:solidFill>
                  <a:srgbClr val="9CDCFE"/>
                </a:solidFill>
                <a:latin typeface="Consolas" pitchFamily="34" charset="0"/>
                <a:ea typeface="Consolas" pitchFamily="34" charset="-122"/>
                <a:cs typeface="Consolas" pitchFamily="34" charset="-120"/>
              </a:rPr>
              <a:t>oneOf</a:t>
            </a:r>
            <a:endParaRPr lang="en-US" sz="1200" dirty="0"/>
          </a:p>
          <a:p>
            <a:pPr marL="0" indent="0">
              <a:lnSpc>
                <a:spcPct val="120000"/>
              </a:lnSpc>
              <a:buNone/>
            </a:pPr>
            <a:r>
              <a:rPr lang="en-US" sz="1200" dirty="0">
                <a:solidFill>
                  <a:srgbClr val="F6AE2D"/>
                </a:solidFill>
                <a:latin typeface="Consolas" pitchFamily="34" charset="0"/>
                <a:ea typeface="Consolas" pitchFamily="34" charset="-122"/>
                <a:cs typeface="Consolas" pitchFamily="34" charset="-120"/>
              </a:rPr>
              <a:t>discriminator:</a:t>
            </a:r>
            <a:endParaRPr lang="en-US" sz="1200" dirty="0"/>
          </a:p>
          <a:p>
            <a:pPr marL="0" indent="0">
              <a:lnSpc>
                <a:spcPct val="120000"/>
              </a:lnSpc>
              <a:buNone/>
            </a:pPr>
            <a:r>
              <a:rPr lang="en-US" sz="1200" dirty="0">
                <a:solidFill>
                  <a:srgbClr val="CE9178"/>
                </a:solidFill>
                <a:latin typeface="Consolas" pitchFamily="34" charset="0"/>
                <a:ea typeface="Consolas" pitchFamily="34" charset="-122"/>
                <a:cs typeface="Consolas" pitchFamily="34" charset="-120"/>
              </a:rPr>
              <a:t>  card </a:t>
            </a:r>
            <a:r>
              <a:rPr lang="en-US" sz="1200" dirty="0">
                <a:solidFill>
                  <a:srgbClr val="C9D1D9"/>
                </a:solidFill>
                <a:latin typeface="Consolas" pitchFamily="34" charset="0"/>
                <a:ea typeface="Consolas" pitchFamily="34" charset="-122"/>
                <a:cs typeface="Consolas" pitchFamily="34" charset="-120"/>
              </a:rPr>
              <a:t>→ Card</a:t>
            </a:r>
            <a:endParaRPr lang="en-US" sz="1200" dirty="0"/>
          </a:p>
        </p:txBody>
      </p:sp>
      <p:sp>
        <p:nvSpPr>
          <p:cNvPr id="6" name="Text 4"/>
          <p:cNvSpPr/>
          <p:nvPr/>
        </p:nvSpPr>
        <p:spPr>
          <a:xfrm>
            <a:off x="822960" y="1600200"/>
            <a:ext cx="7315200" cy="365760"/>
          </a:xfrm>
          <a:prstGeom prst="rect">
            <a:avLst/>
          </a:prstGeom>
          <a:noFill/>
          <a:ln/>
        </p:spPr>
        <p:txBody>
          <a:bodyPr wrap="square" lIns="0" tIns="0" rIns="0" bIns="0" rtlCol="0" anchor="ctr"/>
          <a:lstStyle/>
          <a:p>
            <a:pPr marL="0" indent="0">
              <a:buNone/>
            </a:pPr>
            <a:r>
              <a:rPr lang="en-US" sz="1400" b="1" kern="0" spc="200" dirty="0">
                <a:solidFill>
                  <a:srgbClr val="F6AE2D"/>
                </a:solidFill>
                <a:latin typeface="Calibri" pitchFamily="34" charset="0"/>
                <a:ea typeface="Calibri" pitchFamily="34" charset="-122"/>
                <a:cs typeface="Calibri" pitchFamily="34" charset="-120"/>
              </a:rPr>
              <a:t>TECHNICAL DEEP-DIVE  ·  OPENAPI / SWAGGER</a:t>
            </a:r>
            <a:endParaRPr lang="en-US" sz="1400" dirty="0"/>
          </a:p>
        </p:txBody>
      </p:sp>
      <p:sp>
        <p:nvSpPr>
          <p:cNvPr id="7" name="Text 5"/>
          <p:cNvSpPr/>
          <p:nvPr/>
        </p:nvSpPr>
        <p:spPr>
          <a:xfrm>
            <a:off x="777240" y="2011680"/>
            <a:ext cx="8229600" cy="1188720"/>
          </a:xfrm>
          <a:prstGeom prst="rect">
            <a:avLst/>
          </a:prstGeom>
          <a:noFill/>
          <a:ln/>
        </p:spPr>
        <p:txBody>
          <a:bodyPr wrap="square" lIns="0" tIns="0" rIns="0" bIns="0" rtlCol="0" anchor="ctr"/>
          <a:lstStyle/>
          <a:p>
            <a:pPr marL="0" indent="0">
              <a:buNone/>
            </a:pPr>
            <a:r>
              <a:rPr lang="en-US" sz="5600" b="1" dirty="0">
                <a:solidFill>
                  <a:srgbClr val="FFFFFF"/>
                </a:solidFill>
                <a:latin typeface="Cambria" pitchFamily="34" charset="0"/>
                <a:ea typeface="Cambria" pitchFamily="34" charset="-122"/>
                <a:cs typeface="Cambria" pitchFamily="34" charset="-120"/>
              </a:rPr>
              <a:t>Polymorphism</a:t>
            </a:r>
            <a:endParaRPr lang="en-US" sz="5600" dirty="0"/>
          </a:p>
        </p:txBody>
      </p:sp>
      <p:sp>
        <p:nvSpPr>
          <p:cNvPr id="8" name="Text 6"/>
          <p:cNvSpPr/>
          <p:nvPr/>
        </p:nvSpPr>
        <p:spPr>
          <a:xfrm>
            <a:off x="822960" y="3337560"/>
            <a:ext cx="7589520" cy="914400"/>
          </a:xfrm>
          <a:prstGeom prst="rect">
            <a:avLst/>
          </a:prstGeom>
          <a:noFill/>
          <a:ln/>
        </p:spPr>
        <p:txBody>
          <a:bodyPr wrap="square" lIns="0" tIns="0" rIns="0" bIns="0" rtlCol="0" anchor="ctr"/>
          <a:lstStyle/>
          <a:p>
            <a:pPr marL="0" indent="0">
              <a:lnSpc>
                <a:spcPct val="110000"/>
              </a:lnSpc>
              <a:buNone/>
            </a:pPr>
            <a:r>
              <a:rPr lang="en-US" sz="1800" dirty="0">
                <a:solidFill>
                  <a:srgbClr val="CADCFC"/>
                </a:solidFill>
                <a:latin typeface="Calibri" pitchFamily="34" charset="0"/>
                <a:ea typeface="Calibri" pitchFamily="34" charset="-122"/>
                <a:cs typeface="Calibri" pitchFamily="34" charset="-120"/>
              </a:rPr>
              <a:t>How to model it in an API contract — and how a client and server actually use it.</a:t>
            </a:r>
            <a:endParaRPr lang="en-US" sz="1800" dirty="0"/>
          </a:p>
        </p:txBody>
      </p:sp>
      <p:sp>
        <p:nvSpPr>
          <p:cNvPr id="9" name="Text 7"/>
          <p:cNvSpPr/>
          <p:nvPr/>
        </p:nvSpPr>
        <p:spPr>
          <a:xfrm>
            <a:off x="822960" y="5943600"/>
            <a:ext cx="7315200" cy="365760"/>
          </a:xfrm>
          <a:prstGeom prst="rect">
            <a:avLst/>
          </a:prstGeom>
          <a:noFill/>
          <a:ln/>
        </p:spPr>
        <p:txBody>
          <a:bodyPr wrap="square" lIns="0" tIns="0" rIns="0" bIns="0" rtlCol="0" anchor="ctr"/>
          <a:lstStyle/>
          <a:p>
            <a:pPr marL="0" indent="0">
              <a:buNone/>
            </a:pPr>
            <a:r>
              <a:rPr lang="en-US" sz="1300" i="1" dirty="0">
                <a:solidFill>
                  <a:srgbClr val="9FB3C8"/>
                </a:solidFill>
                <a:latin typeface="Calibri" pitchFamily="34" charset="0"/>
                <a:ea typeface="Calibri" pitchFamily="34" charset="-122"/>
                <a:cs typeface="Calibri" pitchFamily="34" charset="-120"/>
              </a:rPr>
              <a:t>Business Analysis team  ·  working session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85800"/>
          </a:xfrm>
          <a:prstGeom prst="rect">
            <a:avLst/>
          </a:prstGeom>
          <a:noFill/>
          <a:ln/>
        </p:spPr>
        <p:txBody>
          <a:bodyPr wrap="square" lIns="0" tIns="0" rIns="0" bIns="0" rtlCol="0" anchor="ctr"/>
          <a:lstStyle/>
          <a:p>
            <a:pPr marL="0" indent="0">
              <a:buNone/>
            </a:pPr>
            <a:r>
              <a:rPr lang="en-US" sz="3400" b="1" dirty="0">
                <a:solidFill>
                  <a:srgbClr val="21295C"/>
                </a:solidFill>
                <a:latin typeface="Cambria" pitchFamily="34" charset="0"/>
                <a:ea typeface="Cambria" pitchFamily="34" charset="-122"/>
                <a:cs typeface="Cambria" pitchFamily="34" charset="-120"/>
              </a:rPr>
              <a:t>The idea, then the mechanism</a:t>
            </a:r>
            <a:endParaRPr lang="en-US" sz="3400" dirty="0"/>
          </a:p>
        </p:txBody>
      </p:sp>
      <p:sp>
        <p:nvSpPr>
          <p:cNvPr id="3" name="Text 1"/>
          <p:cNvSpPr/>
          <p:nvPr/>
        </p:nvSpPr>
        <p:spPr>
          <a:xfrm>
            <a:off x="640080" y="1600200"/>
            <a:ext cx="10881360" cy="640080"/>
          </a:xfrm>
          <a:prstGeom prst="rect">
            <a:avLst/>
          </a:prstGeom>
          <a:noFill/>
          <a:ln/>
        </p:spPr>
        <p:txBody>
          <a:bodyPr wrap="square" lIns="0" tIns="0" rIns="0" bIns="0" rtlCol="0" anchor="ctr"/>
          <a:lstStyle/>
          <a:p>
            <a:pPr marL="0" indent="0">
              <a:lnSpc>
                <a:spcPct val="110000"/>
              </a:lnSpc>
              <a:buNone/>
            </a:pPr>
            <a:r>
              <a:rPr lang="en-US" sz="1800" b="1" dirty="0">
                <a:solidFill>
                  <a:srgbClr val="21295C"/>
                </a:solidFill>
                <a:latin typeface="Calibri" pitchFamily="34" charset="0"/>
                <a:ea typeface="Calibri" pitchFamily="34" charset="-122"/>
                <a:cs typeface="Calibri" pitchFamily="34" charset="-120"/>
              </a:rPr>
              <a:t>Polymorphism:  </a:t>
            </a:r>
            <a:r>
              <a:rPr lang="en-US" sz="1800" dirty="0">
                <a:solidFill>
                  <a:srgbClr val="1F2A33"/>
                </a:solidFill>
                <a:latin typeface="Calibri" pitchFamily="34" charset="0"/>
                <a:ea typeface="Calibri" pitchFamily="34" charset="-122"/>
                <a:cs typeface="Calibri" pitchFamily="34" charset="-120"/>
              </a:rPr>
              <a:t>one field, one endpoint, many concrete shapes — resolved by a single value that names the shape.</a:t>
            </a:r>
            <a:endParaRPr lang="en-US" sz="1800" dirty="0"/>
          </a:p>
        </p:txBody>
      </p:sp>
      <p:sp>
        <p:nvSpPr>
          <p:cNvPr id="4" name="Shape 2"/>
          <p:cNvSpPr/>
          <p:nvPr/>
        </p:nvSpPr>
        <p:spPr>
          <a:xfrm>
            <a:off x="640080" y="2468880"/>
            <a:ext cx="3520440" cy="3246120"/>
          </a:xfrm>
          <a:prstGeom prst="roundRect">
            <a:avLst>
              <a:gd name="adj" fmla="val 2817"/>
            </a:avLst>
          </a:prstGeom>
          <a:solidFill>
            <a:srgbClr val="EAF1F5"/>
          </a:solidFill>
          <a:ln/>
          <a:effectLst>
            <a:outerShdw blurRad="76200" dist="25400" dir="5400000" algn="bl" rotWithShape="0">
              <a:srgbClr val="9FB3C8">
                <a:alpha val="30000"/>
              </a:srgbClr>
            </a:outerShdw>
          </a:effectLst>
        </p:spPr>
        <p:txBody>
          <a:bodyPr/>
          <a:lstStyle/>
          <a:p>
            <a:endParaRPr lang="en-AU"/>
          </a:p>
        </p:txBody>
      </p:sp>
      <p:sp>
        <p:nvSpPr>
          <p:cNvPr id="5" name="Shape 3"/>
          <p:cNvSpPr/>
          <p:nvPr/>
        </p:nvSpPr>
        <p:spPr>
          <a:xfrm>
            <a:off x="1005840" y="2834640"/>
            <a:ext cx="2788920" cy="566928"/>
          </a:xfrm>
          <a:prstGeom prst="roundRect">
            <a:avLst>
              <a:gd name="adj" fmla="val 8065"/>
            </a:avLst>
          </a:prstGeom>
          <a:solidFill>
            <a:srgbClr val="132235"/>
          </a:solidFill>
          <a:ln/>
        </p:spPr>
        <p:txBody>
          <a:bodyPr/>
          <a:lstStyle/>
          <a:p>
            <a:endParaRPr lang="en-AU"/>
          </a:p>
        </p:txBody>
      </p:sp>
      <p:sp>
        <p:nvSpPr>
          <p:cNvPr id="6" name="Text 4"/>
          <p:cNvSpPr/>
          <p:nvPr/>
        </p:nvSpPr>
        <p:spPr>
          <a:xfrm>
            <a:off x="1005840" y="2834640"/>
            <a:ext cx="2788920" cy="566928"/>
          </a:xfrm>
          <a:prstGeom prst="rect">
            <a:avLst/>
          </a:prstGeom>
          <a:noFill/>
          <a:ln/>
        </p:spPr>
        <p:txBody>
          <a:bodyPr wrap="square" lIns="0" tIns="0" rIns="0" bIns="0" rtlCol="0" anchor="ctr"/>
          <a:lstStyle/>
          <a:p>
            <a:pPr marL="0" indent="0" algn="ctr">
              <a:buNone/>
            </a:pPr>
            <a:r>
              <a:rPr lang="en-US" sz="1600" b="1" dirty="0">
                <a:solidFill>
                  <a:srgbClr val="F6AE2D"/>
                </a:solidFill>
                <a:latin typeface="Consolas" pitchFamily="34" charset="0"/>
                <a:ea typeface="Consolas" pitchFamily="34" charset="-122"/>
                <a:cs typeface="Consolas" pitchFamily="34" charset="-120"/>
              </a:rPr>
              <a:t>allOf</a:t>
            </a:r>
            <a:endParaRPr lang="en-US" sz="1600" dirty="0"/>
          </a:p>
        </p:txBody>
      </p:sp>
      <p:sp>
        <p:nvSpPr>
          <p:cNvPr id="7" name="Text 5"/>
          <p:cNvSpPr/>
          <p:nvPr/>
        </p:nvSpPr>
        <p:spPr>
          <a:xfrm>
            <a:off x="1005840" y="3611880"/>
            <a:ext cx="2788920" cy="457200"/>
          </a:xfrm>
          <a:prstGeom prst="rect">
            <a:avLst/>
          </a:prstGeom>
          <a:noFill/>
          <a:ln/>
        </p:spPr>
        <p:txBody>
          <a:bodyPr wrap="square" lIns="0" tIns="0" rIns="0" bIns="0" rtlCol="0" anchor="ctr"/>
          <a:lstStyle/>
          <a:p>
            <a:pPr marL="0" indent="0">
              <a:buNone/>
            </a:pPr>
            <a:r>
              <a:rPr lang="en-US" sz="1900" b="1" dirty="0">
                <a:solidFill>
                  <a:srgbClr val="21295C"/>
                </a:solidFill>
                <a:latin typeface="Cambria" pitchFamily="34" charset="0"/>
                <a:ea typeface="Cambria" pitchFamily="34" charset="-122"/>
                <a:cs typeface="Cambria" pitchFamily="34" charset="-120"/>
              </a:rPr>
              <a:t>Composition / inheritance</a:t>
            </a:r>
            <a:endParaRPr lang="en-US" sz="1900" dirty="0"/>
          </a:p>
        </p:txBody>
      </p:sp>
      <p:sp>
        <p:nvSpPr>
          <p:cNvPr id="8" name="Text 6"/>
          <p:cNvSpPr/>
          <p:nvPr/>
        </p:nvSpPr>
        <p:spPr>
          <a:xfrm>
            <a:off x="1005840" y="4114800"/>
            <a:ext cx="2788920" cy="1371600"/>
          </a:xfrm>
          <a:prstGeom prst="rect">
            <a:avLst/>
          </a:prstGeom>
          <a:noFill/>
          <a:ln/>
        </p:spPr>
        <p:txBody>
          <a:bodyPr wrap="square" lIns="0" tIns="0" rIns="0" bIns="0" rtlCol="0" anchor="ctr"/>
          <a:lstStyle/>
          <a:p>
            <a:pPr marL="0" indent="0">
              <a:lnSpc>
                <a:spcPct val="115000"/>
              </a:lnSpc>
              <a:buNone/>
            </a:pPr>
            <a:r>
              <a:rPr lang="en-US" sz="1500" dirty="0">
                <a:solidFill>
                  <a:srgbClr val="1F2A33"/>
                </a:solidFill>
                <a:latin typeface="Calibri" pitchFamily="34" charset="0"/>
                <a:ea typeface="Calibri" pitchFamily="34" charset="-122"/>
                <a:cs typeface="Calibri" pitchFamily="34" charset="-120"/>
              </a:rPr>
              <a:t>A subtype = the base schema + its own extra properties.</a:t>
            </a:r>
            <a:endParaRPr lang="en-US" sz="1500" dirty="0"/>
          </a:p>
        </p:txBody>
      </p:sp>
      <p:sp>
        <p:nvSpPr>
          <p:cNvPr id="9" name="Shape 7"/>
          <p:cNvSpPr/>
          <p:nvPr/>
        </p:nvSpPr>
        <p:spPr>
          <a:xfrm>
            <a:off x="4480560" y="2468880"/>
            <a:ext cx="3520440" cy="3246120"/>
          </a:xfrm>
          <a:prstGeom prst="roundRect">
            <a:avLst>
              <a:gd name="adj" fmla="val 2817"/>
            </a:avLst>
          </a:prstGeom>
          <a:solidFill>
            <a:srgbClr val="EAF1F5"/>
          </a:solidFill>
          <a:ln/>
          <a:effectLst>
            <a:outerShdw blurRad="76200" dist="25400" dir="5400000" algn="bl" rotWithShape="0">
              <a:srgbClr val="9FB3C8">
                <a:alpha val="30000"/>
              </a:srgbClr>
            </a:outerShdw>
          </a:effectLst>
        </p:spPr>
        <p:txBody>
          <a:bodyPr/>
          <a:lstStyle/>
          <a:p>
            <a:endParaRPr lang="en-AU"/>
          </a:p>
        </p:txBody>
      </p:sp>
      <p:sp>
        <p:nvSpPr>
          <p:cNvPr id="10" name="Shape 8"/>
          <p:cNvSpPr/>
          <p:nvPr/>
        </p:nvSpPr>
        <p:spPr>
          <a:xfrm>
            <a:off x="4846320" y="2834640"/>
            <a:ext cx="2788920" cy="566928"/>
          </a:xfrm>
          <a:prstGeom prst="roundRect">
            <a:avLst>
              <a:gd name="adj" fmla="val 8065"/>
            </a:avLst>
          </a:prstGeom>
          <a:solidFill>
            <a:srgbClr val="132235"/>
          </a:solidFill>
          <a:ln/>
        </p:spPr>
        <p:txBody>
          <a:bodyPr/>
          <a:lstStyle/>
          <a:p>
            <a:endParaRPr lang="en-AU"/>
          </a:p>
        </p:txBody>
      </p:sp>
      <p:sp>
        <p:nvSpPr>
          <p:cNvPr id="11" name="Text 9"/>
          <p:cNvSpPr/>
          <p:nvPr/>
        </p:nvSpPr>
        <p:spPr>
          <a:xfrm>
            <a:off x="4846320" y="2834640"/>
            <a:ext cx="2788920" cy="566928"/>
          </a:xfrm>
          <a:prstGeom prst="rect">
            <a:avLst/>
          </a:prstGeom>
          <a:noFill/>
          <a:ln/>
        </p:spPr>
        <p:txBody>
          <a:bodyPr wrap="square" lIns="0" tIns="0" rIns="0" bIns="0" rtlCol="0" anchor="ctr"/>
          <a:lstStyle/>
          <a:p>
            <a:pPr marL="0" indent="0" algn="ctr">
              <a:buNone/>
            </a:pPr>
            <a:r>
              <a:rPr lang="en-US" sz="1600" b="1" dirty="0">
                <a:solidFill>
                  <a:srgbClr val="1C7293"/>
                </a:solidFill>
                <a:latin typeface="Consolas" pitchFamily="34" charset="0"/>
                <a:ea typeface="Consolas" pitchFamily="34" charset="-122"/>
                <a:cs typeface="Consolas" pitchFamily="34" charset="-120"/>
              </a:rPr>
              <a:t>oneOf</a:t>
            </a:r>
            <a:endParaRPr lang="en-US" sz="1600" dirty="0"/>
          </a:p>
        </p:txBody>
      </p:sp>
      <p:sp>
        <p:nvSpPr>
          <p:cNvPr id="12" name="Text 10"/>
          <p:cNvSpPr/>
          <p:nvPr/>
        </p:nvSpPr>
        <p:spPr>
          <a:xfrm>
            <a:off x="4846320" y="3611880"/>
            <a:ext cx="2788920" cy="457200"/>
          </a:xfrm>
          <a:prstGeom prst="rect">
            <a:avLst/>
          </a:prstGeom>
          <a:noFill/>
          <a:ln/>
        </p:spPr>
        <p:txBody>
          <a:bodyPr wrap="square" lIns="0" tIns="0" rIns="0" bIns="0" rtlCol="0" anchor="ctr"/>
          <a:lstStyle/>
          <a:p>
            <a:pPr marL="0" indent="0">
              <a:buNone/>
            </a:pPr>
            <a:r>
              <a:rPr lang="en-US" sz="1900" b="1" dirty="0">
                <a:solidFill>
                  <a:srgbClr val="21295C"/>
                </a:solidFill>
                <a:latin typeface="Cambria" pitchFamily="34" charset="0"/>
                <a:ea typeface="Cambria" pitchFamily="34" charset="-122"/>
                <a:cs typeface="Cambria" pitchFamily="34" charset="-120"/>
              </a:rPr>
              <a:t>The set of forms</a:t>
            </a:r>
            <a:endParaRPr lang="en-US" sz="1900" dirty="0"/>
          </a:p>
        </p:txBody>
      </p:sp>
      <p:sp>
        <p:nvSpPr>
          <p:cNvPr id="13" name="Text 11"/>
          <p:cNvSpPr/>
          <p:nvPr/>
        </p:nvSpPr>
        <p:spPr>
          <a:xfrm>
            <a:off x="4846320" y="4114800"/>
            <a:ext cx="2788920" cy="1371600"/>
          </a:xfrm>
          <a:prstGeom prst="rect">
            <a:avLst/>
          </a:prstGeom>
          <a:noFill/>
          <a:ln/>
        </p:spPr>
        <p:txBody>
          <a:bodyPr wrap="square" lIns="0" tIns="0" rIns="0" bIns="0" rtlCol="0" anchor="ctr"/>
          <a:lstStyle/>
          <a:p>
            <a:pPr marL="0" indent="0">
              <a:lnSpc>
                <a:spcPct val="115000"/>
              </a:lnSpc>
              <a:buNone/>
            </a:pPr>
            <a:r>
              <a:rPr lang="en-US" sz="1500" dirty="0">
                <a:solidFill>
                  <a:srgbClr val="1F2A33"/>
                </a:solidFill>
                <a:latin typeface="Calibri" pitchFamily="34" charset="0"/>
                <a:ea typeface="Calibri" pitchFamily="34" charset="-122"/>
                <a:cs typeface="Calibri" pitchFamily="34" charset="-120"/>
              </a:rPr>
              <a:t>A value may be exactly one of the listed subtypes.</a:t>
            </a:r>
            <a:endParaRPr lang="en-US" sz="1500" dirty="0"/>
          </a:p>
        </p:txBody>
      </p:sp>
      <p:sp>
        <p:nvSpPr>
          <p:cNvPr id="14" name="Shape 12"/>
          <p:cNvSpPr/>
          <p:nvPr/>
        </p:nvSpPr>
        <p:spPr>
          <a:xfrm>
            <a:off x="8321040" y="2468880"/>
            <a:ext cx="3520440" cy="3246120"/>
          </a:xfrm>
          <a:prstGeom prst="roundRect">
            <a:avLst>
              <a:gd name="adj" fmla="val 2817"/>
            </a:avLst>
          </a:prstGeom>
          <a:solidFill>
            <a:srgbClr val="EAF1F5"/>
          </a:solidFill>
          <a:ln/>
          <a:effectLst>
            <a:outerShdw blurRad="76200" dist="25400" dir="5400000" algn="bl" rotWithShape="0">
              <a:srgbClr val="9FB3C8">
                <a:alpha val="30000"/>
              </a:srgbClr>
            </a:outerShdw>
          </a:effectLst>
        </p:spPr>
        <p:txBody>
          <a:bodyPr/>
          <a:lstStyle/>
          <a:p>
            <a:endParaRPr lang="en-AU"/>
          </a:p>
        </p:txBody>
      </p:sp>
      <p:sp>
        <p:nvSpPr>
          <p:cNvPr id="15" name="Shape 13"/>
          <p:cNvSpPr/>
          <p:nvPr/>
        </p:nvSpPr>
        <p:spPr>
          <a:xfrm>
            <a:off x="8686800" y="2834640"/>
            <a:ext cx="2788920" cy="566928"/>
          </a:xfrm>
          <a:prstGeom prst="roundRect">
            <a:avLst>
              <a:gd name="adj" fmla="val 8065"/>
            </a:avLst>
          </a:prstGeom>
          <a:solidFill>
            <a:srgbClr val="132235"/>
          </a:solidFill>
          <a:ln/>
        </p:spPr>
        <p:txBody>
          <a:bodyPr/>
          <a:lstStyle/>
          <a:p>
            <a:endParaRPr lang="en-AU"/>
          </a:p>
        </p:txBody>
      </p:sp>
      <p:sp>
        <p:nvSpPr>
          <p:cNvPr id="16" name="Text 14"/>
          <p:cNvSpPr/>
          <p:nvPr/>
        </p:nvSpPr>
        <p:spPr>
          <a:xfrm>
            <a:off x="8686800" y="2834640"/>
            <a:ext cx="2788920" cy="566928"/>
          </a:xfrm>
          <a:prstGeom prst="rect">
            <a:avLst/>
          </a:prstGeom>
          <a:noFill/>
          <a:ln/>
        </p:spPr>
        <p:txBody>
          <a:bodyPr wrap="square" lIns="0" tIns="0" rIns="0" bIns="0" rtlCol="0" anchor="ctr"/>
          <a:lstStyle/>
          <a:p>
            <a:pPr marL="0" indent="0" algn="ctr">
              <a:buNone/>
            </a:pPr>
            <a:r>
              <a:rPr lang="en-US" sz="1600" b="1" dirty="0">
                <a:solidFill>
                  <a:srgbClr val="065A82"/>
                </a:solidFill>
                <a:latin typeface="Consolas" pitchFamily="34" charset="0"/>
                <a:ea typeface="Consolas" pitchFamily="34" charset="-122"/>
                <a:cs typeface="Consolas" pitchFamily="34" charset="-120"/>
              </a:rPr>
              <a:t>discriminator</a:t>
            </a:r>
            <a:endParaRPr lang="en-US" sz="1600" dirty="0"/>
          </a:p>
        </p:txBody>
      </p:sp>
      <p:sp>
        <p:nvSpPr>
          <p:cNvPr id="17" name="Text 15"/>
          <p:cNvSpPr/>
          <p:nvPr/>
        </p:nvSpPr>
        <p:spPr>
          <a:xfrm>
            <a:off x="8686800" y="3611880"/>
            <a:ext cx="2788920" cy="457200"/>
          </a:xfrm>
          <a:prstGeom prst="rect">
            <a:avLst/>
          </a:prstGeom>
          <a:noFill/>
          <a:ln/>
        </p:spPr>
        <p:txBody>
          <a:bodyPr wrap="square" lIns="0" tIns="0" rIns="0" bIns="0" rtlCol="0" anchor="ctr"/>
          <a:lstStyle/>
          <a:p>
            <a:pPr marL="0" indent="0">
              <a:buNone/>
            </a:pPr>
            <a:r>
              <a:rPr lang="en-US" sz="1900" b="1" dirty="0">
                <a:solidFill>
                  <a:srgbClr val="21295C"/>
                </a:solidFill>
                <a:latin typeface="Cambria" pitchFamily="34" charset="0"/>
                <a:ea typeface="Cambria" pitchFamily="34" charset="-122"/>
                <a:cs typeface="Cambria" pitchFamily="34" charset="-120"/>
              </a:rPr>
              <a:t>The selector</a:t>
            </a:r>
            <a:endParaRPr lang="en-US" sz="1900" dirty="0"/>
          </a:p>
        </p:txBody>
      </p:sp>
      <p:sp>
        <p:nvSpPr>
          <p:cNvPr id="18" name="Text 16"/>
          <p:cNvSpPr/>
          <p:nvPr/>
        </p:nvSpPr>
        <p:spPr>
          <a:xfrm>
            <a:off x="8686800" y="4114800"/>
            <a:ext cx="2788920" cy="1371600"/>
          </a:xfrm>
          <a:prstGeom prst="rect">
            <a:avLst/>
          </a:prstGeom>
          <a:noFill/>
          <a:ln/>
        </p:spPr>
        <p:txBody>
          <a:bodyPr wrap="square" lIns="0" tIns="0" rIns="0" bIns="0" rtlCol="0" anchor="ctr"/>
          <a:lstStyle/>
          <a:p>
            <a:pPr marL="0" indent="0">
              <a:lnSpc>
                <a:spcPct val="115000"/>
              </a:lnSpc>
              <a:buNone/>
            </a:pPr>
            <a:r>
              <a:rPr lang="en-US" sz="1500" dirty="0">
                <a:solidFill>
                  <a:srgbClr val="1F2A33"/>
                </a:solidFill>
                <a:latin typeface="Calibri" pitchFamily="34" charset="0"/>
                <a:ea typeface="Calibri" pitchFamily="34" charset="-122"/>
                <a:cs typeface="Calibri" pitchFamily="34" charset="-120"/>
              </a:rPr>
              <a:t>Names the property whose value maps to the right subtype.</a:t>
            </a:r>
            <a:endParaRPr lang="en-US" sz="1500" dirty="0"/>
          </a:p>
        </p:txBody>
      </p:sp>
      <p:sp>
        <p:nvSpPr>
          <p:cNvPr id="19" name="Text 17"/>
          <p:cNvSpPr/>
          <p:nvPr/>
        </p:nvSpPr>
        <p:spPr>
          <a:xfrm>
            <a:off x="640080" y="5943600"/>
            <a:ext cx="10972800" cy="365760"/>
          </a:xfrm>
          <a:prstGeom prst="rect">
            <a:avLst/>
          </a:prstGeom>
          <a:noFill/>
          <a:ln/>
        </p:spPr>
        <p:txBody>
          <a:bodyPr wrap="square" lIns="0" tIns="0" rIns="0" bIns="0" rtlCol="0" anchor="ctr"/>
          <a:lstStyle/>
          <a:p>
            <a:pPr marL="0" indent="0">
              <a:buNone/>
            </a:pPr>
            <a:r>
              <a:rPr lang="en-US" sz="1400" i="1" dirty="0">
                <a:solidFill>
                  <a:srgbClr val="5A6B78"/>
                </a:solidFill>
                <a:latin typeface="Calibri" pitchFamily="34" charset="0"/>
                <a:ea typeface="Calibri" pitchFamily="34" charset="-122"/>
                <a:cs typeface="Calibri" pitchFamily="34" charset="-120"/>
              </a:rPr>
              <a:t>These three OpenAPI keywords are all you need. The rest of this deck shows them working together.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85800"/>
          </a:xfrm>
          <a:prstGeom prst="rect">
            <a:avLst/>
          </a:prstGeom>
          <a:noFill/>
          <a:ln/>
        </p:spPr>
        <p:txBody>
          <a:bodyPr wrap="square" lIns="0" tIns="0" rIns="0" bIns="0" rtlCol="0" anchor="ctr"/>
          <a:lstStyle/>
          <a:p>
            <a:pPr marL="0" indent="0">
              <a:buNone/>
            </a:pPr>
            <a:r>
              <a:rPr lang="en-US" sz="3400" b="1" dirty="0">
                <a:solidFill>
                  <a:srgbClr val="21295C"/>
                </a:solidFill>
                <a:latin typeface="Cambria" pitchFamily="34" charset="0"/>
                <a:ea typeface="Cambria" pitchFamily="34" charset="-122"/>
                <a:cs typeface="Cambria" pitchFamily="34" charset="-120"/>
              </a:rPr>
              <a:t>Create · Step 1 — base schema + discriminator</a:t>
            </a:r>
            <a:endParaRPr lang="en-US" sz="3400" dirty="0"/>
          </a:p>
        </p:txBody>
      </p:sp>
      <p:sp>
        <p:nvSpPr>
          <p:cNvPr id="3" name="Text 1"/>
          <p:cNvSpPr/>
          <p:nvPr/>
        </p:nvSpPr>
        <p:spPr>
          <a:xfrm>
            <a:off x="640080" y="1078992"/>
            <a:ext cx="10972800" cy="41148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Define shared fields once, and declare the property that will select the concrete type.</a:t>
            </a:r>
            <a:endParaRPr lang="en-US" sz="1500" dirty="0"/>
          </a:p>
        </p:txBody>
      </p:sp>
      <p:sp>
        <p:nvSpPr>
          <p:cNvPr id="4" name="Shape 2"/>
          <p:cNvSpPr/>
          <p:nvPr/>
        </p:nvSpPr>
        <p:spPr>
          <a:xfrm>
            <a:off x="640080" y="1691640"/>
            <a:ext cx="6720840" cy="4663440"/>
          </a:xfrm>
          <a:prstGeom prst="roundRect">
            <a:avLst>
              <a:gd name="adj" fmla="val 980"/>
            </a:avLst>
          </a:prstGeom>
          <a:solidFill>
            <a:srgbClr val="132235"/>
          </a:solidFill>
          <a:ln/>
          <a:effectLst>
            <a:outerShdw blurRad="88900" dist="25400" dir="5400000" algn="bl" rotWithShape="0">
              <a:srgbClr val="8496A6">
                <a:alpha val="40000"/>
              </a:srgbClr>
            </a:outerShdw>
          </a:effectLst>
        </p:spPr>
        <p:txBody>
          <a:bodyPr/>
          <a:lstStyle/>
          <a:p>
            <a:endParaRPr lang="en-AU"/>
          </a:p>
        </p:txBody>
      </p:sp>
      <p:sp>
        <p:nvSpPr>
          <p:cNvPr id="5" name="Shape 3"/>
          <p:cNvSpPr/>
          <p:nvPr/>
        </p:nvSpPr>
        <p:spPr>
          <a:xfrm>
            <a:off x="640080" y="1691640"/>
            <a:ext cx="6720840" cy="310896"/>
          </a:xfrm>
          <a:prstGeom prst="roundRect">
            <a:avLst>
              <a:gd name="adj" fmla="val 14706"/>
            </a:avLst>
          </a:prstGeom>
          <a:solidFill>
            <a:srgbClr val="0C1826"/>
          </a:solidFill>
          <a:ln/>
        </p:spPr>
        <p:txBody>
          <a:bodyPr/>
          <a:lstStyle/>
          <a:p>
            <a:endParaRPr lang="en-AU"/>
          </a:p>
        </p:txBody>
      </p:sp>
      <p:sp>
        <p:nvSpPr>
          <p:cNvPr id="6" name="Shape 4"/>
          <p:cNvSpPr/>
          <p:nvPr/>
        </p:nvSpPr>
        <p:spPr>
          <a:xfrm>
            <a:off x="640080" y="1847088"/>
            <a:ext cx="6720840" cy="155448"/>
          </a:xfrm>
          <a:prstGeom prst="rect">
            <a:avLst/>
          </a:prstGeom>
          <a:solidFill>
            <a:srgbClr val="0C1826"/>
          </a:solidFill>
          <a:ln/>
        </p:spPr>
        <p:txBody>
          <a:bodyPr/>
          <a:lstStyle/>
          <a:p>
            <a:endParaRPr lang="en-AU"/>
          </a:p>
        </p:txBody>
      </p:sp>
      <p:sp>
        <p:nvSpPr>
          <p:cNvPr id="7" name="Shape 5"/>
          <p:cNvSpPr/>
          <p:nvPr/>
        </p:nvSpPr>
        <p:spPr>
          <a:xfrm>
            <a:off x="804672" y="1792224"/>
            <a:ext cx="109728" cy="109728"/>
          </a:xfrm>
          <a:prstGeom prst="ellipse">
            <a:avLst/>
          </a:prstGeom>
          <a:solidFill>
            <a:srgbClr val="E0655F"/>
          </a:solidFill>
          <a:ln/>
        </p:spPr>
        <p:txBody>
          <a:bodyPr/>
          <a:lstStyle/>
          <a:p>
            <a:endParaRPr lang="en-AU"/>
          </a:p>
        </p:txBody>
      </p:sp>
      <p:sp>
        <p:nvSpPr>
          <p:cNvPr id="8" name="Shape 6"/>
          <p:cNvSpPr/>
          <p:nvPr/>
        </p:nvSpPr>
        <p:spPr>
          <a:xfrm>
            <a:off x="1005840" y="1792224"/>
            <a:ext cx="109728" cy="109728"/>
          </a:xfrm>
          <a:prstGeom prst="ellipse">
            <a:avLst/>
          </a:prstGeom>
          <a:solidFill>
            <a:srgbClr val="E0A93F"/>
          </a:solidFill>
          <a:ln/>
        </p:spPr>
        <p:txBody>
          <a:bodyPr/>
          <a:lstStyle/>
          <a:p>
            <a:endParaRPr lang="en-AU"/>
          </a:p>
        </p:txBody>
      </p:sp>
      <p:sp>
        <p:nvSpPr>
          <p:cNvPr id="9" name="Shape 7"/>
          <p:cNvSpPr/>
          <p:nvPr/>
        </p:nvSpPr>
        <p:spPr>
          <a:xfrm>
            <a:off x="1207008" y="1792224"/>
            <a:ext cx="109728" cy="109728"/>
          </a:xfrm>
          <a:prstGeom prst="ellipse">
            <a:avLst/>
          </a:prstGeom>
          <a:solidFill>
            <a:srgbClr val="5FB85F"/>
          </a:solidFill>
          <a:ln/>
        </p:spPr>
        <p:txBody>
          <a:bodyPr/>
          <a:lstStyle/>
          <a:p>
            <a:endParaRPr lang="en-AU"/>
          </a:p>
        </p:txBody>
      </p:sp>
      <p:sp>
        <p:nvSpPr>
          <p:cNvPr id="10" name="Text 8"/>
          <p:cNvSpPr/>
          <p:nvPr/>
        </p:nvSpPr>
        <p:spPr>
          <a:xfrm>
            <a:off x="1554480" y="1691640"/>
            <a:ext cx="5623560" cy="310896"/>
          </a:xfrm>
          <a:prstGeom prst="rect">
            <a:avLst/>
          </a:prstGeom>
          <a:noFill/>
          <a:ln/>
        </p:spPr>
        <p:txBody>
          <a:bodyPr wrap="square" lIns="0" tIns="0" rIns="0" bIns="0" rtlCol="0" anchor="ctr"/>
          <a:lstStyle/>
          <a:p>
            <a:pPr marL="0" indent="0" algn="l">
              <a:buNone/>
            </a:pPr>
            <a:r>
              <a:rPr lang="en-US" sz="1050" dirty="0">
                <a:solidFill>
                  <a:srgbClr val="8B949E"/>
                </a:solidFill>
                <a:latin typeface="Consolas" pitchFamily="34" charset="0"/>
                <a:ea typeface="Consolas" pitchFamily="34" charset="-122"/>
                <a:cs typeface="Consolas" pitchFamily="34" charset="-120"/>
              </a:rPr>
              <a:t>openapi.yaml — components/schemas</a:t>
            </a:r>
            <a:endParaRPr lang="en-US" sz="1050" dirty="0"/>
          </a:p>
        </p:txBody>
      </p:sp>
      <p:sp>
        <p:nvSpPr>
          <p:cNvPr id="11" name="Text 9"/>
          <p:cNvSpPr/>
          <p:nvPr/>
        </p:nvSpPr>
        <p:spPr>
          <a:xfrm>
            <a:off x="896112" y="2130552"/>
            <a:ext cx="6263640" cy="4096512"/>
          </a:xfrm>
          <a:prstGeom prst="rect">
            <a:avLst/>
          </a:prstGeom>
          <a:noFill/>
          <a:ln/>
        </p:spPr>
        <p:txBody>
          <a:bodyPr wrap="square" lIns="0" tIns="0" rIns="0" bIns="0" rtlCol="0" anchor="t"/>
          <a:lstStyle/>
          <a:p>
            <a:pPr marL="0" indent="0">
              <a:lnSpc>
                <a:spcPct val="114000"/>
              </a:lnSpc>
              <a:buNone/>
            </a:pPr>
            <a:r>
              <a:rPr lang="en-US" sz="1150" dirty="0">
                <a:solidFill>
                  <a:srgbClr val="C9D1D9"/>
                </a:solidFill>
                <a:latin typeface="Consolas" pitchFamily="34" charset="0"/>
                <a:ea typeface="Consolas" pitchFamily="34" charset="-122"/>
                <a:cs typeface="Consolas" pitchFamily="34" charset="-120"/>
              </a:rPr>
              <a:t>Payment:</a:t>
            </a:r>
            <a:endParaRPr lang="en-US" sz="1150" dirty="0"/>
          </a:p>
          <a:p>
            <a:pPr marL="0" indent="0">
              <a:lnSpc>
                <a:spcPct val="114000"/>
              </a:lnSpc>
              <a:buNone/>
            </a:pPr>
            <a:r>
              <a:rPr lang="en-US" sz="1150" dirty="0">
                <a:solidFill>
                  <a:srgbClr val="C9D1D9"/>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type</a:t>
            </a:r>
            <a:r>
              <a:rPr lang="en-US" sz="1150" dirty="0">
                <a:solidFill>
                  <a:srgbClr val="C9D1D9"/>
                </a:solidFill>
                <a:latin typeface="Consolas" pitchFamily="34" charset="0"/>
                <a:ea typeface="Consolas" pitchFamily="34" charset="-122"/>
                <a:cs typeface="Consolas" pitchFamily="34" charset="-120"/>
              </a:rPr>
              <a:t>: object</a:t>
            </a:r>
            <a:endParaRPr lang="en-US" sz="1150" dirty="0"/>
          </a:p>
          <a:p>
            <a:pPr marL="0" indent="0">
              <a:lnSpc>
                <a:spcPct val="114000"/>
              </a:lnSpc>
              <a:buNone/>
            </a:pPr>
            <a:r>
              <a:rPr lang="en-US" sz="1150" dirty="0">
                <a:solidFill>
                  <a:srgbClr val="C9D1D9"/>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required</a:t>
            </a:r>
            <a:r>
              <a:rPr lang="en-US" sz="1150" dirty="0">
                <a:solidFill>
                  <a:srgbClr val="C9D1D9"/>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paymentType</a:t>
            </a:r>
            <a:r>
              <a:rPr lang="en-US" sz="1150" dirty="0">
                <a:solidFill>
                  <a:srgbClr val="C9D1D9"/>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amount</a:t>
            </a:r>
            <a:r>
              <a:rPr lang="en-US" sz="1150" dirty="0">
                <a:solidFill>
                  <a:srgbClr val="C9D1D9"/>
                </a:solidFill>
                <a:latin typeface="Consolas" pitchFamily="34" charset="0"/>
                <a:ea typeface="Consolas" pitchFamily="34" charset="-122"/>
                <a:cs typeface="Consolas" pitchFamily="34" charset="-120"/>
              </a:rPr>
              <a:t>]</a:t>
            </a:r>
            <a:endParaRPr lang="en-US" sz="1150" dirty="0"/>
          </a:p>
          <a:p>
            <a:pPr marL="0" indent="0">
              <a:lnSpc>
                <a:spcPct val="114000"/>
              </a:lnSpc>
              <a:buNone/>
            </a:pPr>
            <a:r>
              <a:rPr lang="en-US" sz="1150" dirty="0">
                <a:solidFill>
                  <a:srgbClr val="C9D1D9"/>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properties</a:t>
            </a:r>
            <a:r>
              <a:rPr lang="en-US" sz="1150" dirty="0">
                <a:solidFill>
                  <a:srgbClr val="C9D1D9"/>
                </a:solidFill>
                <a:latin typeface="Consolas" pitchFamily="34" charset="0"/>
                <a:ea typeface="Consolas" pitchFamily="34" charset="-122"/>
                <a:cs typeface="Consolas" pitchFamily="34" charset="-120"/>
              </a:rPr>
              <a:t>:</a:t>
            </a:r>
            <a:endParaRPr lang="en-US" sz="1150" dirty="0"/>
          </a:p>
          <a:p>
            <a:pPr marL="0" indent="0">
              <a:lnSpc>
                <a:spcPct val="114000"/>
              </a:lnSpc>
              <a:buNone/>
            </a:pPr>
            <a:r>
              <a:rPr lang="en-US" sz="1150" dirty="0">
                <a:solidFill>
                  <a:srgbClr val="C9D1D9"/>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paymentType</a:t>
            </a:r>
            <a:r>
              <a:rPr lang="en-US" sz="1150" dirty="0">
                <a:solidFill>
                  <a:srgbClr val="C9D1D9"/>
                </a:solidFill>
                <a:latin typeface="Consolas" pitchFamily="34" charset="0"/>
                <a:ea typeface="Consolas" pitchFamily="34" charset="-122"/>
                <a:cs typeface="Consolas" pitchFamily="34" charset="-120"/>
              </a:rPr>
              <a:t>: { </a:t>
            </a:r>
            <a:r>
              <a:rPr lang="en-US" sz="1150" dirty="0">
                <a:solidFill>
                  <a:srgbClr val="9CDCFE"/>
                </a:solidFill>
                <a:latin typeface="Consolas" pitchFamily="34" charset="0"/>
                <a:ea typeface="Consolas" pitchFamily="34" charset="-122"/>
                <a:cs typeface="Consolas" pitchFamily="34" charset="-120"/>
              </a:rPr>
              <a:t>type</a:t>
            </a:r>
            <a:r>
              <a:rPr lang="en-US" sz="1150" dirty="0">
                <a:solidFill>
                  <a:srgbClr val="C9D1D9"/>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string</a:t>
            </a:r>
            <a:r>
              <a:rPr lang="en-US" sz="1150" dirty="0">
                <a:solidFill>
                  <a:srgbClr val="C9D1D9"/>
                </a:solidFill>
                <a:latin typeface="Consolas" pitchFamily="34" charset="0"/>
                <a:ea typeface="Consolas" pitchFamily="34" charset="-122"/>
                <a:cs typeface="Consolas" pitchFamily="34" charset="-120"/>
              </a:rPr>
              <a:t> }</a:t>
            </a:r>
            <a:endParaRPr lang="en-US" sz="1150" dirty="0"/>
          </a:p>
          <a:p>
            <a:pPr marL="0" indent="0">
              <a:lnSpc>
                <a:spcPct val="114000"/>
              </a:lnSpc>
              <a:buNone/>
            </a:pPr>
            <a:r>
              <a:rPr lang="en-US" sz="1150" dirty="0">
                <a:solidFill>
                  <a:srgbClr val="C9D1D9"/>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amount</a:t>
            </a:r>
            <a:r>
              <a:rPr lang="en-US" sz="1150" dirty="0">
                <a:solidFill>
                  <a:srgbClr val="C9D1D9"/>
                </a:solidFill>
                <a:latin typeface="Consolas" pitchFamily="34" charset="0"/>
                <a:ea typeface="Consolas" pitchFamily="34" charset="-122"/>
                <a:cs typeface="Consolas" pitchFamily="34" charset="-120"/>
              </a:rPr>
              <a:t>:      { </a:t>
            </a:r>
            <a:r>
              <a:rPr lang="en-US" sz="1150" dirty="0">
                <a:solidFill>
                  <a:srgbClr val="9CDCFE"/>
                </a:solidFill>
                <a:latin typeface="Consolas" pitchFamily="34" charset="0"/>
                <a:ea typeface="Consolas" pitchFamily="34" charset="-122"/>
                <a:cs typeface="Consolas" pitchFamily="34" charset="-120"/>
              </a:rPr>
              <a:t>type</a:t>
            </a:r>
            <a:r>
              <a:rPr lang="en-US" sz="1150" dirty="0">
                <a:solidFill>
                  <a:srgbClr val="C9D1D9"/>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number</a:t>
            </a:r>
            <a:r>
              <a:rPr lang="en-US" sz="1150" dirty="0">
                <a:solidFill>
                  <a:srgbClr val="C9D1D9"/>
                </a:solidFill>
                <a:latin typeface="Consolas" pitchFamily="34" charset="0"/>
                <a:ea typeface="Consolas" pitchFamily="34" charset="-122"/>
                <a:cs typeface="Consolas" pitchFamily="34" charset="-120"/>
              </a:rPr>
              <a:t> }</a:t>
            </a:r>
            <a:endParaRPr lang="en-US" sz="1150" dirty="0"/>
          </a:p>
          <a:p>
            <a:pPr marL="0" indent="0">
              <a:lnSpc>
                <a:spcPct val="114000"/>
              </a:lnSpc>
              <a:buNone/>
            </a:pPr>
            <a:r>
              <a:rPr lang="en-US" sz="1150" dirty="0">
                <a:solidFill>
                  <a:srgbClr val="C9D1D9"/>
                </a:solidFill>
                <a:latin typeface="Consolas" pitchFamily="34" charset="0"/>
                <a:ea typeface="Consolas" pitchFamily="34" charset="-122"/>
                <a:cs typeface="Consolas" pitchFamily="34" charset="-120"/>
              </a:rPr>
              <a:t>  </a:t>
            </a:r>
            <a:r>
              <a:rPr lang="en-US" sz="1150" dirty="0">
                <a:solidFill>
                  <a:srgbClr val="F6AE2D"/>
                </a:solidFill>
                <a:latin typeface="Consolas" pitchFamily="34" charset="0"/>
                <a:ea typeface="Consolas" pitchFamily="34" charset="-122"/>
                <a:cs typeface="Consolas" pitchFamily="34" charset="-120"/>
              </a:rPr>
              <a:t>discriminator</a:t>
            </a:r>
            <a:r>
              <a:rPr lang="en-US" sz="1150" dirty="0">
                <a:solidFill>
                  <a:srgbClr val="C9D1D9"/>
                </a:solidFill>
                <a:latin typeface="Consolas" pitchFamily="34" charset="0"/>
                <a:ea typeface="Consolas" pitchFamily="34" charset="-122"/>
                <a:cs typeface="Consolas" pitchFamily="34" charset="-120"/>
              </a:rPr>
              <a:t>:</a:t>
            </a:r>
            <a:endParaRPr lang="en-US" sz="1150" dirty="0"/>
          </a:p>
          <a:p>
            <a:pPr marL="0" indent="0">
              <a:lnSpc>
                <a:spcPct val="114000"/>
              </a:lnSpc>
              <a:buNone/>
            </a:pPr>
            <a:r>
              <a:rPr lang="en-US" sz="1150" dirty="0">
                <a:solidFill>
                  <a:srgbClr val="C9D1D9"/>
                </a:solidFill>
                <a:latin typeface="Consolas" pitchFamily="34" charset="0"/>
                <a:ea typeface="Consolas" pitchFamily="34" charset="-122"/>
                <a:cs typeface="Consolas" pitchFamily="34" charset="-120"/>
              </a:rPr>
              <a:t>    </a:t>
            </a:r>
            <a:r>
              <a:rPr lang="en-US" sz="1150" dirty="0">
                <a:solidFill>
                  <a:srgbClr val="F6AE2D"/>
                </a:solidFill>
                <a:latin typeface="Consolas" pitchFamily="34" charset="0"/>
                <a:ea typeface="Consolas" pitchFamily="34" charset="-122"/>
                <a:cs typeface="Consolas" pitchFamily="34" charset="-120"/>
              </a:rPr>
              <a:t>propertyName</a:t>
            </a:r>
            <a:r>
              <a:rPr lang="en-US" sz="1150" dirty="0">
                <a:solidFill>
                  <a:srgbClr val="C9D1D9"/>
                </a:solidFill>
                <a:latin typeface="Consolas" pitchFamily="34" charset="0"/>
                <a:ea typeface="Consolas" pitchFamily="34" charset="-122"/>
                <a:cs typeface="Consolas" pitchFamily="34" charset="-120"/>
              </a:rPr>
              <a:t>: </a:t>
            </a:r>
            <a:r>
              <a:rPr lang="en-US" sz="1150" dirty="0">
                <a:solidFill>
                  <a:srgbClr val="F6AE2D"/>
                </a:solidFill>
                <a:latin typeface="Consolas" pitchFamily="34" charset="0"/>
                <a:ea typeface="Consolas" pitchFamily="34" charset="-122"/>
                <a:cs typeface="Consolas" pitchFamily="34" charset="-120"/>
              </a:rPr>
              <a:t>paymentType</a:t>
            </a:r>
            <a:endParaRPr lang="en-US" sz="1150" dirty="0"/>
          </a:p>
          <a:p>
            <a:pPr marL="0" indent="0">
              <a:lnSpc>
                <a:spcPct val="114000"/>
              </a:lnSpc>
              <a:buNone/>
            </a:pPr>
            <a:r>
              <a:rPr lang="en-US" sz="1150" dirty="0">
                <a:solidFill>
                  <a:srgbClr val="C9D1D9"/>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mapping</a:t>
            </a:r>
            <a:r>
              <a:rPr lang="en-US" sz="1150" dirty="0">
                <a:solidFill>
                  <a:srgbClr val="C9D1D9"/>
                </a:solidFill>
                <a:latin typeface="Consolas" pitchFamily="34" charset="0"/>
                <a:ea typeface="Consolas" pitchFamily="34" charset="-122"/>
                <a:cs typeface="Consolas" pitchFamily="34" charset="-120"/>
              </a:rPr>
              <a:t>:</a:t>
            </a:r>
            <a:endParaRPr lang="en-US" sz="1150" dirty="0"/>
          </a:p>
          <a:p>
            <a:pPr marL="0" indent="0">
              <a:lnSpc>
                <a:spcPct val="114000"/>
              </a:lnSpc>
              <a:buNone/>
            </a:pPr>
            <a:r>
              <a:rPr lang="en-US" sz="1150" dirty="0">
                <a:solidFill>
                  <a:srgbClr val="C9D1D9"/>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card</a:t>
            </a:r>
            <a:r>
              <a:rPr lang="en-US" sz="1150" dirty="0">
                <a:solidFill>
                  <a:srgbClr val="C9D1D9"/>
                </a:solidFill>
                <a:latin typeface="Consolas" pitchFamily="34" charset="0"/>
                <a:ea typeface="Consolas" pitchFamily="34" charset="-122"/>
                <a:cs typeface="Consolas" pitchFamily="34" charset="-120"/>
              </a:rPr>
              <a:t>:     </a:t>
            </a:r>
            <a:r>
              <a:rPr lang="en-US" sz="1150" dirty="0">
                <a:solidFill>
                  <a:srgbClr val="C9A7EB"/>
                </a:solidFill>
                <a:latin typeface="Consolas" pitchFamily="34" charset="0"/>
                <a:ea typeface="Consolas" pitchFamily="34" charset="-122"/>
                <a:cs typeface="Consolas" pitchFamily="34" charset="-120"/>
              </a:rPr>
              <a:t>'#/components/schemas/CardPayment'</a:t>
            </a:r>
            <a:endParaRPr lang="en-US" sz="1150" dirty="0"/>
          </a:p>
          <a:p>
            <a:pPr marL="0" indent="0">
              <a:lnSpc>
                <a:spcPct val="114000"/>
              </a:lnSpc>
              <a:buNone/>
            </a:pPr>
            <a:r>
              <a:rPr lang="en-US" sz="1150" dirty="0">
                <a:solidFill>
                  <a:srgbClr val="C9D1D9"/>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transfer</a:t>
            </a:r>
            <a:r>
              <a:rPr lang="en-US" sz="1150" dirty="0">
                <a:solidFill>
                  <a:srgbClr val="C9D1D9"/>
                </a:solidFill>
                <a:latin typeface="Consolas" pitchFamily="34" charset="0"/>
                <a:ea typeface="Consolas" pitchFamily="34" charset="-122"/>
                <a:cs typeface="Consolas" pitchFamily="34" charset="-120"/>
              </a:rPr>
              <a:t>: </a:t>
            </a:r>
            <a:r>
              <a:rPr lang="en-US" sz="1150" dirty="0">
                <a:solidFill>
                  <a:srgbClr val="C9A7EB"/>
                </a:solidFill>
                <a:latin typeface="Consolas" pitchFamily="34" charset="0"/>
                <a:ea typeface="Consolas" pitchFamily="34" charset="-122"/>
                <a:cs typeface="Consolas" pitchFamily="34" charset="-120"/>
              </a:rPr>
              <a:t>'#/components/schemas/BankTransfer'</a:t>
            </a:r>
            <a:endParaRPr lang="en-US" sz="1150" dirty="0"/>
          </a:p>
          <a:p>
            <a:pPr marL="0" indent="0">
              <a:lnSpc>
                <a:spcPct val="114000"/>
              </a:lnSpc>
              <a:buNone/>
            </a:pPr>
            <a:r>
              <a:rPr lang="en-US" sz="1150" dirty="0">
                <a:solidFill>
                  <a:srgbClr val="C9D1D9"/>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wallet</a:t>
            </a:r>
            <a:r>
              <a:rPr lang="en-US" sz="1150" dirty="0">
                <a:solidFill>
                  <a:srgbClr val="C9D1D9"/>
                </a:solidFill>
                <a:latin typeface="Consolas" pitchFamily="34" charset="0"/>
                <a:ea typeface="Consolas" pitchFamily="34" charset="-122"/>
                <a:cs typeface="Consolas" pitchFamily="34" charset="-120"/>
              </a:rPr>
              <a:t>:   </a:t>
            </a:r>
            <a:r>
              <a:rPr lang="en-US" sz="1150" dirty="0">
                <a:solidFill>
                  <a:srgbClr val="C9A7EB"/>
                </a:solidFill>
                <a:latin typeface="Consolas" pitchFamily="34" charset="0"/>
                <a:ea typeface="Consolas" pitchFamily="34" charset="-122"/>
                <a:cs typeface="Consolas" pitchFamily="34" charset="-120"/>
              </a:rPr>
              <a:t>'#/components/schemas/DigitalWallet'</a:t>
            </a:r>
            <a:endParaRPr lang="en-US" sz="1150" dirty="0"/>
          </a:p>
        </p:txBody>
      </p:sp>
      <p:sp>
        <p:nvSpPr>
          <p:cNvPr id="12" name="Shape 10"/>
          <p:cNvSpPr/>
          <p:nvPr/>
        </p:nvSpPr>
        <p:spPr>
          <a:xfrm>
            <a:off x="7635240" y="1965960"/>
            <a:ext cx="3913632" cy="1234440"/>
          </a:xfrm>
          <a:prstGeom prst="roundRect">
            <a:avLst>
              <a:gd name="adj" fmla="val 5926"/>
            </a:avLst>
          </a:prstGeom>
          <a:solidFill>
            <a:srgbClr val="EAF1F5"/>
          </a:solidFill>
          <a:ln/>
        </p:spPr>
        <p:txBody>
          <a:bodyPr/>
          <a:lstStyle/>
          <a:p>
            <a:endParaRPr lang="en-AU"/>
          </a:p>
        </p:txBody>
      </p:sp>
      <p:sp>
        <p:nvSpPr>
          <p:cNvPr id="13" name="Text 11"/>
          <p:cNvSpPr/>
          <p:nvPr/>
        </p:nvSpPr>
        <p:spPr>
          <a:xfrm>
            <a:off x="7863840" y="2112264"/>
            <a:ext cx="3566160" cy="365760"/>
          </a:xfrm>
          <a:prstGeom prst="rect">
            <a:avLst/>
          </a:prstGeom>
          <a:noFill/>
          <a:ln/>
        </p:spPr>
        <p:txBody>
          <a:bodyPr wrap="square" lIns="0" tIns="0" rIns="0" bIns="0" rtlCol="0" anchor="ctr"/>
          <a:lstStyle/>
          <a:p>
            <a:pPr marL="0" indent="0">
              <a:buNone/>
            </a:pPr>
            <a:r>
              <a:rPr lang="en-US" sz="1400" b="1" dirty="0">
                <a:solidFill>
                  <a:srgbClr val="065A82"/>
                </a:solidFill>
                <a:latin typeface="Consolas" pitchFamily="34" charset="0"/>
                <a:ea typeface="Consolas" pitchFamily="34" charset="-122"/>
                <a:cs typeface="Consolas" pitchFamily="34" charset="-120"/>
              </a:rPr>
              <a:t>propertyName</a:t>
            </a:r>
            <a:endParaRPr lang="en-US" sz="1400" dirty="0"/>
          </a:p>
        </p:txBody>
      </p:sp>
      <p:sp>
        <p:nvSpPr>
          <p:cNvPr id="14" name="Text 12"/>
          <p:cNvSpPr/>
          <p:nvPr/>
        </p:nvSpPr>
        <p:spPr>
          <a:xfrm>
            <a:off x="7863840" y="2496312"/>
            <a:ext cx="3520440" cy="640080"/>
          </a:xfrm>
          <a:prstGeom prst="rect">
            <a:avLst/>
          </a:prstGeom>
          <a:noFill/>
          <a:ln/>
        </p:spPr>
        <p:txBody>
          <a:bodyPr wrap="square" lIns="0" tIns="0" rIns="0" bIns="0" rtlCol="0" anchor="ctr"/>
          <a:lstStyle/>
          <a:p>
            <a:pPr marL="0" indent="0">
              <a:lnSpc>
                <a:spcPct val="110000"/>
              </a:lnSpc>
              <a:buNone/>
            </a:pPr>
            <a:r>
              <a:rPr lang="en-US" sz="1350" dirty="0">
                <a:solidFill>
                  <a:srgbClr val="1F2A33"/>
                </a:solidFill>
                <a:latin typeface="Calibri" pitchFamily="34" charset="0"/>
                <a:ea typeface="Calibri" pitchFamily="34" charset="-122"/>
                <a:cs typeface="Calibri" pitchFamily="34" charset="-120"/>
              </a:rPr>
              <a:t>The field whose value picks the shape. Must be listed in required.</a:t>
            </a:r>
            <a:endParaRPr lang="en-US" sz="1350" dirty="0"/>
          </a:p>
        </p:txBody>
      </p:sp>
      <p:sp>
        <p:nvSpPr>
          <p:cNvPr id="15" name="Shape 13"/>
          <p:cNvSpPr/>
          <p:nvPr/>
        </p:nvSpPr>
        <p:spPr>
          <a:xfrm>
            <a:off x="7635240" y="3383280"/>
            <a:ext cx="3913632" cy="1234440"/>
          </a:xfrm>
          <a:prstGeom prst="roundRect">
            <a:avLst>
              <a:gd name="adj" fmla="val 5926"/>
            </a:avLst>
          </a:prstGeom>
          <a:solidFill>
            <a:srgbClr val="EAF1F5"/>
          </a:solidFill>
          <a:ln/>
        </p:spPr>
        <p:txBody>
          <a:bodyPr/>
          <a:lstStyle/>
          <a:p>
            <a:endParaRPr lang="en-AU"/>
          </a:p>
        </p:txBody>
      </p:sp>
      <p:sp>
        <p:nvSpPr>
          <p:cNvPr id="16" name="Text 14"/>
          <p:cNvSpPr/>
          <p:nvPr/>
        </p:nvSpPr>
        <p:spPr>
          <a:xfrm>
            <a:off x="7863840" y="3529584"/>
            <a:ext cx="3566160" cy="365760"/>
          </a:xfrm>
          <a:prstGeom prst="rect">
            <a:avLst/>
          </a:prstGeom>
          <a:noFill/>
          <a:ln/>
        </p:spPr>
        <p:txBody>
          <a:bodyPr wrap="square" lIns="0" tIns="0" rIns="0" bIns="0" rtlCol="0" anchor="ctr"/>
          <a:lstStyle/>
          <a:p>
            <a:pPr marL="0" indent="0">
              <a:buNone/>
            </a:pPr>
            <a:r>
              <a:rPr lang="en-US" sz="1400" b="1" dirty="0">
                <a:solidFill>
                  <a:srgbClr val="065A82"/>
                </a:solidFill>
                <a:latin typeface="Consolas" pitchFamily="34" charset="0"/>
                <a:ea typeface="Consolas" pitchFamily="34" charset="-122"/>
                <a:cs typeface="Consolas" pitchFamily="34" charset="-120"/>
              </a:rPr>
              <a:t>mapping</a:t>
            </a:r>
            <a:endParaRPr lang="en-US" sz="1400" dirty="0"/>
          </a:p>
        </p:txBody>
      </p:sp>
      <p:sp>
        <p:nvSpPr>
          <p:cNvPr id="17" name="Text 15"/>
          <p:cNvSpPr/>
          <p:nvPr/>
        </p:nvSpPr>
        <p:spPr>
          <a:xfrm>
            <a:off x="7863840" y="3913632"/>
            <a:ext cx="3520440" cy="640080"/>
          </a:xfrm>
          <a:prstGeom prst="rect">
            <a:avLst/>
          </a:prstGeom>
          <a:noFill/>
          <a:ln/>
        </p:spPr>
        <p:txBody>
          <a:bodyPr wrap="square" lIns="0" tIns="0" rIns="0" bIns="0" rtlCol="0" anchor="ctr"/>
          <a:lstStyle/>
          <a:p>
            <a:pPr marL="0" indent="0">
              <a:lnSpc>
                <a:spcPct val="110000"/>
              </a:lnSpc>
              <a:buNone/>
            </a:pPr>
            <a:r>
              <a:rPr lang="en-US" sz="1350" dirty="0">
                <a:solidFill>
                  <a:srgbClr val="1F2A33"/>
                </a:solidFill>
                <a:latin typeface="Calibri" pitchFamily="34" charset="0"/>
                <a:ea typeface="Calibri" pitchFamily="34" charset="-122"/>
                <a:cs typeface="Calibri" pitchFamily="34" charset="-120"/>
              </a:rPr>
              <a:t>Each value → the schema for that form. Add a row to support a new type.</a:t>
            </a:r>
            <a:endParaRPr lang="en-US" sz="1350" dirty="0"/>
          </a:p>
        </p:txBody>
      </p:sp>
      <p:sp>
        <p:nvSpPr>
          <p:cNvPr id="18" name="Shape 16"/>
          <p:cNvSpPr/>
          <p:nvPr/>
        </p:nvSpPr>
        <p:spPr>
          <a:xfrm>
            <a:off x="7635240" y="4846320"/>
            <a:ext cx="3913632" cy="1234440"/>
          </a:xfrm>
          <a:prstGeom prst="roundRect">
            <a:avLst>
              <a:gd name="adj" fmla="val 5926"/>
            </a:avLst>
          </a:prstGeom>
          <a:solidFill>
            <a:srgbClr val="21295C"/>
          </a:solidFill>
          <a:ln/>
        </p:spPr>
        <p:txBody>
          <a:bodyPr/>
          <a:lstStyle/>
          <a:p>
            <a:endParaRPr lang="en-AU"/>
          </a:p>
        </p:txBody>
      </p:sp>
      <p:sp>
        <p:nvSpPr>
          <p:cNvPr id="19" name="Text 17"/>
          <p:cNvSpPr/>
          <p:nvPr/>
        </p:nvSpPr>
        <p:spPr>
          <a:xfrm>
            <a:off x="7863840" y="4983480"/>
            <a:ext cx="3520440" cy="960120"/>
          </a:xfrm>
          <a:prstGeom prst="rect">
            <a:avLst/>
          </a:prstGeom>
          <a:noFill/>
          <a:ln/>
        </p:spPr>
        <p:txBody>
          <a:bodyPr wrap="square" lIns="0" tIns="0" rIns="0" bIns="0" rtlCol="0" anchor="ctr"/>
          <a:lstStyle/>
          <a:p>
            <a:pPr marL="0" indent="0">
              <a:lnSpc>
                <a:spcPct val="110000"/>
              </a:lnSpc>
              <a:buNone/>
            </a:pPr>
            <a:r>
              <a:rPr lang="en-US" sz="1350" b="1" dirty="0">
                <a:solidFill>
                  <a:srgbClr val="F6AE2D"/>
                </a:solidFill>
                <a:latin typeface="Calibri" pitchFamily="34" charset="0"/>
                <a:ea typeface="Calibri" pitchFamily="34" charset="-122"/>
                <a:cs typeface="Calibri" pitchFamily="34" charset="-120"/>
              </a:rPr>
              <a:t>Contract-first payoff
</a:t>
            </a:r>
            <a:r>
              <a:rPr lang="en-US" sz="1350" dirty="0">
                <a:solidFill>
                  <a:srgbClr val="CADCFC"/>
                </a:solidFill>
                <a:latin typeface="Calibri" pitchFamily="34" charset="0"/>
                <a:ea typeface="Calibri" pitchFamily="34" charset="-122"/>
                <a:cs typeface="Calibri" pitchFamily="34" charset="-120"/>
              </a:rPr>
              <a:t>Adding a payment type = one mapping row + one subtype schema. Nothing else changes.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85800"/>
          </a:xfrm>
          <a:prstGeom prst="rect">
            <a:avLst/>
          </a:prstGeom>
          <a:noFill/>
          <a:ln/>
        </p:spPr>
        <p:txBody>
          <a:bodyPr wrap="square" lIns="0" tIns="0" rIns="0" bIns="0" rtlCol="0" anchor="ctr"/>
          <a:lstStyle/>
          <a:p>
            <a:pPr marL="0" indent="0">
              <a:buNone/>
            </a:pPr>
            <a:r>
              <a:rPr lang="en-US" sz="3400" b="1" dirty="0">
                <a:solidFill>
                  <a:srgbClr val="21295C"/>
                </a:solidFill>
                <a:latin typeface="Cambria" pitchFamily="34" charset="0"/>
                <a:ea typeface="Cambria" pitchFamily="34" charset="-122"/>
                <a:cs typeface="Cambria" pitchFamily="34" charset="-120"/>
              </a:rPr>
              <a:t>Create · Step 2 — each form via allOf</a:t>
            </a:r>
            <a:endParaRPr lang="en-US" sz="3400" dirty="0"/>
          </a:p>
        </p:txBody>
      </p:sp>
      <p:sp>
        <p:nvSpPr>
          <p:cNvPr id="3" name="Text 1"/>
          <p:cNvSpPr/>
          <p:nvPr/>
        </p:nvSpPr>
        <p:spPr>
          <a:xfrm>
            <a:off x="640080" y="1078992"/>
            <a:ext cx="10972800" cy="41148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A subtype inherits the base with allOf, then adds only what is unique to it.</a:t>
            </a:r>
            <a:endParaRPr lang="en-US" sz="1500" dirty="0"/>
          </a:p>
        </p:txBody>
      </p:sp>
      <p:sp>
        <p:nvSpPr>
          <p:cNvPr id="4" name="Shape 2"/>
          <p:cNvSpPr/>
          <p:nvPr/>
        </p:nvSpPr>
        <p:spPr>
          <a:xfrm>
            <a:off x="640080" y="1691640"/>
            <a:ext cx="5486400" cy="4617720"/>
          </a:xfrm>
          <a:prstGeom prst="roundRect">
            <a:avLst>
              <a:gd name="adj" fmla="val 990"/>
            </a:avLst>
          </a:prstGeom>
          <a:solidFill>
            <a:srgbClr val="132235"/>
          </a:solidFill>
          <a:ln/>
          <a:effectLst>
            <a:outerShdw blurRad="88900" dist="25400" dir="5400000" algn="bl" rotWithShape="0">
              <a:srgbClr val="8496A6">
                <a:alpha val="40000"/>
              </a:srgbClr>
            </a:outerShdw>
          </a:effectLst>
        </p:spPr>
        <p:txBody>
          <a:bodyPr/>
          <a:lstStyle/>
          <a:p>
            <a:endParaRPr lang="en-AU"/>
          </a:p>
        </p:txBody>
      </p:sp>
      <p:sp>
        <p:nvSpPr>
          <p:cNvPr id="5" name="Shape 3"/>
          <p:cNvSpPr/>
          <p:nvPr/>
        </p:nvSpPr>
        <p:spPr>
          <a:xfrm>
            <a:off x="640080" y="1691640"/>
            <a:ext cx="5486400" cy="310896"/>
          </a:xfrm>
          <a:prstGeom prst="roundRect">
            <a:avLst>
              <a:gd name="adj" fmla="val 14706"/>
            </a:avLst>
          </a:prstGeom>
          <a:solidFill>
            <a:srgbClr val="0C1826"/>
          </a:solidFill>
          <a:ln/>
        </p:spPr>
        <p:txBody>
          <a:bodyPr/>
          <a:lstStyle/>
          <a:p>
            <a:endParaRPr lang="en-AU"/>
          </a:p>
        </p:txBody>
      </p:sp>
      <p:sp>
        <p:nvSpPr>
          <p:cNvPr id="6" name="Shape 4"/>
          <p:cNvSpPr/>
          <p:nvPr/>
        </p:nvSpPr>
        <p:spPr>
          <a:xfrm>
            <a:off x="640080" y="1847088"/>
            <a:ext cx="5486400" cy="155448"/>
          </a:xfrm>
          <a:prstGeom prst="rect">
            <a:avLst/>
          </a:prstGeom>
          <a:solidFill>
            <a:srgbClr val="0C1826"/>
          </a:solidFill>
          <a:ln/>
        </p:spPr>
        <p:txBody>
          <a:bodyPr/>
          <a:lstStyle/>
          <a:p>
            <a:endParaRPr lang="en-AU"/>
          </a:p>
        </p:txBody>
      </p:sp>
      <p:sp>
        <p:nvSpPr>
          <p:cNvPr id="7" name="Shape 5"/>
          <p:cNvSpPr/>
          <p:nvPr/>
        </p:nvSpPr>
        <p:spPr>
          <a:xfrm>
            <a:off x="804672" y="1792224"/>
            <a:ext cx="109728" cy="109728"/>
          </a:xfrm>
          <a:prstGeom prst="ellipse">
            <a:avLst/>
          </a:prstGeom>
          <a:solidFill>
            <a:srgbClr val="E0655F"/>
          </a:solidFill>
          <a:ln/>
        </p:spPr>
        <p:txBody>
          <a:bodyPr/>
          <a:lstStyle/>
          <a:p>
            <a:endParaRPr lang="en-AU"/>
          </a:p>
        </p:txBody>
      </p:sp>
      <p:sp>
        <p:nvSpPr>
          <p:cNvPr id="8" name="Shape 6"/>
          <p:cNvSpPr/>
          <p:nvPr/>
        </p:nvSpPr>
        <p:spPr>
          <a:xfrm>
            <a:off x="1005840" y="1792224"/>
            <a:ext cx="109728" cy="109728"/>
          </a:xfrm>
          <a:prstGeom prst="ellipse">
            <a:avLst/>
          </a:prstGeom>
          <a:solidFill>
            <a:srgbClr val="E0A93F"/>
          </a:solidFill>
          <a:ln/>
        </p:spPr>
        <p:txBody>
          <a:bodyPr/>
          <a:lstStyle/>
          <a:p>
            <a:endParaRPr lang="en-AU"/>
          </a:p>
        </p:txBody>
      </p:sp>
      <p:sp>
        <p:nvSpPr>
          <p:cNvPr id="9" name="Shape 7"/>
          <p:cNvSpPr/>
          <p:nvPr/>
        </p:nvSpPr>
        <p:spPr>
          <a:xfrm>
            <a:off x="1207008" y="1792224"/>
            <a:ext cx="109728" cy="109728"/>
          </a:xfrm>
          <a:prstGeom prst="ellipse">
            <a:avLst/>
          </a:prstGeom>
          <a:solidFill>
            <a:srgbClr val="5FB85F"/>
          </a:solidFill>
          <a:ln/>
        </p:spPr>
        <p:txBody>
          <a:bodyPr/>
          <a:lstStyle/>
          <a:p>
            <a:endParaRPr lang="en-AU"/>
          </a:p>
        </p:txBody>
      </p:sp>
      <p:sp>
        <p:nvSpPr>
          <p:cNvPr id="10" name="Text 8"/>
          <p:cNvSpPr/>
          <p:nvPr/>
        </p:nvSpPr>
        <p:spPr>
          <a:xfrm>
            <a:off x="1554480" y="1691640"/>
            <a:ext cx="4389120" cy="310896"/>
          </a:xfrm>
          <a:prstGeom prst="rect">
            <a:avLst/>
          </a:prstGeom>
          <a:noFill/>
          <a:ln/>
        </p:spPr>
        <p:txBody>
          <a:bodyPr wrap="square" lIns="0" tIns="0" rIns="0" bIns="0" rtlCol="0" anchor="ctr"/>
          <a:lstStyle/>
          <a:p>
            <a:pPr marL="0" indent="0" algn="l">
              <a:buNone/>
            </a:pPr>
            <a:r>
              <a:rPr lang="en-US" sz="1050" dirty="0">
                <a:solidFill>
                  <a:srgbClr val="8B949E"/>
                </a:solidFill>
                <a:latin typeface="Consolas" pitchFamily="34" charset="0"/>
                <a:ea typeface="Consolas" pitchFamily="34" charset="-122"/>
                <a:cs typeface="Consolas" pitchFamily="34" charset="-120"/>
              </a:rPr>
              <a:t>openapi.yaml — CardPayment</a:t>
            </a:r>
            <a:endParaRPr lang="en-US" sz="1050" dirty="0"/>
          </a:p>
        </p:txBody>
      </p:sp>
      <p:sp>
        <p:nvSpPr>
          <p:cNvPr id="11" name="Text 9"/>
          <p:cNvSpPr/>
          <p:nvPr/>
        </p:nvSpPr>
        <p:spPr>
          <a:xfrm>
            <a:off x="896112" y="2130552"/>
            <a:ext cx="5029200" cy="4050792"/>
          </a:xfrm>
          <a:prstGeom prst="rect">
            <a:avLst/>
          </a:prstGeom>
          <a:noFill/>
          <a:ln/>
        </p:spPr>
        <p:txBody>
          <a:bodyPr wrap="square" lIns="0" tIns="0" rIns="0" bIns="0" rtlCol="0" anchor="t"/>
          <a:lstStyle/>
          <a:p>
            <a:pPr marL="0" indent="0">
              <a:lnSpc>
                <a:spcPct val="114000"/>
              </a:lnSpc>
              <a:buNone/>
            </a:pPr>
            <a:r>
              <a:rPr lang="en-US" sz="1250" dirty="0">
                <a:solidFill>
                  <a:srgbClr val="C9D1D9"/>
                </a:solidFill>
                <a:latin typeface="Consolas" pitchFamily="34" charset="0"/>
                <a:ea typeface="Consolas" pitchFamily="34" charset="-122"/>
                <a:cs typeface="Consolas" pitchFamily="34" charset="-120"/>
              </a:rPr>
              <a:t>CardPayment:</a:t>
            </a:r>
            <a:endParaRPr lang="en-US" sz="1250" dirty="0"/>
          </a:p>
          <a:p>
            <a:pPr marL="0" indent="0">
              <a:lnSpc>
                <a:spcPct val="114000"/>
              </a:lnSpc>
              <a:buNone/>
            </a:pPr>
            <a:r>
              <a:rPr lang="en-US" sz="1250" dirty="0">
                <a:solidFill>
                  <a:srgbClr val="C9D1D9"/>
                </a:solidFill>
                <a:latin typeface="Consolas" pitchFamily="34" charset="0"/>
                <a:ea typeface="Consolas" pitchFamily="34" charset="-122"/>
                <a:cs typeface="Consolas" pitchFamily="34" charset="-120"/>
              </a:rPr>
              <a:t>  </a:t>
            </a:r>
            <a:r>
              <a:rPr lang="en-US" sz="1250" dirty="0">
                <a:solidFill>
                  <a:srgbClr val="F6AE2D"/>
                </a:solidFill>
                <a:latin typeface="Consolas" pitchFamily="34" charset="0"/>
                <a:ea typeface="Consolas" pitchFamily="34" charset="-122"/>
                <a:cs typeface="Consolas" pitchFamily="34" charset="-120"/>
              </a:rPr>
              <a:t>allOf</a:t>
            </a:r>
            <a:r>
              <a:rPr lang="en-US" sz="1250" dirty="0">
                <a:solidFill>
                  <a:srgbClr val="C9D1D9"/>
                </a:solidFill>
                <a:latin typeface="Consolas" pitchFamily="34" charset="0"/>
                <a:ea typeface="Consolas" pitchFamily="34" charset="-122"/>
                <a:cs typeface="Consolas" pitchFamily="34" charset="-120"/>
              </a:rPr>
              <a:t>:</a:t>
            </a:r>
            <a:endParaRPr lang="en-US" sz="1250" dirty="0"/>
          </a:p>
          <a:p>
            <a:pPr marL="0" indent="0">
              <a:lnSpc>
                <a:spcPct val="114000"/>
              </a:lnSpc>
              <a:buNone/>
            </a:pPr>
            <a:r>
              <a:rPr lang="en-US" sz="1250" dirty="0">
                <a:solidFill>
                  <a:srgbClr val="C9D1D9"/>
                </a:solidFill>
                <a:latin typeface="Consolas" pitchFamily="34" charset="0"/>
                <a:ea typeface="Consolas" pitchFamily="34" charset="-122"/>
                <a:cs typeface="Consolas" pitchFamily="34" charset="-120"/>
              </a:rPr>
              <a:t>    - </a:t>
            </a:r>
            <a:r>
              <a:rPr lang="en-US" sz="1250" dirty="0">
                <a:solidFill>
                  <a:srgbClr val="C9A7EB"/>
                </a:solidFill>
                <a:latin typeface="Consolas" pitchFamily="34" charset="0"/>
                <a:ea typeface="Consolas" pitchFamily="34" charset="-122"/>
                <a:cs typeface="Consolas" pitchFamily="34" charset="-120"/>
              </a:rPr>
              <a:t>$ref</a:t>
            </a:r>
            <a:r>
              <a:rPr lang="en-US" sz="1250" dirty="0">
                <a:solidFill>
                  <a:srgbClr val="C9D1D9"/>
                </a:solidFill>
                <a:latin typeface="Consolas" pitchFamily="34" charset="0"/>
                <a:ea typeface="Consolas" pitchFamily="34" charset="-122"/>
                <a:cs typeface="Consolas" pitchFamily="34" charset="-120"/>
              </a:rPr>
              <a:t>: </a:t>
            </a:r>
            <a:r>
              <a:rPr lang="en-US" sz="1250" dirty="0">
                <a:solidFill>
                  <a:srgbClr val="C9A7EB"/>
                </a:solidFill>
                <a:latin typeface="Consolas" pitchFamily="34" charset="0"/>
                <a:ea typeface="Consolas" pitchFamily="34" charset="-122"/>
                <a:cs typeface="Consolas" pitchFamily="34" charset="-120"/>
              </a:rPr>
              <a:t>'#/.../Payment'</a:t>
            </a:r>
            <a:r>
              <a:rPr lang="en-US" sz="1250" i="1" dirty="0">
                <a:solidFill>
                  <a:srgbClr val="8B949E"/>
                </a:solidFill>
                <a:latin typeface="Consolas" pitchFamily="34" charset="0"/>
                <a:ea typeface="Consolas" pitchFamily="34" charset="-122"/>
                <a:cs typeface="Consolas" pitchFamily="34" charset="-120"/>
              </a:rPr>
              <a:t>   # inherit base</a:t>
            </a:r>
            <a:endParaRPr lang="en-US" sz="1250" dirty="0"/>
          </a:p>
          <a:p>
            <a:pPr marL="0" indent="0">
              <a:lnSpc>
                <a:spcPct val="114000"/>
              </a:lnSpc>
              <a:buNone/>
            </a:pPr>
            <a:r>
              <a:rPr lang="en-US" sz="1250" dirty="0">
                <a:solidFill>
                  <a:srgbClr val="C9D1D9"/>
                </a:solidFill>
                <a:latin typeface="Consolas" pitchFamily="34" charset="0"/>
                <a:ea typeface="Consolas" pitchFamily="34" charset="-122"/>
                <a:cs typeface="Consolas" pitchFamily="34" charset="-120"/>
              </a:rPr>
              <a:t>    - </a:t>
            </a:r>
            <a:r>
              <a:rPr lang="en-US" sz="1250" dirty="0">
                <a:solidFill>
                  <a:srgbClr val="9CDCFE"/>
                </a:solidFill>
                <a:latin typeface="Consolas" pitchFamily="34" charset="0"/>
                <a:ea typeface="Consolas" pitchFamily="34" charset="-122"/>
                <a:cs typeface="Consolas" pitchFamily="34" charset="-120"/>
              </a:rPr>
              <a:t>type</a:t>
            </a:r>
            <a:r>
              <a:rPr lang="en-US" sz="1250" dirty="0">
                <a:solidFill>
                  <a:srgbClr val="C9D1D9"/>
                </a:solidFill>
                <a:latin typeface="Consolas" pitchFamily="34" charset="0"/>
                <a:ea typeface="Consolas" pitchFamily="34" charset="-122"/>
                <a:cs typeface="Consolas" pitchFamily="34" charset="-120"/>
              </a:rPr>
              <a:t>: object</a:t>
            </a:r>
            <a:endParaRPr lang="en-US" sz="1250" dirty="0"/>
          </a:p>
          <a:p>
            <a:pPr marL="0" indent="0">
              <a:lnSpc>
                <a:spcPct val="114000"/>
              </a:lnSpc>
              <a:buNone/>
            </a:pPr>
            <a:r>
              <a:rPr lang="en-US" sz="1250" dirty="0">
                <a:solidFill>
                  <a:srgbClr val="C9D1D9"/>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required</a:t>
            </a:r>
            <a:r>
              <a:rPr lang="en-US" sz="1250" dirty="0">
                <a:solidFill>
                  <a:srgbClr val="C9D1D9"/>
                </a:solidFill>
                <a:latin typeface="Consolas" pitchFamily="34" charset="0"/>
                <a:ea typeface="Consolas" pitchFamily="34" charset="-122"/>
                <a:cs typeface="Consolas" pitchFamily="34" charset="-120"/>
              </a:rPr>
              <a:t>: [</a:t>
            </a:r>
            <a:r>
              <a:rPr lang="en-US" sz="1250" dirty="0">
                <a:solidFill>
                  <a:srgbClr val="CE9178"/>
                </a:solidFill>
                <a:latin typeface="Consolas" pitchFamily="34" charset="0"/>
                <a:ea typeface="Consolas" pitchFamily="34" charset="-122"/>
                <a:cs typeface="Consolas" pitchFamily="34" charset="-120"/>
              </a:rPr>
              <a:t>cardNumber</a:t>
            </a:r>
            <a:r>
              <a:rPr lang="en-US" sz="1250" dirty="0">
                <a:solidFill>
                  <a:srgbClr val="C9D1D9"/>
                </a:solidFill>
                <a:latin typeface="Consolas" pitchFamily="34" charset="0"/>
                <a:ea typeface="Consolas" pitchFamily="34" charset="-122"/>
                <a:cs typeface="Consolas" pitchFamily="34" charset="-120"/>
              </a:rPr>
              <a:t>]</a:t>
            </a:r>
            <a:endParaRPr lang="en-US" sz="1250" dirty="0"/>
          </a:p>
          <a:p>
            <a:pPr marL="0" indent="0">
              <a:lnSpc>
                <a:spcPct val="114000"/>
              </a:lnSpc>
              <a:buNone/>
            </a:pPr>
            <a:r>
              <a:rPr lang="en-US" sz="1250" dirty="0">
                <a:solidFill>
                  <a:srgbClr val="C9D1D9"/>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properties</a:t>
            </a:r>
            <a:r>
              <a:rPr lang="en-US" sz="1250" dirty="0">
                <a:solidFill>
                  <a:srgbClr val="C9D1D9"/>
                </a:solidFill>
                <a:latin typeface="Consolas" pitchFamily="34" charset="0"/>
                <a:ea typeface="Consolas" pitchFamily="34" charset="-122"/>
                <a:cs typeface="Consolas" pitchFamily="34" charset="-120"/>
              </a:rPr>
              <a:t>:</a:t>
            </a:r>
            <a:endParaRPr lang="en-US" sz="1250" dirty="0"/>
          </a:p>
          <a:p>
            <a:pPr marL="0" indent="0">
              <a:lnSpc>
                <a:spcPct val="114000"/>
              </a:lnSpc>
              <a:buNone/>
            </a:pPr>
            <a:r>
              <a:rPr lang="en-US" sz="1250" dirty="0">
                <a:solidFill>
                  <a:srgbClr val="C9D1D9"/>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cardNumber</a:t>
            </a:r>
            <a:r>
              <a:rPr lang="en-US" sz="1250" dirty="0">
                <a:solidFill>
                  <a:srgbClr val="C9D1D9"/>
                </a:solidFill>
                <a:latin typeface="Consolas" pitchFamily="34" charset="0"/>
                <a:ea typeface="Consolas" pitchFamily="34" charset="-122"/>
                <a:cs typeface="Consolas" pitchFamily="34" charset="-120"/>
              </a:rPr>
              <a:t>: { </a:t>
            </a:r>
            <a:r>
              <a:rPr lang="en-US" sz="1250" dirty="0">
                <a:solidFill>
                  <a:srgbClr val="9CDCFE"/>
                </a:solidFill>
                <a:latin typeface="Consolas" pitchFamily="34" charset="0"/>
                <a:ea typeface="Consolas" pitchFamily="34" charset="-122"/>
                <a:cs typeface="Consolas" pitchFamily="34" charset="-120"/>
              </a:rPr>
              <a:t>type</a:t>
            </a:r>
            <a:r>
              <a:rPr lang="en-US" sz="1250" dirty="0">
                <a:solidFill>
                  <a:srgbClr val="C9D1D9"/>
                </a:solidFill>
                <a:latin typeface="Consolas" pitchFamily="34" charset="0"/>
                <a:ea typeface="Consolas" pitchFamily="34" charset="-122"/>
                <a:cs typeface="Consolas" pitchFamily="34" charset="-120"/>
              </a:rPr>
              <a:t>: </a:t>
            </a:r>
            <a:r>
              <a:rPr lang="en-US" sz="1250" dirty="0">
                <a:solidFill>
                  <a:srgbClr val="CE9178"/>
                </a:solidFill>
                <a:latin typeface="Consolas" pitchFamily="34" charset="0"/>
                <a:ea typeface="Consolas" pitchFamily="34" charset="-122"/>
                <a:cs typeface="Consolas" pitchFamily="34" charset="-120"/>
              </a:rPr>
              <a:t>string</a:t>
            </a:r>
            <a:r>
              <a:rPr lang="en-US" sz="1250" dirty="0">
                <a:solidFill>
                  <a:srgbClr val="C9D1D9"/>
                </a:solidFill>
                <a:latin typeface="Consolas" pitchFamily="34" charset="0"/>
                <a:ea typeface="Consolas" pitchFamily="34" charset="-122"/>
                <a:cs typeface="Consolas" pitchFamily="34" charset="-120"/>
              </a:rPr>
              <a:t> }</a:t>
            </a:r>
            <a:endParaRPr lang="en-US" sz="1250" dirty="0"/>
          </a:p>
          <a:p>
            <a:pPr marL="0" indent="0">
              <a:lnSpc>
                <a:spcPct val="114000"/>
              </a:lnSpc>
              <a:buNone/>
            </a:pPr>
            <a:r>
              <a:rPr lang="en-US" sz="1250" dirty="0">
                <a:solidFill>
                  <a:srgbClr val="C9D1D9"/>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expiry</a:t>
            </a:r>
            <a:r>
              <a:rPr lang="en-US" sz="1250" dirty="0">
                <a:solidFill>
                  <a:srgbClr val="C9D1D9"/>
                </a:solidFill>
                <a:latin typeface="Consolas" pitchFamily="34" charset="0"/>
                <a:ea typeface="Consolas" pitchFamily="34" charset="-122"/>
                <a:cs typeface="Consolas" pitchFamily="34" charset="-120"/>
              </a:rPr>
              <a:t>:     { </a:t>
            </a:r>
            <a:r>
              <a:rPr lang="en-US" sz="1250" dirty="0">
                <a:solidFill>
                  <a:srgbClr val="9CDCFE"/>
                </a:solidFill>
                <a:latin typeface="Consolas" pitchFamily="34" charset="0"/>
                <a:ea typeface="Consolas" pitchFamily="34" charset="-122"/>
                <a:cs typeface="Consolas" pitchFamily="34" charset="-120"/>
              </a:rPr>
              <a:t>type</a:t>
            </a:r>
            <a:r>
              <a:rPr lang="en-US" sz="1250" dirty="0">
                <a:solidFill>
                  <a:srgbClr val="C9D1D9"/>
                </a:solidFill>
                <a:latin typeface="Consolas" pitchFamily="34" charset="0"/>
                <a:ea typeface="Consolas" pitchFamily="34" charset="-122"/>
                <a:cs typeface="Consolas" pitchFamily="34" charset="-120"/>
              </a:rPr>
              <a:t>: </a:t>
            </a:r>
            <a:r>
              <a:rPr lang="en-US" sz="1250" dirty="0">
                <a:solidFill>
                  <a:srgbClr val="CE9178"/>
                </a:solidFill>
                <a:latin typeface="Consolas" pitchFamily="34" charset="0"/>
                <a:ea typeface="Consolas" pitchFamily="34" charset="-122"/>
                <a:cs typeface="Consolas" pitchFamily="34" charset="-120"/>
              </a:rPr>
              <a:t>string</a:t>
            </a:r>
            <a:r>
              <a:rPr lang="en-US" sz="1250" dirty="0">
                <a:solidFill>
                  <a:srgbClr val="C9D1D9"/>
                </a:solidFill>
                <a:latin typeface="Consolas" pitchFamily="34" charset="0"/>
                <a:ea typeface="Consolas" pitchFamily="34" charset="-122"/>
                <a:cs typeface="Consolas" pitchFamily="34" charset="-120"/>
              </a:rPr>
              <a:t> }</a:t>
            </a:r>
            <a:endParaRPr lang="en-US" sz="1250" dirty="0"/>
          </a:p>
        </p:txBody>
      </p:sp>
      <p:sp>
        <p:nvSpPr>
          <p:cNvPr id="12" name="Shape 10"/>
          <p:cNvSpPr/>
          <p:nvPr/>
        </p:nvSpPr>
        <p:spPr>
          <a:xfrm>
            <a:off x="6355080" y="1691640"/>
            <a:ext cx="5193792" cy="4617720"/>
          </a:xfrm>
          <a:prstGeom prst="roundRect">
            <a:avLst>
              <a:gd name="adj" fmla="val 990"/>
            </a:avLst>
          </a:prstGeom>
          <a:solidFill>
            <a:srgbClr val="132235"/>
          </a:solidFill>
          <a:ln/>
          <a:effectLst>
            <a:outerShdw blurRad="88900" dist="25400" dir="5400000" algn="bl" rotWithShape="0">
              <a:srgbClr val="8496A6">
                <a:alpha val="40000"/>
              </a:srgbClr>
            </a:outerShdw>
          </a:effectLst>
        </p:spPr>
        <p:txBody>
          <a:bodyPr/>
          <a:lstStyle/>
          <a:p>
            <a:endParaRPr lang="en-AU"/>
          </a:p>
        </p:txBody>
      </p:sp>
      <p:sp>
        <p:nvSpPr>
          <p:cNvPr id="13" name="Shape 11"/>
          <p:cNvSpPr/>
          <p:nvPr/>
        </p:nvSpPr>
        <p:spPr>
          <a:xfrm>
            <a:off x="6355080" y="1691640"/>
            <a:ext cx="5193792" cy="310896"/>
          </a:xfrm>
          <a:prstGeom prst="roundRect">
            <a:avLst>
              <a:gd name="adj" fmla="val 14706"/>
            </a:avLst>
          </a:prstGeom>
          <a:solidFill>
            <a:srgbClr val="0C1826"/>
          </a:solidFill>
          <a:ln/>
        </p:spPr>
        <p:txBody>
          <a:bodyPr/>
          <a:lstStyle/>
          <a:p>
            <a:endParaRPr lang="en-AU"/>
          </a:p>
        </p:txBody>
      </p:sp>
      <p:sp>
        <p:nvSpPr>
          <p:cNvPr id="14" name="Shape 12"/>
          <p:cNvSpPr/>
          <p:nvPr/>
        </p:nvSpPr>
        <p:spPr>
          <a:xfrm>
            <a:off x="6355080" y="1847088"/>
            <a:ext cx="5193792" cy="155448"/>
          </a:xfrm>
          <a:prstGeom prst="rect">
            <a:avLst/>
          </a:prstGeom>
          <a:solidFill>
            <a:srgbClr val="0C1826"/>
          </a:solidFill>
          <a:ln/>
        </p:spPr>
        <p:txBody>
          <a:bodyPr/>
          <a:lstStyle/>
          <a:p>
            <a:endParaRPr lang="en-AU"/>
          </a:p>
        </p:txBody>
      </p:sp>
      <p:sp>
        <p:nvSpPr>
          <p:cNvPr id="15" name="Shape 13"/>
          <p:cNvSpPr/>
          <p:nvPr/>
        </p:nvSpPr>
        <p:spPr>
          <a:xfrm>
            <a:off x="6519672" y="1792224"/>
            <a:ext cx="109728" cy="109728"/>
          </a:xfrm>
          <a:prstGeom prst="ellipse">
            <a:avLst/>
          </a:prstGeom>
          <a:solidFill>
            <a:srgbClr val="E0655F"/>
          </a:solidFill>
          <a:ln/>
        </p:spPr>
        <p:txBody>
          <a:bodyPr/>
          <a:lstStyle/>
          <a:p>
            <a:endParaRPr lang="en-AU"/>
          </a:p>
        </p:txBody>
      </p:sp>
      <p:sp>
        <p:nvSpPr>
          <p:cNvPr id="16" name="Shape 14"/>
          <p:cNvSpPr/>
          <p:nvPr/>
        </p:nvSpPr>
        <p:spPr>
          <a:xfrm>
            <a:off x="6720840" y="1792224"/>
            <a:ext cx="109728" cy="109728"/>
          </a:xfrm>
          <a:prstGeom prst="ellipse">
            <a:avLst/>
          </a:prstGeom>
          <a:solidFill>
            <a:srgbClr val="E0A93F"/>
          </a:solidFill>
          <a:ln/>
        </p:spPr>
        <p:txBody>
          <a:bodyPr/>
          <a:lstStyle/>
          <a:p>
            <a:endParaRPr lang="en-AU"/>
          </a:p>
        </p:txBody>
      </p:sp>
      <p:sp>
        <p:nvSpPr>
          <p:cNvPr id="17" name="Shape 15"/>
          <p:cNvSpPr/>
          <p:nvPr/>
        </p:nvSpPr>
        <p:spPr>
          <a:xfrm>
            <a:off x="6922008" y="1792224"/>
            <a:ext cx="109728" cy="109728"/>
          </a:xfrm>
          <a:prstGeom prst="ellipse">
            <a:avLst/>
          </a:prstGeom>
          <a:solidFill>
            <a:srgbClr val="5FB85F"/>
          </a:solidFill>
          <a:ln/>
        </p:spPr>
        <p:txBody>
          <a:bodyPr/>
          <a:lstStyle/>
          <a:p>
            <a:endParaRPr lang="en-AU"/>
          </a:p>
        </p:txBody>
      </p:sp>
      <p:sp>
        <p:nvSpPr>
          <p:cNvPr id="18" name="Text 16"/>
          <p:cNvSpPr/>
          <p:nvPr/>
        </p:nvSpPr>
        <p:spPr>
          <a:xfrm>
            <a:off x="7269480" y="1691640"/>
            <a:ext cx="4096512" cy="310896"/>
          </a:xfrm>
          <a:prstGeom prst="rect">
            <a:avLst/>
          </a:prstGeom>
          <a:noFill/>
          <a:ln/>
        </p:spPr>
        <p:txBody>
          <a:bodyPr wrap="square" lIns="0" tIns="0" rIns="0" bIns="0" rtlCol="0" anchor="ctr"/>
          <a:lstStyle/>
          <a:p>
            <a:pPr marL="0" indent="0" algn="l">
              <a:buNone/>
            </a:pPr>
            <a:r>
              <a:rPr lang="en-US" sz="1050" dirty="0">
                <a:solidFill>
                  <a:srgbClr val="8B949E"/>
                </a:solidFill>
                <a:latin typeface="Consolas" pitchFamily="34" charset="0"/>
                <a:ea typeface="Consolas" pitchFamily="34" charset="-122"/>
                <a:cs typeface="Consolas" pitchFamily="34" charset="-120"/>
              </a:rPr>
              <a:t>openapi.yaml — BankTransfer</a:t>
            </a:r>
            <a:endParaRPr lang="en-US" sz="1050" dirty="0"/>
          </a:p>
        </p:txBody>
      </p:sp>
      <p:sp>
        <p:nvSpPr>
          <p:cNvPr id="19" name="Text 17"/>
          <p:cNvSpPr/>
          <p:nvPr/>
        </p:nvSpPr>
        <p:spPr>
          <a:xfrm>
            <a:off x="6611112" y="2130552"/>
            <a:ext cx="4736592" cy="4050792"/>
          </a:xfrm>
          <a:prstGeom prst="rect">
            <a:avLst/>
          </a:prstGeom>
          <a:noFill/>
          <a:ln/>
        </p:spPr>
        <p:txBody>
          <a:bodyPr wrap="square" lIns="0" tIns="0" rIns="0" bIns="0" rtlCol="0" anchor="t"/>
          <a:lstStyle/>
          <a:p>
            <a:pPr marL="0" indent="0">
              <a:lnSpc>
                <a:spcPct val="114000"/>
              </a:lnSpc>
              <a:buNone/>
            </a:pPr>
            <a:r>
              <a:rPr lang="en-US" sz="1250" dirty="0">
                <a:solidFill>
                  <a:srgbClr val="C9D1D9"/>
                </a:solidFill>
                <a:latin typeface="Consolas" pitchFamily="34" charset="0"/>
                <a:ea typeface="Consolas" pitchFamily="34" charset="-122"/>
                <a:cs typeface="Consolas" pitchFamily="34" charset="-120"/>
              </a:rPr>
              <a:t>BankTransfer:</a:t>
            </a:r>
            <a:endParaRPr lang="en-US" sz="1250" dirty="0"/>
          </a:p>
          <a:p>
            <a:pPr marL="0" indent="0">
              <a:lnSpc>
                <a:spcPct val="114000"/>
              </a:lnSpc>
              <a:buNone/>
            </a:pPr>
            <a:r>
              <a:rPr lang="en-US" sz="1250" dirty="0">
                <a:solidFill>
                  <a:srgbClr val="C9D1D9"/>
                </a:solidFill>
                <a:latin typeface="Consolas" pitchFamily="34" charset="0"/>
                <a:ea typeface="Consolas" pitchFamily="34" charset="-122"/>
                <a:cs typeface="Consolas" pitchFamily="34" charset="-120"/>
              </a:rPr>
              <a:t>  </a:t>
            </a:r>
            <a:r>
              <a:rPr lang="en-US" sz="1250" dirty="0">
                <a:solidFill>
                  <a:srgbClr val="F6AE2D"/>
                </a:solidFill>
                <a:latin typeface="Consolas" pitchFamily="34" charset="0"/>
                <a:ea typeface="Consolas" pitchFamily="34" charset="-122"/>
                <a:cs typeface="Consolas" pitchFamily="34" charset="-120"/>
              </a:rPr>
              <a:t>allOf</a:t>
            </a:r>
            <a:r>
              <a:rPr lang="en-US" sz="1250" dirty="0">
                <a:solidFill>
                  <a:srgbClr val="C9D1D9"/>
                </a:solidFill>
                <a:latin typeface="Consolas" pitchFamily="34" charset="0"/>
                <a:ea typeface="Consolas" pitchFamily="34" charset="-122"/>
                <a:cs typeface="Consolas" pitchFamily="34" charset="-120"/>
              </a:rPr>
              <a:t>:</a:t>
            </a:r>
            <a:endParaRPr lang="en-US" sz="1250" dirty="0"/>
          </a:p>
          <a:p>
            <a:pPr marL="0" indent="0">
              <a:lnSpc>
                <a:spcPct val="114000"/>
              </a:lnSpc>
              <a:buNone/>
            </a:pPr>
            <a:r>
              <a:rPr lang="en-US" sz="1250" dirty="0">
                <a:solidFill>
                  <a:srgbClr val="C9D1D9"/>
                </a:solidFill>
                <a:latin typeface="Consolas" pitchFamily="34" charset="0"/>
                <a:ea typeface="Consolas" pitchFamily="34" charset="-122"/>
                <a:cs typeface="Consolas" pitchFamily="34" charset="-120"/>
              </a:rPr>
              <a:t>    - </a:t>
            </a:r>
            <a:r>
              <a:rPr lang="en-US" sz="1250" dirty="0">
                <a:solidFill>
                  <a:srgbClr val="C9A7EB"/>
                </a:solidFill>
                <a:latin typeface="Consolas" pitchFamily="34" charset="0"/>
                <a:ea typeface="Consolas" pitchFamily="34" charset="-122"/>
                <a:cs typeface="Consolas" pitchFamily="34" charset="-120"/>
              </a:rPr>
              <a:t>$ref</a:t>
            </a:r>
            <a:r>
              <a:rPr lang="en-US" sz="1250" dirty="0">
                <a:solidFill>
                  <a:srgbClr val="C9D1D9"/>
                </a:solidFill>
                <a:latin typeface="Consolas" pitchFamily="34" charset="0"/>
                <a:ea typeface="Consolas" pitchFamily="34" charset="-122"/>
                <a:cs typeface="Consolas" pitchFamily="34" charset="-120"/>
              </a:rPr>
              <a:t>: </a:t>
            </a:r>
            <a:r>
              <a:rPr lang="en-US" sz="1250" dirty="0">
                <a:solidFill>
                  <a:srgbClr val="C9A7EB"/>
                </a:solidFill>
                <a:latin typeface="Consolas" pitchFamily="34" charset="0"/>
                <a:ea typeface="Consolas" pitchFamily="34" charset="-122"/>
                <a:cs typeface="Consolas" pitchFamily="34" charset="-120"/>
              </a:rPr>
              <a:t>'#/.../Payment'</a:t>
            </a:r>
            <a:endParaRPr lang="en-US" sz="1250" dirty="0"/>
          </a:p>
          <a:p>
            <a:pPr marL="0" indent="0">
              <a:lnSpc>
                <a:spcPct val="114000"/>
              </a:lnSpc>
              <a:buNone/>
            </a:pPr>
            <a:r>
              <a:rPr lang="en-US" sz="1250" dirty="0">
                <a:solidFill>
                  <a:srgbClr val="C9D1D9"/>
                </a:solidFill>
                <a:latin typeface="Consolas" pitchFamily="34" charset="0"/>
                <a:ea typeface="Consolas" pitchFamily="34" charset="-122"/>
                <a:cs typeface="Consolas" pitchFamily="34" charset="-120"/>
              </a:rPr>
              <a:t>    - </a:t>
            </a:r>
            <a:r>
              <a:rPr lang="en-US" sz="1250" dirty="0">
                <a:solidFill>
                  <a:srgbClr val="9CDCFE"/>
                </a:solidFill>
                <a:latin typeface="Consolas" pitchFamily="34" charset="0"/>
                <a:ea typeface="Consolas" pitchFamily="34" charset="-122"/>
                <a:cs typeface="Consolas" pitchFamily="34" charset="-120"/>
              </a:rPr>
              <a:t>type</a:t>
            </a:r>
            <a:r>
              <a:rPr lang="en-US" sz="1250" dirty="0">
                <a:solidFill>
                  <a:srgbClr val="C9D1D9"/>
                </a:solidFill>
                <a:latin typeface="Consolas" pitchFamily="34" charset="0"/>
                <a:ea typeface="Consolas" pitchFamily="34" charset="-122"/>
                <a:cs typeface="Consolas" pitchFamily="34" charset="-120"/>
              </a:rPr>
              <a:t>: object</a:t>
            </a:r>
            <a:endParaRPr lang="en-US" sz="1250" dirty="0"/>
          </a:p>
          <a:p>
            <a:pPr marL="0" indent="0">
              <a:lnSpc>
                <a:spcPct val="114000"/>
              </a:lnSpc>
              <a:buNone/>
            </a:pPr>
            <a:r>
              <a:rPr lang="en-US" sz="1250" dirty="0">
                <a:solidFill>
                  <a:srgbClr val="C9D1D9"/>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properties</a:t>
            </a:r>
            <a:r>
              <a:rPr lang="en-US" sz="1250" dirty="0">
                <a:solidFill>
                  <a:srgbClr val="C9D1D9"/>
                </a:solidFill>
                <a:latin typeface="Consolas" pitchFamily="34" charset="0"/>
                <a:ea typeface="Consolas" pitchFamily="34" charset="-122"/>
                <a:cs typeface="Consolas" pitchFamily="34" charset="-120"/>
              </a:rPr>
              <a:t>:</a:t>
            </a:r>
            <a:endParaRPr lang="en-US" sz="1250" dirty="0"/>
          </a:p>
          <a:p>
            <a:pPr marL="0" indent="0">
              <a:lnSpc>
                <a:spcPct val="114000"/>
              </a:lnSpc>
              <a:buNone/>
            </a:pPr>
            <a:r>
              <a:rPr lang="en-US" sz="1250" dirty="0">
                <a:solidFill>
                  <a:srgbClr val="C9D1D9"/>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iban</a:t>
            </a:r>
            <a:r>
              <a:rPr lang="en-US" sz="1250" dirty="0">
                <a:solidFill>
                  <a:srgbClr val="C9D1D9"/>
                </a:solidFill>
                <a:latin typeface="Consolas" pitchFamily="34" charset="0"/>
                <a:ea typeface="Consolas" pitchFamily="34" charset="-122"/>
                <a:cs typeface="Consolas" pitchFamily="34" charset="-120"/>
              </a:rPr>
              <a:t>: { </a:t>
            </a:r>
            <a:r>
              <a:rPr lang="en-US" sz="1250" dirty="0">
                <a:solidFill>
                  <a:srgbClr val="9CDCFE"/>
                </a:solidFill>
                <a:latin typeface="Consolas" pitchFamily="34" charset="0"/>
                <a:ea typeface="Consolas" pitchFamily="34" charset="-122"/>
                <a:cs typeface="Consolas" pitchFamily="34" charset="-120"/>
              </a:rPr>
              <a:t>type</a:t>
            </a:r>
            <a:r>
              <a:rPr lang="en-US" sz="1250" dirty="0">
                <a:solidFill>
                  <a:srgbClr val="C9D1D9"/>
                </a:solidFill>
                <a:latin typeface="Consolas" pitchFamily="34" charset="0"/>
                <a:ea typeface="Consolas" pitchFamily="34" charset="-122"/>
                <a:cs typeface="Consolas" pitchFamily="34" charset="-120"/>
              </a:rPr>
              <a:t>: </a:t>
            </a:r>
            <a:r>
              <a:rPr lang="en-US" sz="1250" dirty="0">
                <a:solidFill>
                  <a:srgbClr val="CE9178"/>
                </a:solidFill>
                <a:latin typeface="Consolas" pitchFamily="34" charset="0"/>
                <a:ea typeface="Consolas" pitchFamily="34" charset="-122"/>
                <a:cs typeface="Consolas" pitchFamily="34" charset="-120"/>
              </a:rPr>
              <a:t>string</a:t>
            </a:r>
            <a:r>
              <a:rPr lang="en-US" sz="1250" dirty="0">
                <a:solidFill>
                  <a:srgbClr val="C9D1D9"/>
                </a:solidFill>
                <a:latin typeface="Consolas" pitchFamily="34" charset="0"/>
                <a:ea typeface="Consolas" pitchFamily="34" charset="-122"/>
                <a:cs typeface="Consolas" pitchFamily="34" charset="-120"/>
              </a:rPr>
              <a:t> }</a:t>
            </a:r>
            <a:endParaRPr lang="en-US" sz="1250" dirty="0"/>
          </a:p>
          <a:p>
            <a:pPr marL="0" indent="0">
              <a:lnSpc>
                <a:spcPct val="114000"/>
              </a:lnSpc>
              <a:buNone/>
            </a:pPr>
            <a:r>
              <a:rPr lang="en-US" sz="1250" dirty="0">
                <a:solidFill>
                  <a:srgbClr val="C9D1D9"/>
                </a:solidFill>
                <a:latin typeface="Consolas" pitchFamily="34" charset="0"/>
                <a:ea typeface="Consolas" pitchFamily="34" charset="-122"/>
                <a:cs typeface="Consolas" pitchFamily="34" charset="-120"/>
              </a:rPr>
              <a:t>        </a:t>
            </a:r>
            <a:r>
              <a:rPr lang="en-US" sz="1250" dirty="0">
                <a:solidFill>
                  <a:srgbClr val="9CDCFE"/>
                </a:solidFill>
                <a:latin typeface="Consolas" pitchFamily="34" charset="0"/>
                <a:ea typeface="Consolas" pitchFamily="34" charset="-122"/>
                <a:cs typeface="Consolas" pitchFamily="34" charset="-120"/>
              </a:rPr>
              <a:t>bic</a:t>
            </a:r>
            <a:r>
              <a:rPr lang="en-US" sz="1250" dirty="0">
                <a:solidFill>
                  <a:srgbClr val="C9D1D9"/>
                </a:solidFill>
                <a:latin typeface="Consolas" pitchFamily="34" charset="0"/>
                <a:ea typeface="Consolas" pitchFamily="34" charset="-122"/>
                <a:cs typeface="Consolas" pitchFamily="34" charset="-120"/>
              </a:rPr>
              <a:t>:  { </a:t>
            </a:r>
            <a:r>
              <a:rPr lang="en-US" sz="1250" dirty="0">
                <a:solidFill>
                  <a:srgbClr val="9CDCFE"/>
                </a:solidFill>
                <a:latin typeface="Consolas" pitchFamily="34" charset="0"/>
                <a:ea typeface="Consolas" pitchFamily="34" charset="-122"/>
                <a:cs typeface="Consolas" pitchFamily="34" charset="-120"/>
              </a:rPr>
              <a:t>type</a:t>
            </a:r>
            <a:r>
              <a:rPr lang="en-US" sz="1250" dirty="0">
                <a:solidFill>
                  <a:srgbClr val="C9D1D9"/>
                </a:solidFill>
                <a:latin typeface="Consolas" pitchFamily="34" charset="0"/>
                <a:ea typeface="Consolas" pitchFamily="34" charset="-122"/>
                <a:cs typeface="Consolas" pitchFamily="34" charset="-120"/>
              </a:rPr>
              <a:t>: </a:t>
            </a:r>
            <a:r>
              <a:rPr lang="en-US" sz="1250" dirty="0">
                <a:solidFill>
                  <a:srgbClr val="CE9178"/>
                </a:solidFill>
                <a:latin typeface="Consolas" pitchFamily="34" charset="0"/>
                <a:ea typeface="Consolas" pitchFamily="34" charset="-122"/>
                <a:cs typeface="Consolas" pitchFamily="34" charset="-120"/>
              </a:rPr>
              <a:t>string</a:t>
            </a:r>
            <a:r>
              <a:rPr lang="en-US" sz="1250" dirty="0">
                <a:solidFill>
                  <a:srgbClr val="C9D1D9"/>
                </a:solidFill>
                <a:latin typeface="Consolas" pitchFamily="34" charset="0"/>
                <a:ea typeface="Consolas" pitchFamily="34" charset="-122"/>
                <a:cs typeface="Consolas" pitchFamily="34" charset="-120"/>
              </a:rPr>
              <a:t> }</a:t>
            </a:r>
            <a:endParaRPr lang="en-US" sz="1250" dirty="0"/>
          </a:p>
          <a:p>
            <a:pPr marL="0" indent="0">
              <a:lnSpc>
                <a:spcPct val="114000"/>
              </a:lnSpc>
              <a:buNone/>
            </a:pPr>
            <a:r>
              <a:rPr lang="en-US" sz="1250" dirty="0">
                <a:solidFill>
                  <a:srgbClr val="C9D1D9"/>
                </a:solidFill>
                <a:latin typeface="Consolas" pitchFamily="34" charset="0"/>
                <a:ea typeface="Consolas" pitchFamily="34" charset="-122"/>
                <a:cs typeface="Consolas" pitchFamily="34" charset="-120"/>
              </a:rPr>
              <a:t> </a:t>
            </a:r>
            <a:endParaRPr lang="en-US" sz="1250" dirty="0"/>
          </a:p>
          <a:p>
            <a:pPr marL="0" indent="0">
              <a:lnSpc>
                <a:spcPct val="114000"/>
              </a:lnSpc>
              <a:buNone/>
            </a:pPr>
            <a:r>
              <a:rPr lang="en-US" sz="1250" i="1" dirty="0">
                <a:solidFill>
                  <a:srgbClr val="8B949E"/>
                </a:solidFill>
                <a:latin typeface="Consolas" pitchFamily="34" charset="0"/>
                <a:ea typeface="Consolas" pitchFamily="34" charset="-122"/>
                <a:cs typeface="Consolas" pitchFamily="34" charset="-120"/>
              </a:rPr>
              <a:t># DigitalWallet follows the</a:t>
            </a:r>
            <a:endParaRPr lang="en-US" sz="1250" dirty="0"/>
          </a:p>
          <a:p>
            <a:pPr marL="0" indent="0">
              <a:lnSpc>
                <a:spcPct val="114000"/>
              </a:lnSpc>
              <a:buNone/>
            </a:pPr>
            <a:r>
              <a:rPr lang="en-US" sz="1250" i="1" dirty="0">
                <a:solidFill>
                  <a:srgbClr val="8B949E"/>
                </a:solidFill>
                <a:latin typeface="Consolas" pitchFamily="34" charset="0"/>
                <a:ea typeface="Consolas" pitchFamily="34" charset="-122"/>
                <a:cs typeface="Consolas" pitchFamily="34" charset="-120"/>
              </a:rPr>
              <a:t># exact same allOf pattern.</a:t>
            </a:r>
            <a:endParaRPr lang="en-US" sz="1250" dirty="0"/>
          </a:p>
        </p:txBody>
      </p:sp>
      <p:sp>
        <p:nvSpPr>
          <p:cNvPr id="20" name="Text 18"/>
          <p:cNvSpPr/>
          <p:nvPr/>
        </p:nvSpPr>
        <p:spPr>
          <a:xfrm>
            <a:off x="640080" y="6419088"/>
            <a:ext cx="10972800" cy="365760"/>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allOf = “is a Payment, and also has these fields.”  </a:t>
            </a:r>
            <a:r>
              <a:rPr lang="en-US" sz="1400" i="1" dirty="0">
                <a:solidFill>
                  <a:srgbClr val="5A6B78"/>
                </a:solidFill>
                <a:latin typeface="Calibri" pitchFamily="34" charset="0"/>
                <a:ea typeface="Calibri" pitchFamily="34" charset="-122"/>
                <a:cs typeface="Calibri" pitchFamily="34" charset="-120"/>
              </a:rPr>
              <a:t>Base changes propagate to every subtype automatically.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85800"/>
          </a:xfrm>
          <a:prstGeom prst="rect">
            <a:avLst/>
          </a:prstGeom>
          <a:noFill/>
          <a:ln/>
        </p:spPr>
        <p:txBody>
          <a:bodyPr wrap="square" lIns="0" tIns="0" rIns="0" bIns="0" rtlCol="0" anchor="ctr"/>
          <a:lstStyle/>
          <a:p>
            <a:pPr marL="0" indent="0">
              <a:buNone/>
            </a:pPr>
            <a:r>
              <a:rPr lang="en-US" sz="3400" b="1" dirty="0">
                <a:solidFill>
                  <a:srgbClr val="21295C"/>
                </a:solidFill>
                <a:latin typeface="Cambria" pitchFamily="34" charset="0"/>
                <a:ea typeface="Cambria" pitchFamily="34" charset="-122"/>
                <a:cs typeface="Cambria" pitchFamily="34" charset="-120"/>
              </a:rPr>
              <a:t>How it looks as a schema</a:t>
            </a:r>
            <a:endParaRPr lang="en-US" sz="3400" dirty="0"/>
          </a:p>
        </p:txBody>
      </p:sp>
      <p:sp>
        <p:nvSpPr>
          <p:cNvPr id="3" name="Text 1"/>
          <p:cNvSpPr/>
          <p:nvPr/>
        </p:nvSpPr>
        <p:spPr>
          <a:xfrm>
            <a:off x="640080" y="1078992"/>
            <a:ext cx="10972800" cy="41148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The discriminator mapping is the labelled edge from the base to each form.</a:t>
            </a:r>
            <a:endParaRPr lang="en-US" sz="1500" dirty="0"/>
          </a:p>
        </p:txBody>
      </p:sp>
      <p:sp>
        <p:nvSpPr>
          <p:cNvPr id="4" name="Shape 2"/>
          <p:cNvSpPr/>
          <p:nvPr/>
        </p:nvSpPr>
        <p:spPr>
          <a:xfrm>
            <a:off x="4572000" y="1783080"/>
            <a:ext cx="3063240" cy="1234440"/>
          </a:xfrm>
          <a:prstGeom prst="rect">
            <a:avLst/>
          </a:prstGeom>
          <a:solidFill>
            <a:srgbClr val="FFFFFF"/>
          </a:solidFill>
          <a:ln w="19050">
            <a:solidFill>
              <a:srgbClr val="21295C"/>
            </a:solidFill>
            <a:prstDash val="solid"/>
          </a:ln>
        </p:spPr>
        <p:txBody>
          <a:bodyPr/>
          <a:lstStyle/>
          <a:p>
            <a:endParaRPr lang="en-AU"/>
          </a:p>
        </p:txBody>
      </p:sp>
      <p:sp>
        <p:nvSpPr>
          <p:cNvPr id="5" name="Shape 3"/>
          <p:cNvSpPr/>
          <p:nvPr/>
        </p:nvSpPr>
        <p:spPr>
          <a:xfrm>
            <a:off x="4572000" y="1783080"/>
            <a:ext cx="3063240" cy="502920"/>
          </a:xfrm>
          <a:prstGeom prst="rect">
            <a:avLst/>
          </a:prstGeom>
          <a:solidFill>
            <a:srgbClr val="21295C"/>
          </a:solidFill>
          <a:ln w="19050">
            <a:solidFill>
              <a:srgbClr val="21295C"/>
            </a:solidFill>
            <a:prstDash val="solid"/>
          </a:ln>
        </p:spPr>
        <p:txBody>
          <a:bodyPr/>
          <a:lstStyle/>
          <a:p>
            <a:endParaRPr lang="en-AU"/>
          </a:p>
        </p:txBody>
      </p:sp>
      <p:sp>
        <p:nvSpPr>
          <p:cNvPr id="6" name="Text 4"/>
          <p:cNvSpPr/>
          <p:nvPr/>
        </p:nvSpPr>
        <p:spPr>
          <a:xfrm>
            <a:off x="4572000" y="1783080"/>
            <a:ext cx="30632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Payment</a:t>
            </a:r>
            <a:endParaRPr lang="en-US" sz="1400" dirty="0"/>
          </a:p>
        </p:txBody>
      </p:sp>
      <p:sp>
        <p:nvSpPr>
          <p:cNvPr id="7" name="Text 5"/>
          <p:cNvSpPr/>
          <p:nvPr/>
        </p:nvSpPr>
        <p:spPr>
          <a:xfrm>
            <a:off x="4700016" y="2350008"/>
            <a:ext cx="2807208" cy="594360"/>
          </a:xfrm>
          <a:prstGeom prst="rect">
            <a:avLst/>
          </a:prstGeom>
          <a:noFill/>
          <a:ln/>
        </p:spPr>
        <p:txBody>
          <a:bodyPr wrap="square" lIns="0" tIns="0" rIns="0" bIns="0" rtlCol="0" anchor="t"/>
          <a:lstStyle/>
          <a:p>
            <a:pPr marL="0" indent="0">
              <a:lnSpc>
                <a:spcPct val="105000"/>
              </a:lnSpc>
              <a:buNone/>
            </a:pPr>
            <a:r>
              <a:rPr lang="en-US" sz="1100" dirty="0">
                <a:solidFill>
                  <a:srgbClr val="1F2A33"/>
                </a:solidFill>
                <a:latin typeface="Consolas" pitchFamily="34" charset="0"/>
                <a:ea typeface="Consolas" pitchFamily="34" charset="-122"/>
                <a:cs typeface="Consolas" pitchFamily="34" charset="-120"/>
              </a:rPr>
              <a:t>paymentType, amount</a:t>
            </a:r>
            <a:endParaRPr lang="en-US" sz="1100" dirty="0"/>
          </a:p>
          <a:p>
            <a:pPr marL="0" indent="0">
              <a:lnSpc>
                <a:spcPct val="105000"/>
              </a:lnSpc>
              <a:buNone/>
            </a:pPr>
            <a:r>
              <a:rPr lang="en-US" sz="1100" dirty="0">
                <a:solidFill>
                  <a:srgbClr val="1F2A33"/>
                </a:solidFill>
                <a:latin typeface="Consolas" pitchFamily="34" charset="0"/>
                <a:ea typeface="Consolas" pitchFamily="34" charset="-122"/>
                <a:cs typeface="Consolas" pitchFamily="34" charset="-120"/>
              </a:rPr>
              <a:t>discriminator ▾</a:t>
            </a:r>
            <a:endParaRPr lang="en-US" sz="1100" dirty="0"/>
          </a:p>
        </p:txBody>
      </p:sp>
      <p:sp>
        <p:nvSpPr>
          <p:cNvPr id="8" name="Shape 6"/>
          <p:cNvSpPr/>
          <p:nvPr/>
        </p:nvSpPr>
        <p:spPr>
          <a:xfrm>
            <a:off x="6103620" y="3017520"/>
            <a:ext cx="91" cy="502920"/>
          </a:xfrm>
          <a:prstGeom prst="line">
            <a:avLst/>
          </a:prstGeom>
          <a:noFill/>
          <a:ln w="19050">
            <a:solidFill>
              <a:srgbClr val="5A6B78"/>
            </a:solidFill>
            <a:prstDash val="solid"/>
          </a:ln>
        </p:spPr>
        <p:txBody>
          <a:bodyPr/>
          <a:lstStyle/>
          <a:p>
            <a:endParaRPr lang="en-AU"/>
          </a:p>
        </p:txBody>
      </p:sp>
      <p:sp>
        <p:nvSpPr>
          <p:cNvPr id="9" name="Shape 7"/>
          <p:cNvSpPr/>
          <p:nvPr/>
        </p:nvSpPr>
        <p:spPr>
          <a:xfrm>
            <a:off x="2217420" y="3520440"/>
            <a:ext cx="7772400" cy="91"/>
          </a:xfrm>
          <a:prstGeom prst="line">
            <a:avLst/>
          </a:prstGeom>
          <a:noFill/>
          <a:ln w="19050">
            <a:solidFill>
              <a:srgbClr val="5A6B78"/>
            </a:solidFill>
            <a:prstDash val="solid"/>
          </a:ln>
        </p:spPr>
        <p:txBody>
          <a:bodyPr/>
          <a:lstStyle/>
          <a:p>
            <a:endParaRPr lang="en-AU"/>
          </a:p>
        </p:txBody>
      </p:sp>
      <p:sp>
        <p:nvSpPr>
          <p:cNvPr id="10" name="Shape 8"/>
          <p:cNvSpPr/>
          <p:nvPr/>
        </p:nvSpPr>
        <p:spPr>
          <a:xfrm>
            <a:off x="2217420" y="3520440"/>
            <a:ext cx="91" cy="822960"/>
          </a:xfrm>
          <a:prstGeom prst="line">
            <a:avLst/>
          </a:prstGeom>
          <a:noFill/>
          <a:ln w="19050">
            <a:solidFill>
              <a:srgbClr val="5A6B78"/>
            </a:solidFill>
            <a:prstDash val="solid"/>
          </a:ln>
        </p:spPr>
        <p:txBody>
          <a:bodyPr/>
          <a:lstStyle/>
          <a:p>
            <a:endParaRPr lang="en-AU"/>
          </a:p>
        </p:txBody>
      </p:sp>
      <p:sp>
        <p:nvSpPr>
          <p:cNvPr id="11" name="Shape 9"/>
          <p:cNvSpPr/>
          <p:nvPr/>
        </p:nvSpPr>
        <p:spPr>
          <a:xfrm>
            <a:off x="1650492" y="3730752"/>
            <a:ext cx="1133856" cy="402336"/>
          </a:xfrm>
          <a:prstGeom prst="roundRect">
            <a:avLst>
              <a:gd name="adj" fmla="val 22727"/>
            </a:avLst>
          </a:prstGeom>
          <a:solidFill>
            <a:srgbClr val="FFFFFF"/>
          </a:solidFill>
          <a:ln w="15875">
            <a:solidFill>
              <a:srgbClr val="F6AE2D"/>
            </a:solidFill>
            <a:prstDash val="solid"/>
          </a:ln>
        </p:spPr>
        <p:txBody>
          <a:bodyPr/>
          <a:lstStyle/>
          <a:p>
            <a:endParaRPr lang="en-AU"/>
          </a:p>
        </p:txBody>
      </p:sp>
      <p:sp>
        <p:nvSpPr>
          <p:cNvPr id="12" name="Text 10"/>
          <p:cNvSpPr/>
          <p:nvPr/>
        </p:nvSpPr>
        <p:spPr>
          <a:xfrm>
            <a:off x="1650492" y="3730752"/>
            <a:ext cx="1133856" cy="402336"/>
          </a:xfrm>
          <a:prstGeom prst="rect">
            <a:avLst/>
          </a:prstGeom>
          <a:noFill/>
          <a:ln/>
        </p:spPr>
        <p:txBody>
          <a:bodyPr wrap="square" lIns="0" tIns="0" rIns="0" bIns="0" rtlCol="0" anchor="ctr"/>
          <a:lstStyle/>
          <a:p>
            <a:pPr marL="0" indent="0" algn="ctr">
              <a:buNone/>
            </a:pPr>
            <a:r>
              <a:rPr lang="en-US" sz="1200" b="1" dirty="0">
                <a:solidFill>
                  <a:srgbClr val="F6AE2D"/>
                </a:solidFill>
                <a:latin typeface="Consolas" pitchFamily="34" charset="0"/>
                <a:ea typeface="Consolas" pitchFamily="34" charset="-122"/>
                <a:cs typeface="Consolas" pitchFamily="34" charset="-120"/>
              </a:rPr>
              <a:t>"card"</a:t>
            </a:r>
            <a:endParaRPr lang="en-US" sz="1200" dirty="0"/>
          </a:p>
        </p:txBody>
      </p:sp>
      <p:sp>
        <p:nvSpPr>
          <p:cNvPr id="13" name="Shape 11"/>
          <p:cNvSpPr/>
          <p:nvPr/>
        </p:nvSpPr>
        <p:spPr>
          <a:xfrm>
            <a:off x="685800" y="4343400"/>
            <a:ext cx="3063240" cy="1234440"/>
          </a:xfrm>
          <a:prstGeom prst="rect">
            <a:avLst/>
          </a:prstGeom>
          <a:solidFill>
            <a:srgbClr val="FFFFFF"/>
          </a:solidFill>
          <a:ln w="19050">
            <a:solidFill>
              <a:srgbClr val="F6AE2D"/>
            </a:solidFill>
            <a:prstDash val="solid"/>
          </a:ln>
        </p:spPr>
        <p:txBody>
          <a:bodyPr/>
          <a:lstStyle/>
          <a:p>
            <a:endParaRPr lang="en-AU"/>
          </a:p>
        </p:txBody>
      </p:sp>
      <p:sp>
        <p:nvSpPr>
          <p:cNvPr id="14" name="Shape 12"/>
          <p:cNvSpPr/>
          <p:nvPr/>
        </p:nvSpPr>
        <p:spPr>
          <a:xfrm>
            <a:off x="685800" y="4343400"/>
            <a:ext cx="3063240" cy="502920"/>
          </a:xfrm>
          <a:prstGeom prst="rect">
            <a:avLst/>
          </a:prstGeom>
          <a:solidFill>
            <a:srgbClr val="F6AE2D"/>
          </a:solidFill>
          <a:ln w="19050">
            <a:solidFill>
              <a:srgbClr val="F6AE2D"/>
            </a:solidFill>
            <a:prstDash val="solid"/>
          </a:ln>
        </p:spPr>
        <p:txBody>
          <a:bodyPr/>
          <a:lstStyle/>
          <a:p>
            <a:endParaRPr lang="en-AU"/>
          </a:p>
        </p:txBody>
      </p:sp>
      <p:sp>
        <p:nvSpPr>
          <p:cNvPr id="15" name="Text 13"/>
          <p:cNvSpPr/>
          <p:nvPr/>
        </p:nvSpPr>
        <p:spPr>
          <a:xfrm>
            <a:off x="685800" y="4343400"/>
            <a:ext cx="30632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CardPayment</a:t>
            </a:r>
            <a:endParaRPr lang="en-US" sz="1400" dirty="0"/>
          </a:p>
        </p:txBody>
      </p:sp>
      <p:sp>
        <p:nvSpPr>
          <p:cNvPr id="16" name="Text 14"/>
          <p:cNvSpPr/>
          <p:nvPr/>
        </p:nvSpPr>
        <p:spPr>
          <a:xfrm>
            <a:off x="813816" y="4910328"/>
            <a:ext cx="2807208" cy="594360"/>
          </a:xfrm>
          <a:prstGeom prst="rect">
            <a:avLst/>
          </a:prstGeom>
          <a:noFill/>
          <a:ln/>
        </p:spPr>
        <p:txBody>
          <a:bodyPr wrap="square" lIns="0" tIns="0" rIns="0" bIns="0" rtlCol="0" anchor="t"/>
          <a:lstStyle/>
          <a:p>
            <a:pPr marL="0" indent="0">
              <a:lnSpc>
                <a:spcPct val="105000"/>
              </a:lnSpc>
              <a:buNone/>
            </a:pPr>
            <a:r>
              <a:rPr lang="en-US" sz="1100" dirty="0">
                <a:solidFill>
                  <a:srgbClr val="1F2A33"/>
                </a:solidFill>
                <a:latin typeface="Consolas" pitchFamily="34" charset="0"/>
                <a:ea typeface="Consolas" pitchFamily="34" charset="-122"/>
                <a:cs typeface="Consolas" pitchFamily="34" charset="-120"/>
              </a:rPr>
              <a:t>+ cardNumber</a:t>
            </a:r>
            <a:endParaRPr lang="en-US" sz="1100" dirty="0"/>
          </a:p>
          <a:p>
            <a:pPr marL="0" indent="0">
              <a:lnSpc>
                <a:spcPct val="105000"/>
              </a:lnSpc>
              <a:buNone/>
            </a:pPr>
            <a:r>
              <a:rPr lang="en-US" sz="1100" dirty="0">
                <a:solidFill>
                  <a:srgbClr val="1F2A33"/>
                </a:solidFill>
                <a:latin typeface="Consolas" pitchFamily="34" charset="0"/>
                <a:ea typeface="Consolas" pitchFamily="34" charset="-122"/>
                <a:cs typeface="Consolas" pitchFamily="34" charset="-120"/>
              </a:rPr>
              <a:t>+ expiry</a:t>
            </a:r>
            <a:endParaRPr lang="en-US" sz="1100" dirty="0"/>
          </a:p>
        </p:txBody>
      </p:sp>
      <p:sp>
        <p:nvSpPr>
          <p:cNvPr id="17" name="Shape 15"/>
          <p:cNvSpPr/>
          <p:nvPr/>
        </p:nvSpPr>
        <p:spPr>
          <a:xfrm>
            <a:off x="6103620" y="3520440"/>
            <a:ext cx="91" cy="822960"/>
          </a:xfrm>
          <a:prstGeom prst="line">
            <a:avLst/>
          </a:prstGeom>
          <a:noFill/>
          <a:ln w="19050">
            <a:solidFill>
              <a:srgbClr val="5A6B78"/>
            </a:solidFill>
            <a:prstDash val="solid"/>
          </a:ln>
        </p:spPr>
        <p:txBody>
          <a:bodyPr/>
          <a:lstStyle/>
          <a:p>
            <a:endParaRPr lang="en-AU"/>
          </a:p>
        </p:txBody>
      </p:sp>
      <p:sp>
        <p:nvSpPr>
          <p:cNvPr id="18" name="Shape 16"/>
          <p:cNvSpPr/>
          <p:nvPr/>
        </p:nvSpPr>
        <p:spPr>
          <a:xfrm>
            <a:off x="5536692" y="3730752"/>
            <a:ext cx="1133856" cy="402336"/>
          </a:xfrm>
          <a:prstGeom prst="roundRect">
            <a:avLst>
              <a:gd name="adj" fmla="val 22727"/>
            </a:avLst>
          </a:prstGeom>
          <a:solidFill>
            <a:srgbClr val="FFFFFF"/>
          </a:solidFill>
          <a:ln w="15875">
            <a:solidFill>
              <a:srgbClr val="1C7293"/>
            </a:solidFill>
            <a:prstDash val="solid"/>
          </a:ln>
        </p:spPr>
        <p:txBody>
          <a:bodyPr/>
          <a:lstStyle/>
          <a:p>
            <a:endParaRPr lang="en-AU"/>
          </a:p>
        </p:txBody>
      </p:sp>
      <p:sp>
        <p:nvSpPr>
          <p:cNvPr id="19" name="Text 17"/>
          <p:cNvSpPr/>
          <p:nvPr/>
        </p:nvSpPr>
        <p:spPr>
          <a:xfrm>
            <a:off x="5536692" y="3730752"/>
            <a:ext cx="1133856" cy="402336"/>
          </a:xfrm>
          <a:prstGeom prst="rect">
            <a:avLst/>
          </a:prstGeom>
          <a:noFill/>
          <a:ln/>
        </p:spPr>
        <p:txBody>
          <a:bodyPr wrap="square" lIns="0" tIns="0" rIns="0" bIns="0" rtlCol="0" anchor="ctr"/>
          <a:lstStyle/>
          <a:p>
            <a:pPr marL="0" indent="0" algn="ctr">
              <a:buNone/>
            </a:pPr>
            <a:r>
              <a:rPr lang="en-US" sz="1200" b="1" dirty="0">
                <a:solidFill>
                  <a:srgbClr val="1C7293"/>
                </a:solidFill>
                <a:latin typeface="Consolas" pitchFamily="34" charset="0"/>
                <a:ea typeface="Consolas" pitchFamily="34" charset="-122"/>
                <a:cs typeface="Consolas" pitchFamily="34" charset="-120"/>
              </a:rPr>
              <a:t>"transfer"</a:t>
            </a:r>
            <a:endParaRPr lang="en-US" sz="1200" dirty="0"/>
          </a:p>
        </p:txBody>
      </p:sp>
      <p:sp>
        <p:nvSpPr>
          <p:cNvPr id="20" name="Shape 18"/>
          <p:cNvSpPr/>
          <p:nvPr/>
        </p:nvSpPr>
        <p:spPr>
          <a:xfrm>
            <a:off x="4572000" y="4343400"/>
            <a:ext cx="3063240" cy="1234440"/>
          </a:xfrm>
          <a:prstGeom prst="rect">
            <a:avLst/>
          </a:prstGeom>
          <a:solidFill>
            <a:srgbClr val="FFFFFF"/>
          </a:solidFill>
          <a:ln w="19050">
            <a:solidFill>
              <a:srgbClr val="1C7293"/>
            </a:solidFill>
            <a:prstDash val="solid"/>
          </a:ln>
        </p:spPr>
        <p:txBody>
          <a:bodyPr/>
          <a:lstStyle/>
          <a:p>
            <a:endParaRPr lang="en-AU"/>
          </a:p>
        </p:txBody>
      </p:sp>
      <p:sp>
        <p:nvSpPr>
          <p:cNvPr id="21" name="Shape 19"/>
          <p:cNvSpPr/>
          <p:nvPr/>
        </p:nvSpPr>
        <p:spPr>
          <a:xfrm>
            <a:off x="4572000" y="4343400"/>
            <a:ext cx="3063240" cy="502920"/>
          </a:xfrm>
          <a:prstGeom prst="rect">
            <a:avLst/>
          </a:prstGeom>
          <a:solidFill>
            <a:srgbClr val="1C7293"/>
          </a:solidFill>
          <a:ln w="19050">
            <a:solidFill>
              <a:srgbClr val="1C7293"/>
            </a:solidFill>
            <a:prstDash val="solid"/>
          </a:ln>
        </p:spPr>
        <p:txBody>
          <a:bodyPr/>
          <a:lstStyle/>
          <a:p>
            <a:endParaRPr lang="en-AU"/>
          </a:p>
        </p:txBody>
      </p:sp>
      <p:sp>
        <p:nvSpPr>
          <p:cNvPr id="22" name="Text 20"/>
          <p:cNvSpPr/>
          <p:nvPr/>
        </p:nvSpPr>
        <p:spPr>
          <a:xfrm>
            <a:off x="4572000" y="4343400"/>
            <a:ext cx="30632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BankTransfer</a:t>
            </a:r>
            <a:endParaRPr lang="en-US" sz="1400" dirty="0"/>
          </a:p>
        </p:txBody>
      </p:sp>
      <p:sp>
        <p:nvSpPr>
          <p:cNvPr id="23" name="Text 21"/>
          <p:cNvSpPr/>
          <p:nvPr/>
        </p:nvSpPr>
        <p:spPr>
          <a:xfrm>
            <a:off x="4700016" y="4910328"/>
            <a:ext cx="2807208" cy="594360"/>
          </a:xfrm>
          <a:prstGeom prst="rect">
            <a:avLst/>
          </a:prstGeom>
          <a:noFill/>
          <a:ln/>
        </p:spPr>
        <p:txBody>
          <a:bodyPr wrap="square" lIns="0" tIns="0" rIns="0" bIns="0" rtlCol="0" anchor="t"/>
          <a:lstStyle/>
          <a:p>
            <a:pPr marL="0" indent="0">
              <a:lnSpc>
                <a:spcPct val="105000"/>
              </a:lnSpc>
              <a:buNone/>
            </a:pPr>
            <a:r>
              <a:rPr lang="en-US" sz="1100" dirty="0">
                <a:solidFill>
                  <a:srgbClr val="1F2A33"/>
                </a:solidFill>
                <a:latin typeface="Consolas" pitchFamily="34" charset="0"/>
                <a:ea typeface="Consolas" pitchFamily="34" charset="-122"/>
                <a:cs typeface="Consolas" pitchFamily="34" charset="-120"/>
              </a:rPr>
              <a:t>+ iban</a:t>
            </a:r>
            <a:endParaRPr lang="en-US" sz="1100" dirty="0"/>
          </a:p>
          <a:p>
            <a:pPr marL="0" indent="0">
              <a:lnSpc>
                <a:spcPct val="105000"/>
              </a:lnSpc>
              <a:buNone/>
            </a:pPr>
            <a:r>
              <a:rPr lang="en-US" sz="1100" dirty="0">
                <a:solidFill>
                  <a:srgbClr val="1F2A33"/>
                </a:solidFill>
                <a:latin typeface="Consolas" pitchFamily="34" charset="0"/>
                <a:ea typeface="Consolas" pitchFamily="34" charset="-122"/>
                <a:cs typeface="Consolas" pitchFamily="34" charset="-120"/>
              </a:rPr>
              <a:t>+ bic</a:t>
            </a:r>
            <a:endParaRPr lang="en-US" sz="1100" dirty="0"/>
          </a:p>
        </p:txBody>
      </p:sp>
      <p:sp>
        <p:nvSpPr>
          <p:cNvPr id="24" name="Shape 22"/>
          <p:cNvSpPr/>
          <p:nvPr/>
        </p:nvSpPr>
        <p:spPr>
          <a:xfrm>
            <a:off x="9989820" y="3520440"/>
            <a:ext cx="91" cy="822960"/>
          </a:xfrm>
          <a:prstGeom prst="line">
            <a:avLst/>
          </a:prstGeom>
          <a:noFill/>
          <a:ln w="19050">
            <a:solidFill>
              <a:srgbClr val="5A6B78"/>
            </a:solidFill>
            <a:prstDash val="solid"/>
          </a:ln>
        </p:spPr>
        <p:txBody>
          <a:bodyPr/>
          <a:lstStyle/>
          <a:p>
            <a:endParaRPr lang="en-AU"/>
          </a:p>
        </p:txBody>
      </p:sp>
      <p:sp>
        <p:nvSpPr>
          <p:cNvPr id="25" name="Shape 23"/>
          <p:cNvSpPr/>
          <p:nvPr/>
        </p:nvSpPr>
        <p:spPr>
          <a:xfrm>
            <a:off x="9422892" y="3730752"/>
            <a:ext cx="1133856" cy="402336"/>
          </a:xfrm>
          <a:prstGeom prst="roundRect">
            <a:avLst>
              <a:gd name="adj" fmla="val 22727"/>
            </a:avLst>
          </a:prstGeom>
          <a:solidFill>
            <a:srgbClr val="FFFFFF"/>
          </a:solidFill>
          <a:ln w="15875">
            <a:solidFill>
              <a:srgbClr val="065A82"/>
            </a:solidFill>
            <a:prstDash val="solid"/>
          </a:ln>
        </p:spPr>
        <p:txBody>
          <a:bodyPr/>
          <a:lstStyle/>
          <a:p>
            <a:endParaRPr lang="en-AU"/>
          </a:p>
        </p:txBody>
      </p:sp>
      <p:sp>
        <p:nvSpPr>
          <p:cNvPr id="26" name="Text 24"/>
          <p:cNvSpPr/>
          <p:nvPr/>
        </p:nvSpPr>
        <p:spPr>
          <a:xfrm>
            <a:off x="9422892" y="3730752"/>
            <a:ext cx="1133856" cy="402336"/>
          </a:xfrm>
          <a:prstGeom prst="rect">
            <a:avLst/>
          </a:prstGeom>
          <a:noFill/>
          <a:ln/>
        </p:spPr>
        <p:txBody>
          <a:bodyPr wrap="square" lIns="0" tIns="0" rIns="0" bIns="0" rtlCol="0" anchor="ctr"/>
          <a:lstStyle/>
          <a:p>
            <a:pPr marL="0" indent="0" algn="ctr">
              <a:buNone/>
            </a:pPr>
            <a:r>
              <a:rPr lang="en-US" sz="1200" b="1" dirty="0">
                <a:solidFill>
                  <a:srgbClr val="065A82"/>
                </a:solidFill>
                <a:latin typeface="Consolas" pitchFamily="34" charset="0"/>
                <a:ea typeface="Consolas" pitchFamily="34" charset="-122"/>
                <a:cs typeface="Consolas" pitchFamily="34" charset="-120"/>
              </a:rPr>
              <a:t>"wallet"</a:t>
            </a:r>
            <a:endParaRPr lang="en-US" sz="1200" dirty="0"/>
          </a:p>
        </p:txBody>
      </p:sp>
      <p:sp>
        <p:nvSpPr>
          <p:cNvPr id="27" name="Shape 25"/>
          <p:cNvSpPr/>
          <p:nvPr/>
        </p:nvSpPr>
        <p:spPr>
          <a:xfrm>
            <a:off x="8458200" y="4343400"/>
            <a:ext cx="3063240" cy="1234440"/>
          </a:xfrm>
          <a:prstGeom prst="rect">
            <a:avLst/>
          </a:prstGeom>
          <a:solidFill>
            <a:srgbClr val="FFFFFF"/>
          </a:solidFill>
          <a:ln w="19050">
            <a:solidFill>
              <a:srgbClr val="065A82"/>
            </a:solidFill>
            <a:prstDash val="solid"/>
          </a:ln>
        </p:spPr>
        <p:txBody>
          <a:bodyPr/>
          <a:lstStyle/>
          <a:p>
            <a:endParaRPr lang="en-AU"/>
          </a:p>
        </p:txBody>
      </p:sp>
      <p:sp>
        <p:nvSpPr>
          <p:cNvPr id="28" name="Shape 26"/>
          <p:cNvSpPr/>
          <p:nvPr/>
        </p:nvSpPr>
        <p:spPr>
          <a:xfrm>
            <a:off x="8458200" y="4343400"/>
            <a:ext cx="3063240" cy="502920"/>
          </a:xfrm>
          <a:prstGeom prst="rect">
            <a:avLst/>
          </a:prstGeom>
          <a:solidFill>
            <a:srgbClr val="065A82"/>
          </a:solidFill>
          <a:ln w="19050">
            <a:solidFill>
              <a:srgbClr val="065A82"/>
            </a:solidFill>
            <a:prstDash val="solid"/>
          </a:ln>
        </p:spPr>
        <p:txBody>
          <a:bodyPr/>
          <a:lstStyle/>
          <a:p>
            <a:endParaRPr lang="en-AU"/>
          </a:p>
        </p:txBody>
      </p:sp>
      <p:sp>
        <p:nvSpPr>
          <p:cNvPr id="29" name="Text 27"/>
          <p:cNvSpPr/>
          <p:nvPr/>
        </p:nvSpPr>
        <p:spPr>
          <a:xfrm>
            <a:off x="8458200" y="4343400"/>
            <a:ext cx="30632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DigitalWallet</a:t>
            </a:r>
            <a:endParaRPr lang="en-US" sz="1400" dirty="0"/>
          </a:p>
        </p:txBody>
      </p:sp>
      <p:sp>
        <p:nvSpPr>
          <p:cNvPr id="30" name="Text 28"/>
          <p:cNvSpPr/>
          <p:nvPr/>
        </p:nvSpPr>
        <p:spPr>
          <a:xfrm>
            <a:off x="8586216" y="4910328"/>
            <a:ext cx="2807208" cy="594360"/>
          </a:xfrm>
          <a:prstGeom prst="rect">
            <a:avLst/>
          </a:prstGeom>
          <a:noFill/>
          <a:ln/>
        </p:spPr>
        <p:txBody>
          <a:bodyPr wrap="square" lIns="0" tIns="0" rIns="0" bIns="0" rtlCol="0" anchor="t"/>
          <a:lstStyle/>
          <a:p>
            <a:pPr marL="0" indent="0">
              <a:lnSpc>
                <a:spcPct val="105000"/>
              </a:lnSpc>
              <a:buNone/>
            </a:pPr>
            <a:r>
              <a:rPr lang="en-US" sz="1100" dirty="0">
                <a:solidFill>
                  <a:srgbClr val="1F2A33"/>
                </a:solidFill>
                <a:latin typeface="Consolas" pitchFamily="34" charset="0"/>
                <a:ea typeface="Consolas" pitchFamily="34" charset="-122"/>
                <a:cs typeface="Consolas" pitchFamily="34" charset="-120"/>
              </a:rPr>
              <a:t>+ walletId</a:t>
            </a:r>
            <a:endParaRPr lang="en-US" sz="1100" dirty="0"/>
          </a:p>
        </p:txBody>
      </p:sp>
      <p:sp>
        <p:nvSpPr>
          <p:cNvPr id="31" name="Shape 29"/>
          <p:cNvSpPr/>
          <p:nvPr/>
        </p:nvSpPr>
        <p:spPr>
          <a:xfrm>
            <a:off x="5957316" y="2999232"/>
            <a:ext cx="292608" cy="237744"/>
          </a:xfrm>
          <a:prstGeom prst="triangle">
            <a:avLst/>
          </a:prstGeom>
          <a:solidFill>
            <a:srgbClr val="FFFFFF"/>
          </a:solidFill>
          <a:ln w="19050">
            <a:solidFill>
              <a:srgbClr val="5A6B78"/>
            </a:solidFill>
            <a:prstDash val="solid"/>
          </a:ln>
        </p:spPr>
        <p:txBody>
          <a:bodyPr/>
          <a:lstStyle/>
          <a:p>
            <a:endParaRPr lang="en-AU"/>
          </a:p>
        </p:txBody>
      </p:sp>
      <p:sp>
        <p:nvSpPr>
          <p:cNvPr id="32" name="Text 30"/>
          <p:cNvSpPr/>
          <p:nvPr/>
        </p:nvSpPr>
        <p:spPr>
          <a:xfrm>
            <a:off x="640080" y="5989320"/>
            <a:ext cx="10972800" cy="457200"/>
          </a:xfrm>
          <a:prstGeom prst="rect">
            <a:avLst/>
          </a:prstGeom>
          <a:noFill/>
          <a:ln/>
        </p:spPr>
        <p:txBody>
          <a:bodyPr wrap="square" lIns="0" tIns="0" rIns="0" bIns="0" rtlCol="0" anchor="ctr"/>
          <a:lstStyle/>
          <a:p>
            <a:pPr marL="0" indent="0">
              <a:buNone/>
            </a:pPr>
            <a:r>
              <a:rPr lang="en-US" sz="1400" i="1" dirty="0">
                <a:solidFill>
                  <a:srgbClr val="21295C"/>
                </a:solidFill>
                <a:latin typeface="Calibri" pitchFamily="34" charset="0"/>
                <a:ea typeface="Calibri" pitchFamily="34" charset="-122"/>
                <a:cs typeface="Calibri" pitchFamily="34" charset="-120"/>
              </a:rPr>
              <a:t>Each edge label is a discriminator mapping value. allOf gives the inheritance; the pill shows the selector.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85800"/>
          </a:xfrm>
          <a:prstGeom prst="rect">
            <a:avLst/>
          </a:prstGeom>
          <a:noFill/>
          <a:ln/>
        </p:spPr>
        <p:txBody>
          <a:bodyPr wrap="square" lIns="0" tIns="0" rIns="0" bIns="0" rtlCol="0" anchor="ctr"/>
          <a:lstStyle/>
          <a:p>
            <a:pPr marL="0" indent="0">
              <a:buNone/>
            </a:pPr>
            <a:r>
              <a:rPr lang="en-US" sz="3400" b="1" dirty="0">
                <a:solidFill>
                  <a:srgbClr val="21295C"/>
                </a:solidFill>
                <a:latin typeface="Cambria" pitchFamily="34" charset="0"/>
                <a:ea typeface="Cambria" pitchFamily="34" charset="-122"/>
                <a:cs typeface="Cambria" pitchFamily="34" charset="-120"/>
              </a:rPr>
              <a:t>Use · Step 3 — one endpoint, any form</a:t>
            </a:r>
            <a:endParaRPr lang="en-US" sz="3400" dirty="0"/>
          </a:p>
        </p:txBody>
      </p:sp>
      <p:sp>
        <p:nvSpPr>
          <p:cNvPr id="3" name="Text 1"/>
          <p:cNvSpPr/>
          <p:nvPr/>
        </p:nvSpPr>
        <p:spPr>
          <a:xfrm>
            <a:off x="640080" y="1078992"/>
            <a:ext cx="10972800" cy="41148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The path references the base schema. Clients send any subtype, tagged with the discriminator value.</a:t>
            </a:r>
            <a:endParaRPr lang="en-US" sz="1500" dirty="0"/>
          </a:p>
        </p:txBody>
      </p:sp>
      <p:sp>
        <p:nvSpPr>
          <p:cNvPr id="4" name="Shape 2"/>
          <p:cNvSpPr/>
          <p:nvPr/>
        </p:nvSpPr>
        <p:spPr>
          <a:xfrm>
            <a:off x="640080" y="1691640"/>
            <a:ext cx="5486400" cy="4114800"/>
          </a:xfrm>
          <a:prstGeom prst="roundRect">
            <a:avLst>
              <a:gd name="adj" fmla="val 1111"/>
            </a:avLst>
          </a:prstGeom>
          <a:solidFill>
            <a:srgbClr val="132235"/>
          </a:solidFill>
          <a:ln/>
          <a:effectLst>
            <a:outerShdw blurRad="88900" dist="25400" dir="5400000" algn="bl" rotWithShape="0">
              <a:srgbClr val="8496A6">
                <a:alpha val="40000"/>
              </a:srgbClr>
            </a:outerShdw>
          </a:effectLst>
        </p:spPr>
        <p:txBody>
          <a:bodyPr/>
          <a:lstStyle/>
          <a:p>
            <a:endParaRPr lang="en-AU"/>
          </a:p>
        </p:txBody>
      </p:sp>
      <p:sp>
        <p:nvSpPr>
          <p:cNvPr id="5" name="Shape 3"/>
          <p:cNvSpPr/>
          <p:nvPr/>
        </p:nvSpPr>
        <p:spPr>
          <a:xfrm>
            <a:off x="640080" y="1691640"/>
            <a:ext cx="5486400" cy="310896"/>
          </a:xfrm>
          <a:prstGeom prst="roundRect">
            <a:avLst>
              <a:gd name="adj" fmla="val 14706"/>
            </a:avLst>
          </a:prstGeom>
          <a:solidFill>
            <a:srgbClr val="0C1826"/>
          </a:solidFill>
          <a:ln/>
        </p:spPr>
        <p:txBody>
          <a:bodyPr/>
          <a:lstStyle/>
          <a:p>
            <a:endParaRPr lang="en-AU"/>
          </a:p>
        </p:txBody>
      </p:sp>
      <p:sp>
        <p:nvSpPr>
          <p:cNvPr id="6" name="Shape 4"/>
          <p:cNvSpPr/>
          <p:nvPr/>
        </p:nvSpPr>
        <p:spPr>
          <a:xfrm>
            <a:off x="640080" y="1847088"/>
            <a:ext cx="5486400" cy="155448"/>
          </a:xfrm>
          <a:prstGeom prst="rect">
            <a:avLst/>
          </a:prstGeom>
          <a:solidFill>
            <a:srgbClr val="0C1826"/>
          </a:solidFill>
          <a:ln/>
        </p:spPr>
        <p:txBody>
          <a:bodyPr/>
          <a:lstStyle/>
          <a:p>
            <a:endParaRPr lang="en-AU"/>
          </a:p>
        </p:txBody>
      </p:sp>
      <p:sp>
        <p:nvSpPr>
          <p:cNvPr id="7" name="Shape 5"/>
          <p:cNvSpPr/>
          <p:nvPr/>
        </p:nvSpPr>
        <p:spPr>
          <a:xfrm>
            <a:off x="804672" y="1792224"/>
            <a:ext cx="109728" cy="109728"/>
          </a:xfrm>
          <a:prstGeom prst="ellipse">
            <a:avLst/>
          </a:prstGeom>
          <a:solidFill>
            <a:srgbClr val="E0655F"/>
          </a:solidFill>
          <a:ln/>
        </p:spPr>
        <p:txBody>
          <a:bodyPr/>
          <a:lstStyle/>
          <a:p>
            <a:endParaRPr lang="en-AU"/>
          </a:p>
        </p:txBody>
      </p:sp>
      <p:sp>
        <p:nvSpPr>
          <p:cNvPr id="8" name="Shape 6"/>
          <p:cNvSpPr/>
          <p:nvPr/>
        </p:nvSpPr>
        <p:spPr>
          <a:xfrm>
            <a:off x="1005840" y="1792224"/>
            <a:ext cx="109728" cy="109728"/>
          </a:xfrm>
          <a:prstGeom prst="ellipse">
            <a:avLst/>
          </a:prstGeom>
          <a:solidFill>
            <a:srgbClr val="E0A93F"/>
          </a:solidFill>
          <a:ln/>
        </p:spPr>
        <p:txBody>
          <a:bodyPr/>
          <a:lstStyle/>
          <a:p>
            <a:endParaRPr lang="en-AU"/>
          </a:p>
        </p:txBody>
      </p:sp>
      <p:sp>
        <p:nvSpPr>
          <p:cNvPr id="9" name="Shape 7"/>
          <p:cNvSpPr/>
          <p:nvPr/>
        </p:nvSpPr>
        <p:spPr>
          <a:xfrm>
            <a:off x="1207008" y="1792224"/>
            <a:ext cx="109728" cy="109728"/>
          </a:xfrm>
          <a:prstGeom prst="ellipse">
            <a:avLst/>
          </a:prstGeom>
          <a:solidFill>
            <a:srgbClr val="5FB85F"/>
          </a:solidFill>
          <a:ln/>
        </p:spPr>
        <p:txBody>
          <a:bodyPr/>
          <a:lstStyle/>
          <a:p>
            <a:endParaRPr lang="en-AU"/>
          </a:p>
        </p:txBody>
      </p:sp>
      <p:sp>
        <p:nvSpPr>
          <p:cNvPr id="10" name="Text 8"/>
          <p:cNvSpPr/>
          <p:nvPr/>
        </p:nvSpPr>
        <p:spPr>
          <a:xfrm>
            <a:off x="1554480" y="1691640"/>
            <a:ext cx="4389120" cy="310896"/>
          </a:xfrm>
          <a:prstGeom prst="rect">
            <a:avLst/>
          </a:prstGeom>
          <a:noFill/>
          <a:ln/>
        </p:spPr>
        <p:txBody>
          <a:bodyPr wrap="square" lIns="0" tIns="0" rIns="0" bIns="0" rtlCol="0" anchor="ctr"/>
          <a:lstStyle/>
          <a:p>
            <a:pPr marL="0" indent="0" algn="l">
              <a:buNone/>
            </a:pPr>
            <a:r>
              <a:rPr lang="en-US" sz="1050" dirty="0">
                <a:solidFill>
                  <a:srgbClr val="8B949E"/>
                </a:solidFill>
                <a:latin typeface="Consolas" pitchFamily="34" charset="0"/>
                <a:ea typeface="Consolas" pitchFamily="34" charset="-122"/>
                <a:cs typeface="Consolas" pitchFamily="34" charset="-120"/>
              </a:rPr>
              <a:t>openapi.yaml — paths</a:t>
            </a:r>
            <a:endParaRPr lang="en-US" sz="1050" dirty="0"/>
          </a:p>
        </p:txBody>
      </p:sp>
      <p:sp>
        <p:nvSpPr>
          <p:cNvPr id="11" name="Text 9"/>
          <p:cNvSpPr/>
          <p:nvPr/>
        </p:nvSpPr>
        <p:spPr>
          <a:xfrm>
            <a:off x="896112" y="2130552"/>
            <a:ext cx="5029200" cy="3547872"/>
          </a:xfrm>
          <a:prstGeom prst="rect">
            <a:avLst/>
          </a:prstGeom>
          <a:noFill/>
          <a:ln/>
        </p:spPr>
        <p:txBody>
          <a:bodyPr wrap="square" lIns="0" tIns="0" rIns="0" bIns="0" rtlCol="0" anchor="t"/>
          <a:lstStyle/>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/payments:</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post</a:t>
            </a:r>
            <a:r>
              <a:rPr lang="en-US" sz="1200" dirty="0">
                <a:solidFill>
                  <a:srgbClr val="C9D1D9"/>
                </a:solidFill>
                <a:latin typeface="Consolas" pitchFamily="34" charset="0"/>
                <a:ea typeface="Consolas" pitchFamily="34" charset="-122"/>
                <a:cs typeface="Consolas" pitchFamily="34" charset="-120"/>
              </a:rPr>
              <a: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requestBody</a:t>
            </a:r>
            <a:r>
              <a:rPr lang="en-US" sz="1200" dirty="0">
                <a:solidFill>
                  <a:srgbClr val="C9D1D9"/>
                </a:solidFill>
                <a:latin typeface="Consolas" pitchFamily="34" charset="0"/>
                <a:ea typeface="Consolas" pitchFamily="34" charset="-122"/>
                <a:cs typeface="Consolas" pitchFamily="34" charset="-120"/>
              </a:rPr>
              <a: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required</a:t>
            </a: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B5CEA8"/>
                </a:solidFill>
                <a:latin typeface="Consolas" pitchFamily="34" charset="0"/>
                <a:ea typeface="Consolas" pitchFamily="34" charset="-122"/>
                <a:cs typeface="Consolas" pitchFamily="34" charset="-120"/>
              </a:rPr>
              <a:t>true</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content</a:t>
            </a:r>
            <a:r>
              <a:rPr lang="en-US" sz="1200" dirty="0">
                <a:solidFill>
                  <a:srgbClr val="C9D1D9"/>
                </a:solidFill>
                <a:latin typeface="Consolas" pitchFamily="34" charset="0"/>
                <a:ea typeface="Consolas" pitchFamily="34" charset="-122"/>
                <a:cs typeface="Consolas" pitchFamily="34" charset="-120"/>
              </a:rPr>
              <a: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application/json</a:t>
            </a:r>
            <a:r>
              <a:rPr lang="en-US" sz="1200" dirty="0">
                <a:solidFill>
                  <a:srgbClr val="C9D1D9"/>
                </a:solidFill>
                <a:latin typeface="Consolas" pitchFamily="34" charset="0"/>
                <a:ea typeface="Consolas" pitchFamily="34" charset="-122"/>
                <a:cs typeface="Consolas" pitchFamily="34" charset="-120"/>
              </a:rPr>
              <a: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schema</a:t>
            </a:r>
            <a:r>
              <a:rPr lang="en-US" sz="1200" dirty="0">
                <a:solidFill>
                  <a:srgbClr val="C9D1D9"/>
                </a:solidFill>
                <a:latin typeface="Consolas" pitchFamily="34" charset="0"/>
                <a:ea typeface="Consolas" pitchFamily="34" charset="-122"/>
                <a:cs typeface="Consolas" pitchFamily="34" charset="-120"/>
              </a:rPr>
              <a: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C9A7EB"/>
                </a:solidFill>
                <a:latin typeface="Consolas" pitchFamily="34" charset="0"/>
                <a:ea typeface="Consolas" pitchFamily="34" charset="-122"/>
                <a:cs typeface="Consolas" pitchFamily="34" charset="-120"/>
              </a:rPr>
              <a:t>$ref</a:t>
            </a: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C9A7EB"/>
                </a:solidFill>
                <a:latin typeface="Consolas" pitchFamily="34" charset="0"/>
                <a:ea typeface="Consolas" pitchFamily="34" charset="-122"/>
                <a:cs typeface="Consolas" pitchFamily="34" charset="-120"/>
              </a:rPr>
              <a:t>'#/.../Payment'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endParaRPr lang="en-US" sz="1200" dirty="0"/>
          </a:p>
          <a:p>
            <a:pPr marL="0" indent="0">
              <a:lnSpc>
                <a:spcPct val="114000"/>
              </a:lnSpc>
              <a:buNone/>
            </a:pPr>
            <a:r>
              <a:rPr lang="en-US" sz="1200" i="1" dirty="0">
                <a:solidFill>
                  <a:srgbClr val="8B949E"/>
                </a:solidFill>
                <a:latin typeface="Consolas" pitchFamily="34" charset="0"/>
                <a:ea typeface="Consolas" pitchFamily="34" charset="-122"/>
                <a:cs typeface="Consolas" pitchFamily="34" charset="-120"/>
              </a:rPr>
              <a:t># One contract accepts every</a:t>
            </a:r>
            <a:endParaRPr lang="en-US" sz="1200" dirty="0"/>
          </a:p>
          <a:p>
            <a:pPr marL="0" indent="0">
              <a:lnSpc>
                <a:spcPct val="114000"/>
              </a:lnSpc>
              <a:buNone/>
            </a:pPr>
            <a:r>
              <a:rPr lang="en-US" sz="1200" i="1" dirty="0">
                <a:solidFill>
                  <a:srgbClr val="8B949E"/>
                </a:solidFill>
                <a:latin typeface="Consolas" pitchFamily="34" charset="0"/>
                <a:ea typeface="Consolas" pitchFamily="34" charset="-122"/>
                <a:cs typeface="Consolas" pitchFamily="34" charset="-120"/>
              </a:rPr>
              <a:t># payment form.</a:t>
            </a:r>
            <a:endParaRPr lang="en-US" sz="1200" dirty="0"/>
          </a:p>
        </p:txBody>
      </p:sp>
      <p:sp>
        <p:nvSpPr>
          <p:cNvPr id="12" name="Shape 10"/>
          <p:cNvSpPr/>
          <p:nvPr/>
        </p:nvSpPr>
        <p:spPr>
          <a:xfrm>
            <a:off x="6355080" y="1691640"/>
            <a:ext cx="5193792" cy="4114800"/>
          </a:xfrm>
          <a:prstGeom prst="roundRect">
            <a:avLst>
              <a:gd name="adj" fmla="val 1111"/>
            </a:avLst>
          </a:prstGeom>
          <a:solidFill>
            <a:srgbClr val="132235"/>
          </a:solidFill>
          <a:ln/>
          <a:effectLst>
            <a:outerShdw blurRad="88900" dist="25400" dir="5400000" algn="bl" rotWithShape="0">
              <a:srgbClr val="8496A6">
                <a:alpha val="40000"/>
              </a:srgbClr>
            </a:outerShdw>
          </a:effectLst>
        </p:spPr>
        <p:txBody>
          <a:bodyPr/>
          <a:lstStyle/>
          <a:p>
            <a:endParaRPr lang="en-AU"/>
          </a:p>
        </p:txBody>
      </p:sp>
      <p:sp>
        <p:nvSpPr>
          <p:cNvPr id="13" name="Shape 11"/>
          <p:cNvSpPr/>
          <p:nvPr/>
        </p:nvSpPr>
        <p:spPr>
          <a:xfrm>
            <a:off x="6355080" y="1691640"/>
            <a:ext cx="5193792" cy="310896"/>
          </a:xfrm>
          <a:prstGeom prst="roundRect">
            <a:avLst>
              <a:gd name="adj" fmla="val 14706"/>
            </a:avLst>
          </a:prstGeom>
          <a:solidFill>
            <a:srgbClr val="0C1826"/>
          </a:solidFill>
          <a:ln/>
        </p:spPr>
        <p:txBody>
          <a:bodyPr/>
          <a:lstStyle/>
          <a:p>
            <a:endParaRPr lang="en-AU"/>
          </a:p>
        </p:txBody>
      </p:sp>
      <p:sp>
        <p:nvSpPr>
          <p:cNvPr id="14" name="Shape 12"/>
          <p:cNvSpPr/>
          <p:nvPr/>
        </p:nvSpPr>
        <p:spPr>
          <a:xfrm>
            <a:off x="6355080" y="1847088"/>
            <a:ext cx="5193792" cy="155448"/>
          </a:xfrm>
          <a:prstGeom prst="rect">
            <a:avLst/>
          </a:prstGeom>
          <a:solidFill>
            <a:srgbClr val="0C1826"/>
          </a:solidFill>
          <a:ln/>
        </p:spPr>
        <p:txBody>
          <a:bodyPr/>
          <a:lstStyle/>
          <a:p>
            <a:endParaRPr lang="en-AU"/>
          </a:p>
        </p:txBody>
      </p:sp>
      <p:sp>
        <p:nvSpPr>
          <p:cNvPr id="15" name="Shape 13"/>
          <p:cNvSpPr/>
          <p:nvPr/>
        </p:nvSpPr>
        <p:spPr>
          <a:xfrm>
            <a:off x="6519672" y="1792224"/>
            <a:ext cx="109728" cy="109728"/>
          </a:xfrm>
          <a:prstGeom prst="ellipse">
            <a:avLst/>
          </a:prstGeom>
          <a:solidFill>
            <a:srgbClr val="E0655F"/>
          </a:solidFill>
          <a:ln/>
        </p:spPr>
        <p:txBody>
          <a:bodyPr/>
          <a:lstStyle/>
          <a:p>
            <a:endParaRPr lang="en-AU"/>
          </a:p>
        </p:txBody>
      </p:sp>
      <p:sp>
        <p:nvSpPr>
          <p:cNvPr id="16" name="Shape 14"/>
          <p:cNvSpPr/>
          <p:nvPr/>
        </p:nvSpPr>
        <p:spPr>
          <a:xfrm>
            <a:off x="6720840" y="1792224"/>
            <a:ext cx="109728" cy="109728"/>
          </a:xfrm>
          <a:prstGeom prst="ellipse">
            <a:avLst/>
          </a:prstGeom>
          <a:solidFill>
            <a:srgbClr val="E0A93F"/>
          </a:solidFill>
          <a:ln/>
        </p:spPr>
        <p:txBody>
          <a:bodyPr/>
          <a:lstStyle/>
          <a:p>
            <a:endParaRPr lang="en-AU"/>
          </a:p>
        </p:txBody>
      </p:sp>
      <p:sp>
        <p:nvSpPr>
          <p:cNvPr id="17" name="Shape 15"/>
          <p:cNvSpPr/>
          <p:nvPr/>
        </p:nvSpPr>
        <p:spPr>
          <a:xfrm>
            <a:off x="6922008" y="1792224"/>
            <a:ext cx="109728" cy="109728"/>
          </a:xfrm>
          <a:prstGeom prst="ellipse">
            <a:avLst/>
          </a:prstGeom>
          <a:solidFill>
            <a:srgbClr val="5FB85F"/>
          </a:solidFill>
          <a:ln/>
        </p:spPr>
        <p:txBody>
          <a:bodyPr/>
          <a:lstStyle/>
          <a:p>
            <a:endParaRPr lang="en-AU"/>
          </a:p>
        </p:txBody>
      </p:sp>
      <p:sp>
        <p:nvSpPr>
          <p:cNvPr id="18" name="Text 16"/>
          <p:cNvSpPr/>
          <p:nvPr/>
        </p:nvSpPr>
        <p:spPr>
          <a:xfrm>
            <a:off x="7269480" y="1691640"/>
            <a:ext cx="4096512" cy="310896"/>
          </a:xfrm>
          <a:prstGeom prst="rect">
            <a:avLst/>
          </a:prstGeom>
          <a:noFill/>
          <a:ln/>
        </p:spPr>
        <p:txBody>
          <a:bodyPr wrap="square" lIns="0" tIns="0" rIns="0" bIns="0" rtlCol="0" anchor="ctr"/>
          <a:lstStyle/>
          <a:p>
            <a:pPr marL="0" indent="0" algn="l">
              <a:buNone/>
            </a:pPr>
            <a:r>
              <a:rPr lang="en-US" sz="1050" dirty="0">
                <a:solidFill>
                  <a:srgbClr val="8B949E"/>
                </a:solidFill>
                <a:latin typeface="Consolas" pitchFamily="34" charset="0"/>
                <a:ea typeface="Consolas" pitchFamily="34" charset="-122"/>
                <a:cs typeface="Consolas" pitchFamily="34" charset="-120"/>
              </a:rPr>
              <a:t>request.json — what a client sends</a:t>
            </a:r>
            <a:endParaRPr lang="en-US" sz="1050" dirty="0"/>
          </a:p>
        </p:txBody>
      </p:sp>
      <p:sp>
        <p:nvSpPr>
          <p:cNvPr id="19" name="Text 17"/>
          <p:cNvSpPr/>
          <p:nvPr/>
        </p:nvSpPr>
        <p:spPr>
          <a:xfrm>
            <a:off x="6611112" y="2130552"/>
            <a:ext cx="4736592" cy="3547872"/>
          </a:xfrm>
          <a:prstGeom prst="rect">
            <a:avLst/>
          </a:prstGeom>
          <a:noFill/>
          <a:ln/>
        </p:spPr>
        <p:txBody>
          <a:bodyPr wrap="square" lIns="0" tIns="0" rIns="0" bIns="0" rtlCol="0" anchor="t"/>
          <a:lstStyle/>
          <a:p>
            <a:pPr marL="0" indent="0">
              <a:lnSpc>
                <a:spcPct val="114000"/>
              </a:lnSpc>
              <a:buNone/>
            </a:pPr>
            <a:r>
              <a:rPr lang="en-US" sz="1200" dirty="0">
                <a:solidFill>
                  <a:srgbClr val="F6AE2D"/>
                </a:solidFill>
                <a:latin typeface="Consolas" pitchFamily="34" charset="0"/>
                <a:ea typeface="Consolas" pitchFamily="34" charset="-122"/>
                <a:cs typeface="Consolas" pitchFamily="34" charset="-120"/>
              </a:rPr>
              <a:t>POST /payments</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"paymentType"</a:t>
            </a: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F6AE2D"/>
                </a:solidFill>
                <a:latin typeface="Consolas" pitchFamily="34" charset="0"/>
                <a:ea typeface="Consolas" pitchFamily="34" charset="-122"/>
                <a:cs typeface="Consolas" pitchFamily="34" charset="-120"/>
              </a:rPr>
              <a:t>"card"</a:t>
            </a:r>
            <a:r>
              <a:rPr lang="en-US" sz="1200" dirty="0">
                <a:solidFill>
                  <a:srgbClr val="C9D1D9"/>
                </a:solidFill>
                <a:latin typeface="Consolas" pitchFamily="34" charset="0"/>
                <a:ea typeface="Consolas" pitchFamily="34" charset="-122"/>
                <a:cs typeface="Consolas" pitchFamily="34" charset="-120"/>
              </a:rPr>
              <a: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"amount"</a:t>
            </a: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B5CEA8"/>
                </a:solidFill>
                <a:latin typeface="Consolas" pitchFamily="34" charset="0"/>
                <a:ea typeface="Consolas" pitchFamily="34" charset="-122"/>
                <a:cs typeface="Consolas" pitchFamily="34" charset="-120"/>
              </a:rPr>
              <a:t>49.90</a:t>
            </a:r>
            <a:r>
              <a:rPr lang="en-US" sz="1200" dirty="0">
                <a:solidFill>
                  <a:srgbClr val="C9D1D9"/>
                </a:solidFill>
                <a:latin typeface="Consolas" pitchFamily="34" charset="0"/>
                <a:ea typeface="Consolas" pitchFamily="34" charset="-122"/>
                <a:cs typeface="Consolas" pitchFamily="34" charset="-120"/>
              </a:rPr>
              <a: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"cardNumber"</a:t>
            </a: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CE9178"/>
                </a:solidFill>
                <a:latin typeface="Consolas" pitchFamily="34" charset="0"/>
                <a:ea typeface="Consolas" pitchFamily="34" charset="-122"/>
                <a:cs typeface="Consolas" pitchFamily="34" charset="-120"/>
              </a:rPr>
              <a:t>"4111 1111 1111 1111"</a:t>
            </a:r>
            <a:r>
              <a:rPr lang="en-US" sz="1200" dirty="0">
                <a:solidFill>
                  <a:srgbClr val="C9D1D9"/>
                </a:solidFill>
                <a:latin typeface="Consolas" pitchFamily="34" charset="0"/>
                <a:ea typeface="Consolas" pitchFamily="34" charset="-122"/>
                <a:cs typeface="Consolas" pitchFamily="34" charset="-120"/>
              </a:rPr>
              <a: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"expiry"</a:t>
            </a: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CE9178"/>
                </a:solidFill>
                <a:latin typeface="Consolas" pitchFamily="34" charset="0"/>
                <a:ea typeface="Consolas" pitchFamily="34" charset="-122"/>
                <a:cs typeface="Consolas" pitchFamily="34" charset="-120"/>
              </a:rPr>
              <a:t>"12/27"</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endParaRPr lang="en-US" sz="1200" dirty="0"/>
          </a:p>
          <a:p>
            <a:pPr marL="0" indent="0">
              <a:lnSpc>
                <a:spcPct val="114000"/>
              </a:lnSpc>
              <a:buNone/>
            </a:pPr>
            <a:r>
              <a:rPr lang="en-US" sz="1200" i="1" dirty="0">
                <a:solidFill>
                  <a:srgbClr val="8B949E"/>
                </a:solidFill>
                <a:latin typeface="Consolas" pitchFamily="34" charset="0"/>
                <a:ea typeface="Consolas" pitchFamily="34" charset="-122"/>
                <a:cs typeface="Consolas" pitchFamily="34" charset="-120"/>
              </a:rPr>
              <a:t># paymentType:"card" tells the</a:t>
            </a:r>
            <a:endParaRPr lang="en-US" sz="1200" dirty="0"/>
          </a:p>
          <a:p>
            <a:pPr marL="0" indent="0">
              <a:lnSpc>
                <a:spcPct val="114000"/>
              </a:lnSpc>
              <a:buNone/>
            </a:pPr>
            <a:r>
              <a:rPr lang="en-US" sz="1200" i="1" dirty="0">
                <a:solidFill>
                  <a:srgbClr val="8B949E"/>
                </a:solidFill>
                <a:latin typeface="Consolas" pitchFamily="34" charset="0"/>
                <a:ea typeface="Consolas" pitchFamily="34" charset="-122"/>
                <a:cs typeface="Consolas" pitchFamily="34" charset="-120"/>
              </a:rPr>
              <a:t># server which schema to apply.</a:t>
            </a:r>
            <a:endParaRPr lang="en-US" sz="1200" dirty="0"/>
          </a:p>
        </p:txBody>
      </p:sp>
      <p:sp>
        <p:nvSpPr>
          <p:cNvPr id="20" name="Text 18"/>
          <p:cNvSpPr/>
          <p:nvPr/>
        </p:nvSpPr>
        <p:spPr>
          <a:xfrm>
            <a:off x="640080" y="5897880"/>
            <a:ext cx="10972800" cy="457200"/>
          </a:xfrm>
          <a:prstGeom prst="rect">
            <a:avLst/>
          </a:prstGeom>
          <a:noFill/>
          <a:ln/>
        </p:spPr>
        <p:txBody>
          <a:bodyPr wrap="square" lIns="0" tIns="0" rIns="0" bIns="0" rtlCol="0" anchor="ctr"/>
          <a:lstStyle/>
          <a:p>
            <a:pPr marL="0" indent="0">
              <a:buNone/>
            </a:pPr>
            <a:r>
              <a:rPr lang="en-US" sz="1500" dirty="0">
                <a:solidFill>
                  <a:srgbClr val="1F2A33"/>
                </a:solidFill>
                <a:latin typeface="Calibri" pitchFamily="34" charset="0"/>
                <a:ea typeface="Calibri" pitchFamily="34" charset="-122"/>
                <a:cs typeface="Calibri" pitchFamily="34" charset="-120"/>
              </a:rPr>
              <a:t>The client doesn’t call a different endpoint per type — </a:t>
            </a:r>
            <a:r>
              <a:rPr lang="en-US" sz="1500" b="1" dirty="0">
                <a:solidFill>
                  <a:srgbClr val="065A82"/>
                </a:solidFill>
                <a:latin typeface="Calibri" pitchFamily="34" charset="0"/>
                <a:ea typeface="Calibri" pitchFamily="34" charset="-122"/>
                <a:cs typeface="Calibri" pitchFamily="34" charset="-120"/>
              </a:rPr>
              <a:t>it sets one field.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85800"/>
          </a:xfrm>
          <a:prstGeom prst="rect">
            <a:avLst/>
          </a:prstGeom>
          <a:noFill/>
          <a:ln/>
        </p:spPr>
        <p:txBody>
          <a:bodyPr wrap="square" lIns="0" tIns="0" rIns="0" bIns="0" rtlCol="0" anchor="ctr"/>
          <a:lstStyle/>
          <a:p>
            <a:pPr marL="0" indent="0">
              <a:buNone/>
            </a:pPr>
            <a:r>
              <a:rPr lang="en-US" sz="3400" b="1" dirty="0">
                <a:solidFill>
                  <a:srgbClr val="21295C"/>
                </a:solidFill>
                <a:latin typeface="Cambria" pitchFamily="34" charset="0"/>
                <a:ea typeface="Cambria" pitchFamily="34" charset="-122"/>
                <a:cs typeface="Cambria" pitchFamily="34" charset="-120"/>
              </a:rPr>
              <a:t>How the server uses it at runtime</a:t>
            </a:r>
            <a:endParaRPr lang="en-US" sz="3400" dirty="0"/>
          </a:p>
        </p:txBody>
      </p:sp>
      <p:sp>
        <p:nvSpPr>
          <p:cNvPr id="3" name="Text 1"/>
          <p:cNvSpPr/>
          <p:nvPr/>
        </p:nvSpPr>
        <p:spPr>
          <a:xfrm>
            <a:off x="640080" y="1078992"/>
            <a:ext cx="10972800" cy="41148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The discriminator turns an untyped JSON body into a validated, typed object.</a:t>
            </a:r>
            <a:endParaRPr lang="en-US" sz="1500" dirty="0"/>
          </a:p>
        </p:txBody>
      </p:sp>
      <p:sp>
        <p:nvSpPr>
          <p:cNvPr id="4" name="Shape 2"/>
          <p:cNvSpPr/>
          <p:nvPr/>
        </p:nvSpPr>
        <p:spPr>
          <a:xfrm>
            <a:off x="548640" y="2651760"/>
            <a:ext cx="2395728" cy="1783080"/>
          </a:xfrm>
          <a:prstGeom prst="roundRect">
            <a:avLst>
              <a:gd name="adj" fmla="val 4615"/>
            </a:avLst>
          </a:prstGeom>
          <a:solidFill>
            <a:srgbClr val="065A82"/>
          </a:solidFill>
          <a:ln/>
          <a:effectLst>
            <a:outerShdw blurRad="76200" dist="25400" dir="5400000" algn="bl" rotWithShape="0">
              <a:srgbClr val="9FB3C8">
                <a:alpha val="30000"/>
              </a:srgbClr>
            </a:outerShdw>
          </a:effectLst>
        </p:spPr>
        <p:txBody>
          <a:bodyPr/>
          <a:lstStyle/>
          <a:p>
            <a:endParaRPr lang="en-AU"/>
          </a:p>
        </p:txBody>
      </p:sp>
      <p:sp>
        <p:nvSpPr>
          <p:cNvPr id="5" name="Text 3"/>
          <p:cNvSpPr/>
          <p:nvPr/>
        </p:nvSpPr>
        <p:spPr>
          <a:xfrm>
            <a:off x="694944" y="2761488"/>
            <a:ext cx="457200" cy="365760"/>
          </a:xfrm>
          <a:prstGeom prst="rect">
            <a:avLst/>
          </a:prstGeom>
          <a:noFill/>
          <a:ln/>
        </p:spPr>
        <p:txBody>
          <a:bodyPr wrap="square" lIns="0" tIns="0" rIns="0" bIns="0" rtlCol="0" anchor="ctr"/>
          <a:lstStyle/>
          <a:p>
            <a:pPr marL="0" indent="0">
              <a:buNone/>
            </a:pPr>
            <a:r>
              <a:rPr lang="en-US" sz="1600" b="1" dirty="0">
                <a:solidFill>
                  <a:srgbClr val="CADCFC"/>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731520" y="3218688"/>
            <a:ext cx="2029968"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JSON body</a:t>
            </a:r>
            <a:endParaRPr lang="en-US" sz="1700" dirty="0"/>
          </a:p>
        </p:txBody>
      </p:sp>
      <p:sp>
        <p:nvSpPr>
          <p:cNvPr id="7" name="Text 5"/>
          <p:cNvSpPr/>
          <p:nvPr/>
        </p:nvSpPr>
        <p:spPr>
          <a:xfrm>
            <a:off x="713232" y="3749040"/>
            <a:ext cx="2066544" cy="548640"/>
          </a:xfrm>
          <a:prstGeom prst="rect">
            <a:avLst/>
          </a:prstGeom>
          <a:noFill/>
          <a:ln/>
        </p:spPr>
        <p:txBody>
          <a:bodyPr wrap="square" lIns="0" tIns="0" rIns="0" bIns="0" rtlCol="0" anchor="t"/>
          <a:lstStyle/>
          <a:p>
            <a:pPr marL="0" indent="0" algn="ctr">
              <a:lnSpc>
                <a:spcPct val="105000"/>
              </a:lnSpc>
              <a:buNone/>
            </a:pPr>
            <a:r>
              <a:rPr lang="en-US" sz="1150" dirty="0">
                <a:solidFill>
                  <a:srgbClr val="E6EDF3"/>
                </a:solidFill>
                <a:latin typeface="Consolas" pitchFamily="34" charset="0"/>
                <a:ea typeface="Consolas" pitchFamily="34" charset="-122"/>
                <a:cs typeface="Consolas" pitchFamily="34" charset="-120"/>
              </a:rPr>
              <a:t>paymentType: "card"</a:t>
            </a:r>
            <a:endParaRPr lang="en-US" sz="1150" dirty="0"/>
          </a:p>
        </p:txBody>
      </p:sp>
      <p:sp>
        <p:nvSpPr>
          <p:cNvPr id="8" name="Shape 6"/>
          <p:cNvSpPr/>
          <p:nvPr/>
        </p:nvSpPr>
        <p:spPr>
          <a:xfrm>
            <a:off x="3008376" y="3396996"/>
            <a:ext cx="374904" cy="292608"/>
          </a:xfrm>
          <a:prstGeom prst="rightArrow">
            <a:avLst/>
          </a:prstGeom>
          <a:solidFill>
            <a:srgbClr val="5A6B78"/>
          </a:solidFill>
          <a:ln/>
        </p:spPr>
        <p:txBody>
          <a:bodyPr/>
          <a:lstStyle/>
          <a:p>
            <a:endParaRPr lang="en-AU"/>
          </a:p>
        </p:txBody>
      </p:sp>
      <p:sp>
        <p:nvSpPr>
          <p:cNvPr id="9" name="Shape 7"/>
          <p:cNvSpPr/>
          <p:nvPr/>
        </p:nvSpPr>
        <p:spPr>
          <a:xfrm>
            <a:off x="3447288" y="2651760"/>
            <a:ext cx="2395728" cy="1783080"/>
          </a:xfrm>
          <a:prstGeom prst="roundRect">
            <a:avLst>
              <a:gd name="adj" fmla="val 4615"/>
            </a:avLst>
          </a:prstGeom>
          <a:solidFill>
            <a:srgbClr val="1C7293"/>
          </a:solidFill>
          <a:ln/>
          <a:effectLst>
            <a:outerShdw blurRad="76200" dist="25400" dir="5400000" algn="bl" rotWithShape="0">
              <a:srgbClr val="9FB3C8">
                <a:alpha val="30000"/>
              </a:srgbClr>
            </a:outerShdw>
          </a:effectLst>
        </p:spPr>
        <p:txBody>
          <a:bodyPr/>
          <a:lstStyle/>
          <a:p>
            <a:endParaRPr lang="en-AU"/>
          </a:p>
        </p:txBody>
      </p:sp>
      <p:sp>
        <p:nvSpPr>
          <p:cNvPr id="10" name="Text 8"/>
          <p:cNvSpPr/>
          <p:nvPr/>
        </p:nvSpPr>
        <p:spPr>
          <a:xfrm>
            <a:off x="3593592" y="2761488"/>
            <a:ext cx="457200" cy="365760"/>
          </a:xfrm>
          <a:prstGeom prst="rect">
            <a:avLst/>
          </a:prstGeom>
          <a:noFill/>
          <a:ln/>
        </p:spPr>
        <p:txBody>
          <a:bodyPr wrap="square" lIns="0" tIns="0" rIns="0" bIns="0" rtlCol="0" anchor="ctr"/>
          <a:lstStyle/>
          <a:p>
            <a:pPr marL="0" indent="0">
              <a:buNone/>
            </a:pPr>
            <a:r>
              <a:rPr lang="en-US" sz="1600" b="1" dirty="0">
                <a:solidFill>
                  <a:srgbClr val="CADCFC"/>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3630168" y="3218688"/>
            <a:ext cx="2029968"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Read discriminator</a:t>
            </a:r>
            <a:endParaRPr lang="en-US" sz="1700" dirty="0"/>
          </a:p>
        </p:txBody>
      </p:sp>
      <p:sp>
        <p:nvSpPr>
          <p:cNvPr id="12" name="Text 10"/>
          <p:cNvSpPr/>
          <p:nvPr/>
        </p:nvSpPr>
        <p:spPr>
          <a:xfrm>
            <a:off x="3611880" y="3749040"/>
            <a:ext cx="2066544" cy="548640"/>
          </a:xfrm>
          <a:prstGeom prst="rect">
            <a:avLst/>
          </a:prstGeom>
          <a:noFill/>
          <a:ln/>
        </p:spPr>
        <p:txBody>
          <a:bodyPr wrap="square" lIns="0" tIns="0" rIns="0" bIns="0" rtlCol="0" anchor="t"/>
          <a:lstStyle/>
          <a:p>
            <a:pPr marL="0" indent="0" algn="ctr">
              <a:lnSpc>
                <a:spcPct val="105000"/>
              </a:lnSpc>
              <a:buNone/>
            </a:pPr>
            <a:r>
              <a:rPr lang="en-US" sz="1150" dirty="0">
                <a:solidFill>
                  <a:srgbClr val="E6EDF3"/>
                </a:solidFill>
                <a:latin typeface="Consolas" pitchFamily="34" charset="0"/>
                <a:ea typeface="Consolas" pitchFamily="34" charset="-122"/>
                <a:cs typeface="Consolas" pitchFamily="34" charset="-120"/>
              </a:rPr>
              <a:t>selector = paymentType</a:t>
            </a:r>
            <a:endParaRPr lang="en-US" sz="1150" dirty="0"/>
          </a:p>
        </p:txBody>
      </p:sp>
      <p:sp>
        <p:nvSpPr>
          <p:cNvPr id="13" name="Shape 11"/>
          <p:cNvSpPr/>
          <p:nvPr/>
        </p:nvSpPr>
        <p:spPr>
          <a:xfrm>
            <a:off x="5907024" y="3396996"/>
            <a:ext cx="374904" cy="292608"/>
          </a:xfrm>
          <a:prstGeom prst="rightArrow">
            <a:avLst/>
          </a:prstGeom>
          <a:solidFill>
            <a:srgbClr val="5A6B78"/>
          </a:solidFill>
          <a:ln/>
        </p:spPr>
        <p:txBody>
          <a:bodyPr/>
          <a:lstStyle/>
          <a:p>
            <a:endParaRPr lang="en-AU"/>
          </a:p>
        </p:txBody>
      </p:sp>
      <p:sp>
        <p:nvSpPr>
          <p:cNvPr id="14" name="Shape 12"/>
          <p:cNvSpPr/>
          <p:nvPr/>
        </p:nvSpPr>
        <p:spPr>
          <a:xfrm>
            <a:off x="6345936" y="2651760"/>
            <a:ext cx="2395728" cy="1783080"/>
          </a:xfrm>
          <a:prstGeom prst="roundRect">
            <a:avLst>
              <a:gd name="adj" fmla="val 4615"/>
            </a:avLst>
          </a:prstGeom>
          <a:solidFill>
            <a:srgbClr val="21295C"/>
          </a:solidFill>
          <a:ln/>
          <a:effectLst>
            <a:outerShdw blurRad="76200" dist="25400" dir="5400000" algn="bl" rotWithShape="0">
              <a:srgbClr val="9FB3C8">
                <a:alpha val="30000"/>
              </a:srgbClr>
            </a:outerShdw>
          </a:effectLst>
        </p:spPr>
        <p:txBody>
          <a:bodyPr/>
          <a:lstStyle/>
          <a:p>
            <a:endParaRPr lang="en-AU"/>
          </a:p>
        </p:txBody>
      </p:sp>
      <p:sp>
        <p:nvSpPr>
          <p:cNvPr id="15" name="Text 13"/>
          <p:cNvSpPr/>
          <p:nvPr/>
        </p:nvSpPr>
        <p:spPr>
          <a:xfrm>
            <a:off x="6492240" y="2761488"/>
            <a:ext cx="457200" cy="365760"/>
          </a:xfrm>
          <a:prstGeom prst="rect">
            <a:avLst/>
          </a:prstGeom>
          <a:noFill/>
          <a:ln/>
        </p:spPr>
        <p:txBody>
          <a:bodyPr wrap="square" lIns="0" tIns="0" rIns="0" bIns="0" rtlCol="0" anchor="ctr"/>
          <a:lstStyle/>
          <a:p>
            <a:pPr marL="0" indent="0">
              <a:buNone/>
            </a:pPr>
            <a:r>
              <a:rPr lang="en-US" sz="1600" b="1" dirty="0">
                <a:solidFill>
                  <a:srgbClr val="CADCFC"/>
                </a:solidFill>
                <a:latin typeface="Cambria" pitchFamily="34" charset="0"/>
                <a:ea typeface="Cambria" pitchFamily="34" charset="-122"/>
                <a:cs typeface="Cambria" pitchFamily="34" charset="-120"/>
              </a:rPr>
              <a:t>3</a:t>
            </a:r>
            <a:endParaRPr lang="en-US" sz="1600" dirty="0"/>
          </a:p>
        </p:txBody>
      </p:sp>
      <p:sp>
        <p:nvSpPr>
          <p:cNvPr id="16" name="Text 14"/>
          <p:cNvSpPr/>
          <p:nvPr/>
        </p:nvSpPr>
        <p:spPr>
          <a:xfrm>
            <a:off x="6528816" y="3218688"/>
            <a:ext cx="2029968"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Apply mapping</a:t>
            </a:r>
            <a:endParaRPr lang="en-US" sz="1700" dirty="0"/>
          </a:p>
        </p:txBody>
      </p:sp>
      <p:sp>
        <p:nvSpPr>
          <p:cNvPr id="17" name="Text 15"/>
          <p:cNvSpPr/>
          <p:nvPr/>
        </p:nvSpPr>
        <p:spPr>
          <a:xfrm>
            <a:off x="6510528" y="3749040"/>
            <a:ext cx="2066544" cy="548640"/>
          </a:xfrm>
          <a:prstGeom prst="rect">
            <a:avLst/>
          </a:prstGeom>
          <a:noFill/>
          <a:ln/>
        </p:spPr>
        <p:txBody>
          <a:bodyPr wrap="square" lIns="0" tIns="0" rIns="0" bIns="0" rtlCol="0" anchor="t"/>
          <a:lstStyle/>
          <a:p>
            <a:pPr marL="0" indent="0" algn="ctr">
              <a:lnSpc>
                <a:spcPct val="105000"/>
              </a:lnSpc>
              <a:buNone/>
            </a:pPr>
            <a:r>
              <a:rPr lang="en-US" sz="1150" dirty="0">
                <a:solidFill>
                  <a:srgbClr val="E6EDF3"/>
                </a:solidFill>
                <a:latin typeface="Consolas" pitchFamily="34" charset="0"/>
                <a:ea typeface="Consolas" pitchFamily="34" charset="-122"/>
                <a:cs typeface="Consolas" pitchFamily="34" charset="-120"/>
              </a:rPr>
              <a:t>"card" → CardPayment</a:t>
            </a:r>
            <a:endParaRPr lang="en-US" sz="1150" dirty="0"/>
          </a:p>
        </p:txBody>
      </p:sp>
      <p:sp>
        <p:nvSpPr>
          <p:cNvPr id="18" name="Shape 16"/>
          <p:cNvSpPr/>
          <p:nvPr/>
        </p:nvSpPr>
        <p:spPr>
          <a:xfrm>
            <a:off x="8805672" y="3396996"/>
            <a:ext cx="374904" cy="292608"/>
          </a:xfrm>
          <a:prstGeom prst="rightArrow">
            <a:avLst/>
          </a:prstGeom>
          <a:solidFill>
            <a:srgbClr val="5A6B78"/>
          </a:solidFill>
          <a:ln/>
        </p:spPr>
        <p:txBody>
          <a:bodyPr/>
          <a:lstStyle/>
          <a:p>
            <a:endParaRPr lang="en-AU"/>
          </a:p>
        </p:txBody>
      </p:sp>
      <p:sp>
        <p:nvSpPr>
          <p:cNvPr id="19" name="Shape 17"/>
          <p:cNvSpPr/>
          <p:nvPr/>
        </p:nvSpPr>
        <p:spPr>
          <a:xfrm>
            <a:off x="9244584" y="2651760"/>
            <a:ext cx="2395728" cy="1783080"/>
          </a:xfrm>
          <a:prstGeom prst="roundRect">
            <a:avLst>
              <a:gd name="adj" fmla="val 4615"/>
            </a:avLst>
          </a:prstGeom>
          <a:solidFill>
            <a:srgbClr val="F6AE2D"/>
          </a:solidFill>
          <a:ln/>
          <a:effectLst>
            <a:outerShdw blurRad="76200" dist="25400" dir="5400000" algn="bl" rotWithShape="0">
              <a:srgbClr val="9FB3C8">
                <a:alpha val="30000"/>
              </a:srgbClr>
            </a:outerShdw>
          </a:effectLst>
        </p:spPr>
        <p:txBody>
          <a:bodyPr/>
          <a:lstStyle/>
          <a:p>
            <a:endParaRPr lang="en-AU"/>
          </a:p>
        </p:txBody>
      </p:sp>
      <p:sp>
        <p:nvSpPr>
          <p:cNvPr id="20" name="Text 18"/>
          <p:cNvSpPr/>
          <p:nvPr/>
        </p:nvSpPr>
        <p:spPr>
          <a:xfrm>
            <a:off x="9390888" y="2761488"/>
            <a:ext cx="457200" cy="365760"/>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4</a:t>
            </a:r>
            <a:endParaRPr lang="en-US" sz="1600" dirty="0"/>
          </a:p>
        </p:txBody>
      </p:sp>
      <p:sp>
        <p:nvSpPr>
          <p:cNvPr id="21" name="Text 19"/>
          <p:cNvSpPr/>
          <p:nvPr/>
        </p:nvSpPr>
        <p:spPr>
          <a:xfrm>
            <a:off x="9427464" y="3218688"/>
            <a:ext cx="2029968" cy="502920"/>
          </a:xfrm>
          <a:prstGeom prst="rect">
            <a:avLst/>
          </a:prstGeom>
          <a:noFill/>
          <a:ln/>
        </p:spPr>
        <p:txBody>
          <a:bodyPr wrap="square" lIns="0" tIns="0" rIns="0" bIns="0" rtlCol="0" anchor="ctr"/>
          <a:lstStyle/>
          <a:p>
            <a:pPr marL="0" indent="0" algn="ctr">
              <a:buNone/>
            </a:pPr>
            <a:r>
              <a:rPr lang="en-US" sz="1700" b="1" dirty="0">
                <a:solidFill>
                  <a:srgbClr val="21295C"/>
                </a:solidFill>
                <a:latin typeface="Cambria" pitchFamily="34" charset="0"/>
                <a:ea typeface="Cambria" pitchFamily="34" charset="-122"/>
                <a:cs typeface="Cambria" pitchFamily="34" charset="-120"/>
              </a:rPr>
              <a:t>Validate &amp; bind</a:t>
            </a:r>
            <a:endParaRPr lang="en-US" sz="1700" dirty="0"/>
          </a:p>
        </p:txBody>
      </p:sp>
      <p:sp>
        <p:nvSpPr>
          <p:cNvPr id="22" name="Text 20"/>
          <p:cNvSpPr/>
          <p:nvPr/>
        </p:nvSpPr>
        <p:spPr>
          <a:xfrm>
            <a:off x="9409176" y="3749040"/>
            <a:ext cx="2066544" cy="548640"/>
          </a:xfrm>
          <a:prstGeom prst="rect">
            <a:avLst/>
          </a:prstGeom>
          <a:noFill/>
          <a:ln/>
        </p:spPr>
        <p:txBody>
          <a:bodyPr wrap="square" lIns="0" tIns="0" rIns="0" bIns="0" rtlCol="0" anchor="t"/>
          <a:lstStyle/>
          <a:p>
            <a:pPr marL="0" indent="0" algn="ctr">
              <a:lnSpc>
                <a:spcPct val="105000"/>
              </a:lnSpc>
              <a:buNone/>
            </a:pPr>
            <a:r>
              <a:rPr lang="en-US" sz="1150" dirty="0">
                <a:solidFill>
                  <a:srgbClr val="5A3D00"/>
                </a:solidFill>
                <a:latin typeface="Consolas" pitchFamily="34" charset="0"/>
                <a:ea typeface="Consolas" pitchFamily="34" charset="-122"/>
                <a:cs typeface="Consolas" pitchFamily="34" charset="-120"/>
              </a:rPr>
              <a:t>→ CardPayment object</a:t>
            </a:r>
            <a:endParaRPr lang="en-US" sz="1150" dirty="0"/>
          </a:p>
        </p:txBody>
      </p:sp>
      <p:sp>
        <p:nvSpPr>
          <p:cNvPr id="23" name="Shape 21"/>
          <p:cNvSpPr/>
          <p:nvPr/>
        </p:nvSpPr>
        <p:spPr>
          <a:xfrm>
            <a:off x="1371600" y="5074920"/>
            <a:ext cx="9445752" cy="1051560"/>
          </a:xfrm>
          <a:prstGeom prst="roundRect">
            <a:avLst>
              <a:gd name="adj" fmla="val 6957"/>
            </a:avLst>
          </a:prstGeom>
          <a:solidFill>
            <a:srgbClr val="EAF1F5"/>
          </a:solidFill>
          <a:ln/>
        </p:spPr>
        <p:txBody>
          <a:bodyPr/>
          <a:lstStyle/>
          <a:p>
            <a:endParaRPr lang="en-AU"/>
          </a:p>
        </p:txBody>
      </p:sp>
      <p:sp>
        <p:nvSpPr>
          <p:cNvPr id="24" name="Text 22"/>
          <p:cNvSpPr/>
          <p:nvPr/>
        </p:nvSpPr>
        <p:spPr>
          <a:xfrm>
            <a:off x="1691640" y="5212080"/>
            <a:ext cx="8778240" cy="822960"/>
          </a:xfrm>
          <a:prstGeom prst="rect">
            <a:avLst/>
          </a:prstGeom>
          <a:noFill/>
          <a:ln/>
        </p:spPr>
        <p:txBody>
          <a:bodyPr wrap="square" lIns="0" tIns="0" rIns="0" bIns="0" rtlCol="0" anchor="ctr"/>
          <a:lstStyle/>
          <a:p>
            <a:pPr marL="0" indent="0">
              <a:lnSpc>
                <a:spcPct val="110000"/>
              </a:lnSpc>
              <a:buNone/>
            </a:pPr>
            <a:r>
              <a:rPr lang="en-US" sz="1500" b="1" dirty="0">
                <a:solidFill>
                  <a:srgbClr val="21295C"/>
                </a:solidFill>
                <a:latin typeface="Calibri" pitchFamily="34" charset="0"/>
                <a:ea typeface="Calibri" pitchFamily="34" charset="-122"/>
                <a:cs typeface="Calibri" pitchFamily="34" charset="-120"/>
              </a:rPr>
              <a:t>Net effect:  </a:t>
            </a:r>
            <a:r>
              <a:rPr lang="en-US" sz="1500" dirty="0">
                <a:solidFill>
                  <a:srgbClr val="1F2A33"/>
                </a:solidFill>
                <a:latin typeface="Calibri" pitchFamily="34" charset="0"/>
                <a:ea typeface="Calibri" pitchFamily="34" charset="-122"/>
                <a:cs typeface="Calibri" pitchFamily="34" charset="-120"/>
              </a:rPr>
              <a:t>your code receives a strongly-typed </a:t>
            </a:r>
            <a:r>
              <a:rPr lang="en-US" sz="1500" b="1" dirty="0">
                <a:solidFill>
                  <a:srgbClr val="065A82"/>
                </a:solidFill>
                <a:latin typeface="Consolas" pitchFamily="34" charset="0"/>
                <a:ea typeface="Consolas" pitchFamily="34" charset="-122"/>
                <a:cs typeface="Consolas" pitchFamily="34" charset="-120"/>
              </a:rPr>
              <a:t>CardPayment</a:t>
            </a:r>
            <a:r>
              <a:rPr lang="en-US" sz="1500" dirty="0">
                <a:solidFill>
                  <a:srgbClr val="1F2A33"/>
                </a:solidFill>
                <a:latin typeface="Calibri" pitchFamily="34" charset="0"/>
                <a:ea typeface="Calibri" pitchFamily="34" charset="-122"/>
                <a:cs typeface="Calibri" pitchFamily="34" charset="-120"/>
              </a:rPr>
              <a:t> — the same code path handles wallets and transfers too, because they all satisfy the </a:t>
            </a:r>
            <a:r>
              <a:rPr lang="en-US" sz="1500" b="1" dirty="0">
                <a:solidFill>
                  <a:srgbClr val="065A82"/>
                </a:solidFill>
                <a:latin typeface="Consolas" pitchFamily="34" charset="0"/>
                <a:ea typeface="Consolas" pitchFamily="34" charset="-122"/>
                <a:cs typeface="Consolas" pitchFamily="34" charset="-120"/>
              </a:rPr>
              <a:t>Payment</a:t>
            </a:r>
            <a:r>
              <a:rPr lang="en-US" sz="1500" dirty="0">
                <a:solidFill>
                  <a:srgbClr val="1F2A33"/>
                </a:solidFill>
                <a:latin typeface="Calibri" pitchFamily="34" charset="0"/>
                <a:ea typeface="Calibri" pitchFamily="34" charset="-122"/>
                <a:cs typeface="Calibri" pitchFamily="34" charset="-120"/>
              </a:rPr>
              <a:t> contract.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85800"/>
          </a:xfrm>
          <a:prstGeom prst="rect">
            <a:avLst/>
          </a:prstGeom>
          <a:noFill/>
          <a:ln/>
        </p:spPr>
        <p:txBody>
          <a:bodyPr wrap="square" lIns="0" tIns="0" rIns="0" bIns="0" rtlCol="0" anchor="ctr"/>
          <a:lstStyle/>
          <a:p>
            <a:pPr marL="0" indent="0">
              <a:buNone/>
            </a:pPr>
            <a:r>
              <a:rPr lang="en-US" sz="3400" b="1" dirty="0">
                <a:solidFill>
                  <a:srgbClr val="21295C"/>
                </a:solidFill>
                <a:latin typeface="Cambria" pitchFamily="34" charset="0"/>
                <a:ea typeface="Cambria" pitchFamily="34" charset="-122"/>
                <a:cs typeface="Cambria" pitchFamily="34" charset="-120"/>
              </a:rPr>
              <a:t>Use · Alternative — no tag, match by shape</a:t>
            </a:r>
            <a:endParaRPr lang="en-US" sz="3400" dirty="0"/>
          </a:p>
        </p:txBody>
      </p:sp>
      <p:sp>
        <p:nvSpPr>
          <p:cNvPr id="3" name="Text 1"/>
          <p:cNvSpPr/>
          <p:nvPr/>
        </p:nvSpPr>
        <p:spPr>
          <a:xfrm>
            <a:off x="640080" y="1078992"/>
            <a:ext cx="10972800" cy="41148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Drop the discriminator: list self-contained forms with oneOf and let the validator pick the one that fits.</a:t>
            </a:r>
            <a:endParaRPr lang="en-US" sz="1500" dirty="0"/>
          </a:p>
        </p:txBody>
      </p:sp>
      <p:sp>
        <p:nvSpPr>
          <p:cNvPr id="4" name="Shape 2"/>
          <p:cNvSpPr/>
          <p:nvPr/>
        </p:nvSpPr>
        <p:spPr>
          <a:xfrm>
            <a:off x="640080" y="1691640"/>
            <a:ext cx="5486400" cy="4160520"/>
          </a:xfrm>
          <a:prstGeom prst="roundRect">
            <a:avLst>
              <a:gd name="adj" fmla="val 1099"/>
            </a:avLst>
          </a:prstGeom>
          <a:solidFill>
            <a:srgbClr val="132235"/>
          </a:solidFill>
          <a:ln/>
          <a:effectLst>
            <a:outerShdw blurRad="88900" dist="25400" dir="5400000" algn="bl" rotWithShape="0">
              <a:srgbClr val="8496A6">
                <a:alpha val="40000"/>
              </a:srgbClr>
            </a:outerShdw>
          </a:effectLst>
        </p:spPr>
        <p:txBody>
          <a:bodyPr/>
          <a:lstStyle/>
          <a:p>
            <a:endParaRPr lang="en-AU"/>
          </a:p>
        </p:txBody>
      </p:sp>
      <p:sp>
        <p:nvSpPr>
          <p:cNvPr id="5" name="Shape 3"/>
          <p:cNvSpPr/>
          <p:nvPr/>
        </p:nvSpPr>
        <p:spPr>
          <a:xfrm>
            <a:off x="640080" y="1691640"/>
            <a:ext cx="5486400" cy="310896"/>
          </a:xfrm>
          <a:prstGeom prst="roundRect">
            <a:avLst>
              <a:gd name="adj" fmla="val 14706"/>
            </a:avLst>
          </a:prstGeom>
          <a:solidFill>
            <a:srgbClr val="0C1826"/>
          </a:solidFill>
          <a:ln/>
        </p:spPr>
        <p:txBody>
          <a:bodyPr/>
          <a:lstStyle/>
          <a:p>
            <a:endParaRPr lang="en-AU"/>
          </a:p>
        </p:txBody>
      </p:sp>
      <p:sp>
        <p:nvSpPr>
          <p:cNvPr id="6" name="Shape 4"/>
          <p:cNvSpPr/>
          <p:nvPr/>
        </p:nvSpPr>
        <p:spPr>
          <a:xfrm>
            <a:off x="640080" y="1847088"/>
            <a:ext cx="5486400" cy="155448"/>
          </a:xfrm>
          <a:prstGeom prst="rect">
            <a:avLst/>
          </a:prstGeom>
          <a:solidFill>
            <a:srgbClr val="0C1826"/>
          </a:solidFill>
          <a:ln/>
        </p:spPr>
        <p:txBody>
          <a:bodyPr/>
          <a:lstStyle/>
          <a:p>
            <a:endParaRPr lang="en-AU"/>
          </a:p>
        </p:txBody>
      </p:sp>
      <p:sp>
        <p:nvSpPr>
          <p:cNvPr id="7" name="Shape 5"/>
          <p:cNvSpPr/>
          <p:nvPr/>
        </p:nvSpPr>
        <p:spPr>
          <a:xfrm>
            <a:off x="804672" y="1792224"/>
            <a:ext cx="109728" cy="109728"/>
          </a:xfrm>
          <a:prstGeom prst="ellipse">
            <a:avLst/>
          </a:prstGeom>
          <a:solidFill>
            <a:srgbClr val="E0655F"/>
          </a:solidFill>
          <a:ln/>
        </p:spPr>
        <p:txBody>
          <a:bodyPr/>
          <a:lstStyle/>
          <a:p>
            <a:endParaRPr lang="en-AU"/>
          </a:p>
        </p:txBody>
      </p:sp>
      <p:sp>
        <p:nvSpPr>
          <p:cNvPr id="8" name="Shape 6"/>
          <p:cNvSpPr/>
          <p:nvPr/>
        </p:nvSpPr>
        <p:spPr>
          <a:xfrm>
            <a:off x="1005840" y="1792224"/>
            <a:ext cx="109728" cy="109728"/>
          </a:xfrm>
          <a:prstGeom prst="ellipse">
            <a:avLst/>
          </a:prstGeom>
          <a:solidFill>
            <a:srgbClr val="E0A93F"/>
          </a:solidFill>
          <a:ln/>
        </p:spPr>
        <p:txBody>
          <a:bodyPr/>
          <a:lstStyle/>
          <a:p>
            <a:endParaRPr lang="en-AU"/>
          </a:p>
        </p:txBody>
      </p:sp>
      <p:sp>
        <p:nvSpPr>
          <p:cNvPr id="9" name="Shape 7"/>
          <p:cNvSpPr/>
          <p:nvPr/>
        </p:nvSpPr>
        <p:spPr>
          <a:xfrm>
            <a:off x="1207008" y="1792224"/>
            <a:ext cx="109728" cy="109728"/>
          </a:xfrm>
          <a:prstGeom prst="ellipse">
            <a:avLst/>
          </a:prstGeom>
          <a:solidFill>
            <a:srgbClr val="5FB85F"/>
          </a:solidFill>
          <a:ln/>
        </p:spPr>
        <p:txBody>
          <a:bodyPr/>
          <a:lstStyle/>
          <a:p>
            <a:endParaRPr lang="en-AU"/>
          </a:p>
        </p:txBody>
      </p:sp>
      <p:sp>
        <p:nvSpPr>
          <p:cNvPr id="10" name="Text 8"/>
          <p:cNvSpPr/>
          <p:nvPr/>
        </p:nvSpPr>
        <p:spPr>
          <a:xfrm>
            <a:off x="1554480" y="1691640"/>
            <a:ext cx="4389120" cy="310896"/>
          </a:xfrm>
          <a:prstGeom prst="rect">
            <a:avLst/>
          </a:prstGeom>
          <a:noFill/>
          <a:ln/>
        </p:spPr>
        <p:txBody>
          <a:bodyPr wrap="square" lIns="0" tIns="0" rIns="0" bIns="0" rtlCol="0" anchor="ctr"/>
          <a:lstStyle/>
          <a:p>
            <a:pPr marL="0" indent="0" algn="l">
              <a:buNone/>
            </a:pPr>
            <a:r>
              <a:rPr lang="en-US" sz="1050" dirty="0">
                <a:solidFill>
                  <a:srgbClr val="8B949E"/>
                </a:solidFill>
                <a:latin typeface="Consolas" pitchFamily="34" charset="0"/>
                <a:ea typeface="Consolas" pitchFamily="34" charset="-122"/>
                <a:cs typeface="Consolas" pitchFamily="34" charset="-120"/>
              </a:rPr>
              <a:t>openapi.yaml — paths (oneOf)</a:t>
            </a:r>
            <a:endParaRPr lang="en-US" sz="1050" dirty="0"/>
          </a:p>
        </p:txBody>
      </p:sp>
      <p:sp>
        <p:nvSpPr>
          <p:cNvPr id="11" name="Text 9"/>
          <p:cNvSpPr/>
          <p:nvPr/>
        </p:nvSpPr>
        <p:spPr>
          <a:xfrm>
            <a:off x="896112" y="2130552"/>
            <a:ext cx="5029200" cy="3593592"/>
          </a:xfrm>
          <a:prstGeom prst="rect">
            <a:avLst/>
          </a:prstGeom>
          <a:noFill/>
          <a:ln/>
        </p:spPr>
        <p:txBody>
          <a:bodyPr wrap="square" lIns="0" tIns="0" rIns="0" bIns="0" rtlCol="0" anchor="t"/>
          <a:lstStyle/>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/payments:</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post</a:t>
            </a:r>
            <a:r>
              <a:rPr lang="en-US" sz="1200" dirty="0">
                <a:solidFill>
                  <a:srgbClr val="C9D1D9"/>
                </a:solidFill>
                <a:latin typeface="Consolas" pitchFamily="34" charset="0"/>
                <a:ea typeface="Consolas" pitchFamily="34" charset="-122"/>
                <a:cs typeface="Consolas" pitchFamily="34" charset="-120"/>
              </a:rPr>
              <a: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requestBody</a:t>
            </a:r>
            <a:r>
              <a:rPr lang="en-US" sz="1200" dirty="0">
                <a:solidFill>
                  <a:srgbClr val="C9D1D9"/>
                </a:solidFill>
                <a:latin typeface="Consolas" pitchFamily="34" charset="0"/>
                <a:ea typeface="Consolas" pitchFamily="34" charset="-122"/>
                <a:cs typeface="Consolas" pitchFamily="34" charset="-120"/>
              </a:rPr>
              <a: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content</a:t>
            </a:r>
            <a:r>
              <a:rPr lang="en-US" sz="1200" dirty="0">
                <a:solidFill>
                  <a:srgbClr val="C9D1D9"/>
                </a:solidFill>
                <a:latin typeface="Consolas" pitchFamily="34" charset="0"/>
                <a:ea typeface="Consolas" pitchFamily="34" charset="-122"/>
                <a:cs typeface="Consolas" pitchFamily="34" charset="-120"/>
              </a:rPr>
              <a: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application/json</a:t>
            </a:r>
            <a:r>
              <a:rPr lang="en-US" sz="1200" dirty="0">
                <a:solidFill>
                  <a:srgbClr val="C9D1D9"/>
                </a:solidFill>
                <a:latin typeface="Consolas" pitchFamily="34" charset="0"/>
                <a:ea typeface="Consolas" pitchFamily="34" charset="-122"/>
                <a:cs typeface="Consolas" pitchFamily="34" charset="-120"/>
              </a:rPr>
              <a: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schema</a:t>
            </a:r>
            <a:r>
              <a:rPr lang="en-US" sz="1200" dirty="0">
                <a:solidFill>
                  <a:srgbClr val="C9D1D9"/>
                </a:solidFill>
                <a:latin typeface="Consolas" pitchFamily="34" charset="0"/>
                <a:ea typeface="Consolas" pitchFamily="34" charset="-122"/>
                <a:cs typeface="Consolas" pitchFamily="34" charset="-120"/>
              </a:rPr>
              <a: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F6AE2D"/>
                </a:solidFill>
                <a:latin typeface="Consolas" pitchFamily="34" charset="0"/>
                <a:ea typeface="Consolas" pitchFamily="34" charset="-122"/>
                <a:cs typeface="Consolas" pitchFamily="34" charset="-120"/>
              </a:rPr>
              <a:t>oneOf</a:t>
            </a:r>
            <a:r>
              <a:rPr lang="en-US" sz="1200" dirty="0">
                <a:solidFill>
                  <a:srgbClr val="C9D1D9"/>
                </a:solidFill>
                <a:latin typeface="Consolas" pitchFamily="34" charset="0"/>
                <a:ea typeface="Consolas" pitchFamily="34" charset="-122"/>
                <a:cs typeface="Consolas" pitchFamily="34" charset="-120"/>
              </a:rPr>
              <a: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 </a:t>
            </a:r>
            <a:r>
              <a:rPr lang="en-US" sz="1200" dirty="0">
                <a:solidFill>
                  <a:srgbClr val="C9A7EB"/>
                </a:solidFill>
                <a:latin typeface="Consolas" pitchFamily="34" charset="0"/>
                <a:ea typeface="Consolas" pitchFamily="34" charset="-122"/>
                <a:cs typeface="Consolas" pitchFamily="34" charset="-120"/>
              </a:rPr>
              <a:t>$ref</a:t>
            </a: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C9A7EB"/>
                </a:solidFill>
                <a:latin typeface="Consolas" pitchFamily="34" charset="0"/>
                <a:ea typeface="Consolas" pitchFamily="34" charset="-122"/>
                <a:cs typeface="Consolas" pitchFamily="34" charset="-120"/>
              </a:rPr>
              <a:t>'#/.../CardForm'</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 </a:t>
            </a:r>
            <a:r>
              <a:rPr lang="en-US" sz="1200" dirty="0">
                <a:solidFill>
                  <a:srgbClr val="C9A7EB"/>
                </a:solidFill>
                <a:latin typeface="Consolas" pitchFamily="34" charset="0"/>
                <a:ea typeface="Consolas" pitchFamily="34" charset="-122"/>
                <a:cs typeface="Consolas" pitchFamily="34" charset="-120"/>
              </a:rPr>
              <a:t>$ref</a:t>
            </a: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C9A7EB"/>
                </a:solidFill>
                <a:latin typeface="Consolas" pitchFamily="34" charset="0"/>
                <a:ea typeface="Consolas" pitchFamily="34" charset="-122"/>
                <a:cs typeface="Consolas" pitchFamily="34" charset="-120"/>
              </a:rPr>
              <a:t>'#/.../TransferForm'</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 </a:t>
            </a:r>
            <a:r>
              <a:rPr lang="en-US" sz="1200" dirty="0">
                <a:solidFill>
                  <a:srgbClr val="C9A7EB"/>
                </a:solidFill>
                <a:latin typeface="Consolas" pitchFamily="34" charset="0"/>
                <a:ea typeface="Consolas" pitchFamily="34" charset="-122"/>
                <a:cs typeface="Consolas" pitchFamily="34" charset="-120"/>
              </a:rPr>
              <a:t>$ref</a:t>
            </a: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C9A7EB"/>
                </a:solidFill>
                <a:latin typeface="Consolas" pitchFamily="34" charset="0"/>
                <a:ea typeface="Consolas" pitchFamily="34" charset="-122"/>
                <a:cs typeface="Consolas" pitchFamily="34" charset="-120"/>
              </a:rPr>
              <a:t>'#/.../WalletForm'</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CardForm:</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type</a:t>
            </a:r>
            <a:r>
              <a:rPr lang="en-US" sz="1200" dirty="0">
                <a:solidFill>
                  <a:srgbClr val="C9D1D9"/>
                </a:solidFill>
                <a:latin typeface="Consolas" pitchFamily="34" charset="0"/>
                <a:ea typeface="Consolas" pitchFamily="34" charset="-122"/>
                <a:cs typeface="Consolas" pitchFamily="34" charset="-120"/>
              </a:rPr>
              <a:t>: object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required</a:t>
            </a:r>
            <a:r>
              <a:rPr lang="en-US" sz="1200" dirty="0">
                <a:solidFill>
                  <a:srgbClr val="C9D1D9"/>
                </a:solidFill>
                <a:latin typeface="Consolas" pitchFamily="34" charset="0"/>
                <a:ea typeface="Consolas" pitchFamily="34" charset="-122"/>
                <a:cs typeface="Consolas" pitchFamily="34" charset="-120"/>
              </a:rPr>
              <a:t>: [amount, cardNumber, expiry]</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additionalProperties</a:t>
            </a:r>
            <a:r>
              <a:rPr lang="en-US" sz="1200" dirty="0">
                <a:solidFill>
                  <a:srgbClr val="C9D1D9"/>
                </a:solidFill>
                <a:latin typeface="Consolas" pitchFamily="34" charset="0"/>
                <a:ea typeface="Consolas" pitchFamily="34" charset="-122"/>
                <a:cs typeface="Consolas" pitchFamily="34" charset="-120"/>
              </a:rPr>
              <a:t>: false</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endParaRPr lang="en-US" sz="1200" dirty="0"/>
          </a:p>
          <a:p>
            <a:pPr marL="0" indent="0">
              <a:lnSpc>
                <a:spcPct val="114000"/>
              </a:lnSpc>
              <a:buNone/>
            </a:pPr>
            <a:r>
              <a:rPr lang="en-US" sz="1200" i="1" dirty="0">
                <a:solidFill>
                  <a:srgbClr val="8B949E"/>
                </a:solidFill>
                <a:latin typeface="Consolas" pitchFamily="34" charset="0"/>
                <a:ea typeface="Consolas" pitchFamily="34" charset="-122"/>
                <a:cs typeface="Consolas" pitchFamily="34" charset="-120"/>
              </a:rPr>
              <a:t># Complete on its own — no base.</a:t>
            </a:r>
            <a:endParaRPr lang="en-US" sz="1200" dirty="0"/>
          </a:p>
        </p:txBody>
      </p:sp>
      <p:sp>
        <p:nvSpPr>
          <p:cNvPr id="12" name="Shape 10"/>
          <p:cNvSpPr/>
          <p:nvPr/>
        </p:nvSpPr>
        <p:spPr>
          <a:xfrm>
            <a:off x="6355080" y="1691640"/>
            <a:ext cx="5193792" cy="4160520"/>
          </a:xfrm>
          <a:prstGeom prst="roundRect">
            <a:avLst>
              <a:gd name="adj" fmla="val 1099"/>
            </a:avLst>
          </a:prstGeom>
          <a:solidFill>
            <a:srgbClr val="132235"/>
          </a:solidFill>
          <a:ln/>
          <a:effectLst>
            <a:outerShdw blurRad="88900" dist="25400" dir="5400000" algn="bl" rotWithShape="0">
              <a:srgbClr val="8496A6">
                <a:alpha val="40000"/>
              </a:srgbClr>
            </a:outerShdw>
          </a:effectLst>
        </p:spPr>
        <p:txBody>
          <a:bodyPr/>
          <a:lstStyle/>
          <a:p>
            <a:endParaRPr lang="en-AU"/>
          </a:p>
        </p:txBody>
      </p:sp>
      <p:sp>
        <p:nvSpPr>
          <p:cNvPr id="13" name="Shape 11"/>
          <p:cNvSpPr/>
          <p:nvPr/>
        </p:nvSpPr>
        <p:spPr>
          <a:xfrm>
            <a:off x="6355080" y="1691640"/>
            <a:ext cx="5193792" cy="310896"/>
          </a:xfrm>
          <a:prstGeom prst="roundRect">
            <a:avLst>
              <a:gd name="adj" fmla="val 14706"/>
            </a:avLst>
          </a:prstGeom>
          <a:solidFill>
            <a:srgbClr val="0C1826"/>
          </a:solidFill>
          <a:ln/>
        </p:spPr>
        <p:txBody>
          <a:bodyPr/>
          <a:lstStyle/>
          <a:p>
            <a:endParaRPr lang="en-AU"/>
          </a:p>
        </p:txBody>
      </p:sp>
      <p:sp>
        <p:nvSpPr>
          <p:cNvPr id="14" name="Shape 12"/>
          <p:cNvSpPr/>
          <p:nvPr/>
        </p:nvSpPr>
        <p:spPr>
          <a:xfrm>
            <a:off x="6355080" y="1847088"/>
            <a:ext cx="5193792" cy="155448"/>
          </a:xfrm>
          <a:prstGeom prst="rect">
            <a:avLst/>
          </a:prstGeom>
          <a:solidFill>
            <a:srgbClr val="0C1826"/>
          </a:solidFill>
          <a:ln/>
        </p:spPr>
        <p:txBody>
          <a:bodyPr/>
          <a:lstStyle/>
          <a:p>
            <a:endParaRPr lang="en-AU"/>
          </a:p>
        </p:txBody>
      </p:sp>
      <p:sp>
        <p:nvSpPr>
          <p:cNvPr id="15" name="Shape 13"/>
          <p:cNvSpPr/>
          <p:nvPr/>
        </p:nvSpPr>
        <p:spPr>
          <a:xfrm>
            <a:off x="6519672" y="1792224"/>
            <a:ext cx="109728" cy="109728"/>
          </a:xfrm>
          <a:prstGeom prst="ellipse">
            <a:avLst/>
          </a:prstGeom>
          <a:solidFill>
            <a:srgbClr val="E0655F"/>
          </a:solidFill>
          <a:ln/>
        </p:spPr>
        <p:txBody>
          <a:bodyPr/>
          <a:lstStyle/>
          <a:p>
            <a:endParaRPr lang="en-AU"/>
          </a:p>
        </p:txBody>
      </p:sp>
      <p:sp>
        <p:nvSpPr>
          <p:cNvPr id="16" name="Shape 14"/>
          <p:cNvSpPr/>
          <p:nvPr/>
        </p:nvSpPr>
        <p:spPr>
          <a:xfrm>
            <a:off x="6720840" y="1792224"/>
            <a:ext cx="109728" cy="109728"/>
          </a:xfrm>
          <a:prstGeom prst="ellipse">
            <a:avLst/>
          </a:prstGeom>
          <a:solidFill>
            <a:srgbClr val="E0A93F"/>
          </a:solidFill>
          <a:ln/>
        </p:spPr>
        <p:txBody>
          <a:bodyPr/>
          <a:lstStyle/>
          <a:p>
            <a:endParaRPr lang="en-AU"/>
          </a:p>
        </p:txBody>
      </p:sp>
      <p:sp>
        <p:nvSpPr>
          <p:cNvPr id="17" name="Shape 15"/>
          <p:cNvSpPr/>
          <p:nvPr/>
        </p:nvSpPr>
        <p:spPr>
          <a:xfrm>
            <a:off x="6922008" y="1792224"/>
            <a:ext cx="109728" cy="109728"/>
          </a:xfrm>
          <a:prstGeom prst="ellipse">
            <a:avLst/>
          </a:prstGeom>
          <a:solidFill>
            <a:srgbClr val="5FB85F"/>
          </a:solidFill>
          <a:ln/>
        </p:spPr>
        <p:txBody>
          <a:bodyPr/>
          <a:lstStyle/>
          <a:p>
            <a:endParaRPr lang="en-AU"/>
          </a:p>
        </p:txBody>
      </p:sp>
      <p:sp>
        <p:nvSpPr>
          <p:cNvPr id="18" name="Text 16"/>
          <p:cNvSpPr/>
          <p:nvPr/>
        </p:nvSpPr>
        <p:spPr>
          <a:xfrm>
            <a:off x="7269480" y="1691640"/>
            <a:ext cx="4096512" cy="310896"/>
          </a:xfrm>
          <a:prstGeom prst="rect">
            <a:avLst/>
          </a:prstGeom>
          <a:noFill/>
          <a:ln/>
        </p:spPr>
        <p:txBody>
          <a:bodyPr wrap="square" lIns="0" tIns="0" rIns="0" bIns="0" rtlCol="0" anchor="ctr"/>
          <a:lstStyle/>
          <a:p>
            <a:pPr marL="0" indent="0" algn="l">
              <a:buNone/>
            </a:pPr>
            <a:r>
              <a:rPr lang="en-US" sz="1050" dirty="0">
                <a:solidFill>
                  <a:srgbClr val="8B949E"/>
                </a:solidFill>
                <a:latin typeface="Consolas" pitchFamily="34" charset="0"/>
                <a:ea typeface="Consolas" pitchFamily="34" charset="-122"/>
                <a:cs typeface="Consolas" pitchFamily="34" charset="-120"/>
              </a:rPr>
              <a:t>request.json — untagged body</a:t>
            </a:r>
            <a:endParaRPr lang="en-US" sz="1050" dirty="0"/>
          </a:p>
        </p:txBody>
      </p:sp>
      <p:sp>
        <p:nvSpPr>
          <p:cNvPr id="19" name="Text 17"/>
          <p:cNvSpPr/>
          <p:nvPr/>
        </p:nvSpPr>
        <p:spPr>
          <a:xfrm>
            <a:off x="6611112" y="2130552"/>
            <a:ext cx="4736592" cy="3593592"/>
          </a:xfrm>
          <a:prstGeom prst="rect">
            <a:avLst/>
          </a:prstGeom>
          <a:noFill/>
          <a:ln/>
        </p:spPr>
        <p:txBody>
          <a:bodyPr wrap="square" lIns="0" tIns="0" rIns="0" bIns="0" rtlCol="0" anchor="t"/>
          <a:lstStyle/>
          <a:p>
            <a:pPr marL="0" indent="0">
              <a:lnSpc>
                <a:spcPct val="114000"/>
              </a:lnSpc>
              <a:buNone/>
            </a:pPr>
            <a:r>
              <a:rPr lang="en-US" sz="1200" dirty="0">
                <a:solidFill>
                  <a:srgbClr val="F6AE2D"/>
                </a:solidFill>
                <a:latin typeface="Consolas" pitchFamily="34" charset="0"/>
                <a:ea typeface="Consolas" pitchFamily="34" charset="-122"/>
                <a:cs typeface="Consolas" pitchFamily="34" charset="-120"/>
              </a:rPr>
              <a:t>POST /payments</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"amount"</a:t>
            </a: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B5CEA8"/>
                </a:solidFill>
                <a:latin typeface="Consolas" pitchFamily="34" charset="0"/>
                <a:ea typeface="Consolas" pitchFamily="34" charset="-122"/>
                <a:cs typeface="Consolas" pitchFamily="34" charset="-120"/>
              </a:rPr>
              <a:t>49.90</a:t>
            </a:r>
            <a:r>
              <a:rPr lang="en-US" sz="1200" dirty="0">
                <a:solidFill>
                  <a:srgbClr val="C9D1D9"/>
                </a:solidFill>
                <a:latin typeface="Consolas" pitchFamily="34" charset="0"/>
                <a:ea typeface="Consolas" pitchFamily="34" charset="-122"/>
                <a:cs typeface="Consolas" pitchFamily="34" charset="-120"/>
              </a:rPr>
              <a: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"cardNumber"</a:t>
            </a: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CE9178"/>
                </a:solidFill>
                <a:latin typeface="Consolas" pitchFamily="34" charset="0"/>
                <a:ea typeface="Consolas" pitchFamily="34" charset="-122"/>
                <a:cs typeface="Consolas" pitchFamily="34" charset="-120"/>
              </a:rPr>
              <a:t>"4111 1111 1111 1111"</a:t>
            </a:r>
            <a:r>
              <a:rPr lang="en-US" sz="1200" dirty="0">
                <a:solidFill>
                  <a:srgbClr val="C9D1D9"/>
                </a:solidFill>
                <a:latin typeface="Consolas" pitchFamily="34" charset="0"/>
                <a:ea typeface="Consolas" pitchFamily="34" charset="-122"/>
                <a:cs typeface="Consolas" pitchFamily="34" charset="-120"/>
              </a:rPr>
              <a: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"expiry"</a:t>
            </a:r>
            <a:r>
              <a:rPr lang="en-US" sz="1200" dirty="0">
                <a:solidFill>
                  <a:srgbClr val="C9D1D9"/>
                </a:solidFill>
                <a:latin typeface="Consolas" pitchFamily="34" charset="0"/>
                <a:ea typeface="Consolas" pitchFamily="34" charset="-122"/>
                <a:cs typeface="Consolas" pitchFamily="34" charset="-120"/>
              </a:rPr>
              <a:t>: </a:t>
            </a:r>
            <a:r>
              <a:rPr lang="en-US" sz="1200" dirty="0">
                <a:solidFill>
                  <a:srgbClr val="CE9178"/>
                </a:solidFill>
                <a:latin typeface="Consolas" pitchFamily="34" charset="0"/>
                <a:ea typeface="Consolas" pitchFamily="34" charset="-122"/>
                <a:cs typeface="Consolas" pitchFamily="34" charset="-120"/>
              </a:rPr>
              <a:t>"12/27"</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a:t>
            </a:r>
            <a:endParaRPr lang="en-US" sz="1200" dirty="0"/>
          </a:p>
          <a:p>
            <a:pPr marL="0" indent="0">
              <a:lnSpc>
                <a:spcPct val="114000"/>
              </a:lnSpc>
              <a:buNone/>
            </a:pPr>
            <a:r>
              <a:rPr lang="en-US" sz="1200" dirty="0">
                <a:solidFill>
                  <a:srgbClr val="C9D1D9"/>
                </a:solidFill>
                <a:latin typeface="Consolas" pitchFamily="34" charset="0"/>
                <a:ea typeface="Consolas" pitchFamily="34" charset="-122"/>
                <a:cs typeface="Consolas" pitchFamily="34" charset="-120"/>
              </a:rPr>
              <a:t> </a:t>
            </a:r>
            <a:endParaRPr lang="en-US" sz="1200" dirty="0"/>
          </a:p>
          <a:p>
            <a:pPr marL="0" indent="0">
              <a:lnSpc>
                <a:spcPct val="114000"/>
              </a:lnSpc>
              <a:buNone/>
            </a:pPr>
            <a:r>
              <a:rPr lang="en-US" sz="1200" i="1" dirty="0">
                <a:solidFill>
                  <a:srgbClr val="8B949E"/>
                </a:solidFill>
                <a:latin typeface="Consolas" pitchFamily="34" charset="0"/>
                <a:ea typeface="Consolas" pitchFamily="34" charset="-122"/>
                <a:cs typeface="Consolas" pitchFamily="34" charset="-120"/>
              </a:rPr>
              <a:t># No paymentType field. Each form</a:t>
            </a:r>
            <a:endParaRPr lang="en-US" sz="1200" dirty="0"/>
          </a:p>
          <a:p>
            <a:pPr marL="0" indent="0">
              <a:lnSpc>
                <a:spcPct val="114000"/>
              </a:lnSpc>
              <a:buNone/>
            </a:pPr>
            <a:r>
              <a:rPr lang="en-US" sz="1200" i="1" dirty="0">
                <a:solidFill>
                  <a:srgbClr val="8B949E"/>
                </a:solidFill>
                <a:latin typeface="Consolas" pitchFamily="34" charset="0"/>
                <a:ea typeface="Consolas" pitchFamily="34" charset="-122"/>
                <a:cs typeface="Consolas" pitchFamily="34" charset="-120"/>
              </a:rPr>
              <a:t># lists its own fields as required</a:t>
            </a:r>
            <a:endParaRPr lang="en-US" sz="1200" dirty="0"/>
          </a:p>
          <a:p>
            <a:pPr marL="0" indent="0">
              <a:lnSpc>
                <a:spcPct val="114000"/>
              </a:lnSpc>
              <a:buNone/>
            </a:pPr>
            <a:r>
              <a:rPr lang="en-US" sz="1200" i="1" dirty="0">
                <a:solidFill>
                  <a:srgbClr val="8B949E"/>
                </a:solidFill>
                <a:latin typeface="Consolas" pitchFamily="34" charset="0"/>
                <a:ea typeface="Consolas" pitchFamily="34" charset="-122"/>
                <a:cs typeface="Consolas" pitchFamily="34" charset="-120"/>
              </a:rPr>
              <a:t># and forbids extra properties.</a:t>
            </a:r>
            <a:endParaRPr lang="en-US" sz="1200" dirty="0"/>
          </a:p>
        </p:txBody>
      </p:sp>
      <p:sp>
        <p:nvSpPr>
          <p:cNvPr id="20" name="Text 18"/>
          <p:cNvSpPr/>
          <p:nvPr/>
        </p:nvSpPr>
        <p:spPr>
          <a:xfrm>
            <a:off x="640080" y="5989320"/>
            <a:ext cx="10972800" cy="457200"/>
          </a:xfrm>
          <a:prstGeom prst="rect">
            <a:avLst/>
          </a:prstGeom>
          <a:noFill/>
          <a:ln/>
        </p:spPr>
        <p:txBody>
          <a:bodyPr wrap="square" lIns="0" tIns="0" rIns="0" bIns="0" rtlCol="0" anchor="ctr"/>
          <a:lstStyle/>
          <a:p>
            <a:pPr marL="0" indent="0">
              <a:buNone/>
            </a:pPr>
            <a:r>
              <a:rPr lang="en-US" sz="1500" dirty="0">
                <a:solidFill>
                  <a:srgbClr val="1F2A33"/>
                </a:solidFill>
                <a:latin typeface="Calibri" pitchFamily="34" charset="0"/>
                <a:ea typeface="Calibri" pitchFamily="34" charset="-122"/>
                <a:cs typeface="Calibri" pitchFamily="34" charset="-120"/>
              </a:rPr>
              <a:t>oneOf lists the allowed forms and the validator must find </a:t>
            </a:r>
            <a:r>
              <a:rPr lang="en-US" sz="1500" b="1" dirty="0">
                <a:solidFill>
                  <a:srgbClr val="065A82"/>
                </a:solidFill>
                <a:latin typeface="Calibri" pitchFamily="34" charset="0"/>
                <a:ea typeface="Calibri" pitchFamily="34" charset="-122"/>
                <a:cs typeface="Calibri" pitchFamily="34" charset="-120"/>
              </a:rPr>
              <a:t>exactly one</a:t>
            </a:r>
            <a:r>
              <a:rPr lang="en-US" sz="1500" dirty="0">
                <a:solidFill>
                  <a:srgbClr val="1F2A33"/>
                </a:solidFill>
                <a:latin typeface="Calibri" pitchFamily="34" charset="0"/>
                <a:ea typeface="Calibri" pitchFamily="34" charset="-122"/>
                <a:cs typeface="Calibri" pitchFamily="34" charset="-120"/>
              </a:rPr>
              <a:t> match. A form rules itself out only when its own fields are required and extras are forbidden.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85800"/>
          </a:xfrm>
          <a:prstGeom prst="rect">
            <a:avLst/>
          </a:prstGeom>
          <a:noFill/>
          <a:ln/>
        </p:spPr>
        <p:txBody>
          <a:bodyPr wrap="square" lIns="0" tIns="0" rIns="0" bIns="0" rtlCol="0" anchor="ctr"/>
          <a:lstStyle/>
          <a:p>
            <a:pPr marL="0" indent="0">
              <a:buNone/>
            </a:pPr>
            <a:r>
              <a:rPr lang="en-US" sz="3400" b="1" dirty="0">
                <a:solidFill>
                  <a:srgbClr val="21295C"/>
                </a:solidFill>
                <a:latin typeface="Cambria" pitchFamily="34" charset="0"/>
                <a:ea typeface="Cambria" pitchFamily="34" charset="-122"/>
                <a:cs typeface="Cambria" pitchFamily="34" charset="-120"/>
              </a:rPr>
              <a:t>Shape-driven resolution</a:t>
            </a:r>
            <a:endParaRPr lang="en-US" sz="3400" dirty="0"/>
          </a:p>
        </p:txBody>
      </p:sp>
      <p:sp>
        <p:nvSpPr>
          <p:cNvPr id="3" name="Text 1"/>
          <p:cNvSpPr/>
          <p:nvPr/>
        </p:nvSpPr>
        <p:spPr>
          <a:xfrm>
            <a:off x="640080" y="1078992"/>
            <a:ext cx="10972800" cy="41148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With oneOf, the required fields of each form decide the match — not a tag.</a:t>
            </a:r>
            <a:endParaRPr lang="en-US" sz="1500" dirty="0"/>
          </a:p>
        </p:txBody>
      </p:sp>
      <p:sp>
        <p:nvSpPr>
          <p:cNvPr id="4" name="Shape 2"/>
          <p:cNvSpPr/>
          <p:nvPr/>
        </p:nvSpPr>
        <p:spPr>
          <a:xfrm>
            <a:off x="640080" y="2331720"/>
            <a:ext cx="2971800" cy="2606040"/>
          </a:xfrm>
          <a:prstGeom prst="roundRect">
            <a:avLst>
              <a:gd name="adj" fmla="val 2105"/>
            </a:avLst>
          </a:prstGeom>
          <a:solidFill>
            <a:srgbClr val="132235"/>
          </a:solidFill>
          <a:ln/>
          <a:effectLst>
            <a:outerShdw blurRad="76200" dist="25400" dir="5400000" algn="bl" rotWithShape="0">
              <a:srgbClr val="8496A6">
                <a:alpha val="35000"/>
              </a:srgbClr>
            </a:outerShdw>
          </a:effectLst>
        </p:spPr>
        <p:txBody>
          <a:bodyPr/>
          <a:lstStyle/>
          <a:p>
            <a:endParaRPr lang="en-AU"/>
          </a:p>
        </p:txBody>
      </p:sp>
      <p:sp>
        <p:nvSpPr>
          <p:cNvPr id="5" name="Text 3"/>
          <p:cNvSpPr/>
          <p:nvPr/>
        </p:nvSpPr>
        <p:spPr>
          <a:xfrm>
            <a:off x="822960" y="2514600"/>
            <a:ext cx="2651760" cy="320040"/>
          </a:xfrm>
          <a:prstGeom prst="rect">
            <a:avLst/>
          </a:prstGeom>
          <a:noFill/>
          <a:ln/>
        </p:spPr>
        <p:txBody>
          <a:bodyPr wrap="square" lIns="0" tIns="0" rIns="0" bIns="0" rtlCol="0" anchor="ctr"/>
          <a:lstStyle/>
          <a:p>
            <a:pPr marL="0" indent="0">
              <a:buNone/>
            </a:pPr>
            <a:r>
              <a:rPr lang="en-US" sz="1100" b="1" kern="0" spc="100" dirty="0">
                <a:solidFill>
                  <a:srgbClr val="8B949E"/>
                </a:solidFill>
                <a:latin typeface="Calibri" pitchFamily="34" charset="0"/>
                <a:ea typeface="Calibri" pitchFamily="34" charset="-122"/>
                <a:cs typeface="Calibri" pitchFamily="34" charset="-120"/>
              </a:rPr>
              <a:t>PAYLOAD (no tag)</a:t>
            </a:r>
            <a:endParaRPr lang="en-US" sz="1100" dirty="0"/>
          </a:p>
        </p:txBody>
      </p:sp>
      <p:sp>
        <p:nvSpPr>
          <p:cNvPr id="6" name="Text 4"/>
          <p:cNvSpPr/>
          <p:nvPr/>
        </p:nvSpPr>
        <p:spPr>
          <a:xfrm>
            <a:off x="868680" y="3063240"/>
            <a:ext cx="2560320" cy="1645920"/>
          </a:xfrm>
          <a:prstGeom prst="rect">
            <a:avLst/>
          </a:prstGeom>
          <a:noFill/>
          <a:ln/>
        </p:spPr>
        <p:txBody>
          <a:bodyPr wrap="square" lIns="0" tIns="0" rIns="0" bIns="0" rtlCol="0" anchor="t"/>
          <a:lstStyle/>
          <a:p>
            <a:pPr marL="0" indent="0">
              <a:lnSpc>
                <a:spcPct val="135000"/>
              </a:lnSpc>
              <a:buNone/>
            </a:pPr>
            <a:r>
              <a:rPr lang="en-US" sz="1500" dirty="0">
                <a:solidFill>
                  <a:srgbClr val="9CDCFE"/>
                </a:solidFill>
                <a:latin typeface="Consolas" pitchFamily="34" charset="0"/>
                <a:ea typeface="Consolas" pitchFamily="34" charset="-122"/>
                <a:cs typeface="Consolas" pitchFamily="34" charset="-120"/>
              </a:rPr>
              <a:t>amount</a:t>
            </a:r>
            <a:endParaRPr lang="en-US" sz="1500" dirty="0"/>
          </a:p>
          <a:p>
            <a:pPr marL="0" indent="0">
              <a:lnSpc>
                <a:spcPct val="135000"/>
              </a:lnSpc>
              <a:buNone/>
            </a:pPr>
            <a:r>
              <a:rPr lang="en-US" sz="1500" dirty="0">
                <a:solidFill>
                  <a:srgbClr val="9CDCFE"/>
                </a:solidFill>
                <a:latin typeface="Consolas" pitchFamily="34" charset="0"/>
                <a:ea typeface="Consolas" pitchFamily="34" charset="-122"/>
                <a:cs typeface="Consolas" pitchFamily="34" charset="-120"/>
              </a:rPr>
              <a:t>cardNumber</a:t>
            </a:r>
            <a:endParaRPr lang="en-US" sz="1500" dirty="0"/>
          </a:p>
          <a:p>
            <a:pPr marL="0" indent="0">
              <a:lnSpc>
                <a:spcPct val="135000"/>
              </a:lnSpc>
              <a:buNone/>
            </a:pPr>
            <a:r>
              <a:rPr lang="en-US" sz="1500" dirty="0">
                <a:solidFill>
                  <a:srgbClr val="9CDCFE"/>
                </a:solidFill>
                <a:latin typeface="Consolas" pitchFamily="34" charset="0"/>
                <a:ea typeface="Consolas" pitchFamily="34" charset="-122"/>
                <a:cs typeface="Consolas" pitchFamily="34" charset="-120"/>
              </a:rPr>
              <a:t>expiry</a:t>
            </a:r>
            <a:endParaRPr lang="en-US" sz="1500" dirty="0"/>
          </a:p>
        </p:txBody>
      </p:sp>
      <p:sp>
        <p:nvSpPr>
          <p:cNvPr id="7" name="Shape 5"/>
          <p:cNvSpPr/>
          <p:nvPr/>
        </p:nvSpPr>
        <p:spPr>
          <a:xfrm>
            <a:off x="3703320" y="3493008"/>
            <a:ext cx="502920" cy="292608"/>
          </a:xfrm>
          <a:prstGeom prst="rightArrow">
            <a:avLst/>
          </a:prstGeom>
          <a:solidFill>
            <a:srgbClr val="5A6B78"/>
          </a:solidFill>
          <a:ln/>
        </p:spPr>
        <p:txBody>
          <a:bodyPr/>
          <a:lstStyle/>
          <a:p>
            <a:endParaRPr lang="en-AU"/>
          </a:p>
        </p:txBody>
      </p:sp>
      <p:sp>
        <p:nvSpPr>
          <p:cNvPr id="8" name="Shape 6"/>
          <p:cNvSpPr/>
          <p:nvPr/>
        </p:nvSpPr>
        <p:spPr>
          <a:xfrm>
            <a:off x="4343400" y="2331720"/>
            <a:ext cx="7223760" cy="749808"/>
          </a:xfrm>
          <a:prstGeom prst="roundRect">
            <a:avLst>
              <a:gd name="adj" fmla="val 8537"/>
            </a:avLst>
          </a:prstGeom>
          <a:solidFill>
            <a:srgbClr val="EAF6EF"/>
          </a:solidFill>
          <a:ln w="19050">
            <a:solidFill>
              <a:srgbClr val="5FB85F"/>
            </a:solidFill>
            <a:prstDash val="solid"/>
          </a:ln>
        </p:spPr>
        <p:txBody>
          <a:bodyPr/>
          <a:lstStyle/>
          <a:p>
            <a:endParaRPr lang="en-AU"/>
          </a:p>
        </p:txBody>
      </p:sp>
      <p:sp>
        <p:nvSpPr>
          <p:cNvPr id="9" name="Text 7"/>
          <p:cNvSpPr/>
          <p:nvPr/>
        </p:nvSpPr>
        <p:spPr>
          <a:xfrm>
            <a:off x="4572000" y="2331720"/>
            <a:ext cx="2377440" cy="749808"/>
          </a:xfrm>
          <a:prstGeom prst="rect">
            <a:avLst/>
          </a:prstGeom>
          <a:noFill/>
          <a:ln/>
        </p:spPr>
        <p:txBody>
          <a:bodyPr wrap="square" lIns="0" tIns="0" rIns="0" bIns="0" rtlCol="0" anchor="ctr"/>
          <a:lstStyle/>
          <a:p>
            <a:pPr marL="0" indent="0">
              <a:buNone/>
            </a:pPr>
            <a:r>
              <a:rPr lang="en-US" sz="1450" b="1" dirty="0">
                <a:solidFill>
                  <a:srgbClr val="F6AE2D"/>
                </a:solidFill>
                <a:latin typeface="Consolas" pitchFamily="34" charset="0"/>
                <a:ea typeface="Consolas" pitchFamily="34" charset="-122"/>
                <a:cs typeface="Consolas" pitchFamily="34" charset="-120"/>
              </a:rPr>
              <a:t>CardForm</a:t>
            </a:r>
            <a:endParaRPr lang="en-US" sz="1450" dirty="0"/>
          </a:p>
        </p:txBody>
      </p:sp>
      <p:sp>
        <p:nvSpPr>
          <p:cNvPr id="10" name="Text 8"/>
          <p:cNvSpPr/>
          <p:nvPr/>
        </p:nvSpPr>
        <p:spPr>
          <a:xfrm>
            <a:off x="6995160" y="2331720"/>
            <a:ext cx="3566160" cy="749808"/>
          </a:xfrm>
          <a:prstGeom prst="rect">
            <a:avLst/>
          </a:prstGeom>
          <a:noFill/>
          <a:ln/>
        </p:spPr>
        <p:txBody>
          <a:bodyPr wrap="square" lIns="0" tIns="0" rIns="0" bIns="0" rtlCol="0" anchor="ctr"/>
          <a:lstStyle/>
          <a:p>
            <a:pPr marL="0" indent="0">
              <a:buNone/>
            </a:pPr>
            <a:r>
              <a:rPr lang="en-US" sz="1350" dirty="0">
                <a:solidFill>
                  <a:srgbClr val="1F2A33"/>
                </a:solidFill>
                <a:latin typeface="Calibri" pitchFamily="34" charset="0"/>
                <a:ea typeface="Calibri" pitchFamily="34" charset="-122"/>
                <a:cs typeface="Calibri" pitchFamily="34" charset="-120"/>
              </a:rPr>
              <a:t>requires cardNumber + expiry — present</a:t>
            </a:r>
            <a:endParaRPr lang="en-US" sz="1350" dirty="0"/>
          </a:p>
        </p:txBody>
      </p:sp>
      <p:sp>
        <p:nvSpPr>
          <p:cNvPr id="11" name="Shape 9"/>
          <p:cNvSpPr/>
          <p:nvPr/>
        </p:nvSpPr>
        <p:spPr>
          <a:xfrm>
            <a:off x="10945368" y="2487168"/>
            <a:ext cx="438912" cy="438912"/>
          </a:xfrm>
          <a:prstGeom prst="ellipse">
            <a:avLst/>
          </a:prstGeom>
          <a:solidFill>
            <a:srgbClr val="3FA45A"/>
          </a:solidFill>
          <a:ln/>
        </p:spPr>
        <p:txBody>
          <a:bodyPr/>
          <a:lstStyle/>
          <a:p>
            <a:endParaRPr lang="en-AU"/>
          </a:p>
        </p:txBody>
      </p:sp>
      <p:sp>
        <p:nvSpPr>
          <p:cNvPr id="12" name="Text 10"/>
          <p:cNvSpPr/>
          <p:nvPr/>
        </p:nvSpPr>
        <p:spPr>
          <a:xfrm>
            <a:off x="10945368" y="2487168"/>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4343400" y="3282696"/>
            <a:ext cx="7223760" cy="749808"/>
          </a:xfrm>
          <a:prstGeom prst="roundRect">
            <a:avLst>
              <a:gd name="adj" fmla="val 8537"/>
            </a:avLst>
          </a:prstGeom>
          <a:solidFill>
            <a:srgbClr val="EAF1F5"/>
          </a:solidFill>
          <a:ln w="12700">
            <a:solidFill>
              <a:srgbClr val="D4DFE7"/>
            </a:solidFill>
            <a:prstDash val="solid"/>
          </a:ln>
        </p:spPr>
        <p:txBody>
          <a:bodyPr/>
          <a:lstStyle/>
          <a:p>
            <a:endParaRPr lang="en-AU"/>
          </a:p>
        </p:txBody>
      </p:sp>
      <p:sp>
        <p:nvSpPr>
          <p:cNvPr id="14" name="Text 12"/>
          <p:cNvSpPr/>
          <p:nvPr/>
        </p:nvSpPr>
        <p:spPr>
          <a:xfrm>
            <a:off x="4572000" y="3282696"/>
            <a:ext cx="2377440" cy="749808"/>
          </a:xfrm>
          <a:prstGeom prst="rect">
            <a:avLst/>
          </a:prstGeom>
          <a:noFill/>
          <a:ln/>
        </p:spPr>
        <p:txBody>
          <a:bodyPr wrap="square" lIns="0" tIns="0" rIns="0" bIns="0" rtlCol="0" anchor="ctr"/>
          <a:lstStyle/>
          <a:p>
            <a:pPr marL="0" indent="0">
              <a:buNone/>
            </a:pPr>
            <a:r>
              <a:rPr lang="en-US" sz="1450" b="1" dirty="0">
                <a:solidFill>
                  <a:srgbClr val="1C7293"/>
                </a:solidFill>
                <a:latin typeface="Consolas" pitchFamily="34" charset="0"/>
                <a:ea typeface="Consolas" pitchFamily="34" charset="-122"/>
                <a:cs typeface="Consolas" pitchFamily="34" charset="-120"/>
              </a:rPr>
              <a:t>TransferForm</a:t>
            </a:r>
            <a:endParaRPr lang="en-US" sz="1450" dirty="0"/>
          </a:p>
        </p:txBody>
      </p:sp>
      <p:sp>
        <p:nvSpPr>
          <p:cNvPr id="15" name="Text 13"/>
          <p:cNvSpPr/>
          <p:nvPr/>
        </p:nvSpPr>
        <p:spPr>
          <a:xfrm>
            <a:off x="6995160" y="3282696"/>
            <a:ext cx="3566160" cy="749808"/>
          </a:xfrm>
          <a:prstGeom prst="rect">
            <a:avLst/>
          </a:prstGeom>
          <a:noFill/>
          <a:ln/>
        </p:spPr>
        <p:txBody>
          <a:bodyPr wrap="square" lIns="0" tIns="0" rIns="0" bIns="0" rtlCol="0" anchor="ctr"/>
          <a:lstStyle/>
          <a:p>
            <a:pPr marL="0" indent="0">
              <a:buNone/>
            </a:pPr>
            <a:r>
              <a:rPr lang="en-US" sz="1350" dirty="0">
                <a:solidFill>
                  <a:srgbClr val="5A6B78"/>
                </a:solidFill>
                <a:latin typeface="Calibri" pitchFamily="34" charset="0"/>
                <a:ea typeface="Calibri" pitchFamily="34" charset="-122"/>
                <a:cs typeface="Calibri" pitchFamily="34" charset="-120"/>
              </a:rPr>
              <a:t>requires iban + bic — absent</a:t>
            </a:r>
            <a:endParaRPr lang="en-US" sz="1350" dirty="0"/>
          </a:p>
        </p:txBody>
      </p:sp>
      <p:sp>
        <p:nvSpPr>
          <p:cNvPr id="16" name="Shape 14"/>
          <p:cNvSpPr/>
          <p:nvPr/>
        </p:nvSpPr>
        <p:spPr>
          <a:xfrm>
            <a:off x="10945368" y="3438144"/>
            <a:ext cx="438912" cy="438912"/>
          </a:xfrm>
          <a:prstGeom prst="ellipse">
            <a:avLst/>
          </a:prstGeom>
          <a:solidFill>
            <a:srgbClr val="C0CCD6"/>
          </a:solidFill>
          <a:ln/>
        </p:spPr>
        <p:txBody>
          <a:bodyPr/>
          <a:lstStyle/>
          <a:p>
            <a:endParaRPr lang="en-AU"/>
          </a:p>
        </p:txBody>
      </p:sp>
      <p:sp>
        <p:nvSpPr>
          <p:cNvPr id="17" name="Text 15"/>
          <p:cNvSpPr/>
          <p:nvPr/>
        </p:nvSpPr>
        <p:spPr>
          <a:xfrm>
            <a:off x="10945368" y="3438144"/>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4343400" y="4233672"/>
            <a:ext cx="7223760" cy="749808"/>
          </a:xfrm>
          <a:prstGeom prst="roundRect">
            <a:avLst>
              <a:gd name="adj" fmla="val 8537"/>
            </a:avLst>
          </a:prstGeom>
          <a:solidFill>
            <a:srgbClr val="EAF1F5"/>
          </a:solidFill>
          <a:ln w="12700">
            <a:solidFill>
              <a:srgbClr val="D4DFE7"/>
            </a:solidFill>
            <a:prstDash val="solid"/>
          </a:ln>
        </p:spPr>
        <p:txBody>
          <a:bodyPr/>
          <a:lstStyle/>
          <a:p>
            <a:endParaRPr lang="en-AU"/>
          </a:p>
        </p:txBody>
      </p:sp>
      <p:sp>
        <p:nvSpPr>
          <p:cNvPr id="19" name="Text 17"/>
          <p:cNvSpPr/>
          <p:nvPr/>
        </p:nvSpPr>
        <p:spPr>
          <a:xfrm>
            <a:off x="4572000" y="4233672"/>
            <a:ext cx="2377440" cy="749808"/>
          </a:xfrm>
          <a:prstGeom prst="rect">
            <a:avLst/>
          </a:prstGeom>
          <a:noFill/>
          <a:ln/>
        </p:spPr>
        <p:txBody>
          <a:bodyPr wrap="square" lIns="0" tIns="0" rIns="0" bIns="0" rtlCol="0" anchor="ctr"/>
          <a:lstStyle/>
          <a:p>
            <a:pPr marL="0" indent="0">
              <a:buNone/>
            </a:pPr>
            <a:r>
              <a:rPr lang="en-US" sz="1450" b="1" dirty="0">
                <a:solidFill>
                  <a:srgbClr val="065A82"/>
                </a:solidFill>
                <a:latin typeface="Consolas" pitchFamily="34" charset="0"/>
                <a:ea typeface="Consolas" pitchFamily="34" charset="-122"/>
                <a:cs typeface="Consolas" pitchFamily="34" charset="-120"/>
              </a:rPr>
              <a:t>WalletForm</a:t>
            </a:r>
            <a:endParaRPr lang="en-US" sz="1450" dirty="0"/>
          </a:p>
        </p:txBody>
      </p:sp>
      <p:sp>
        <p:nvSpPr>
          <p:cNvPr id="20" name="Text 18"/>
          <p:cNvSpPr/>
          <p:nvPr/>
        </p:nvSpPr>
        <p:spPr>
          <a:xfrm>
            <a:off x="6995160" y="4233672"/>
            <a:ext cx="3566160" cy="749808"/>
          </a:xfrm>
          <a:prstGeom prst="rect">
            <a:avLst/>
          </a:prstGeom>
          <a:noFill/>
          <a:ln/>
        </p:spPr>
        <p:txBody>
          <a:bodyPr wrap="square" lIns="0" tIns="0" rIns="0" bIns="0" rtlCol="0" anchor="ctr"/>
          <a:lstStyle/>
          <a:p>
            <a:pPr marL="0" indent="0">
              <a:buNone/>
            </a:pPr>
            <a:r>
              <a:rPr lang="en-US" sz="1350" dirty="0">
                <a:solidFill>
                  <a:srgbClr val="5A6B78"/>
                </a:solidFill>
                <a:latin typeface="Calibri" pitchFamily="34" charset="0"/>
                <a:ea typeface="Calibri" pitchFamily="34" charset="-122"/>
                <a:cs typeface="Calibri" pitchFamily="34" charset="-120"/>
              </a:rPr>
              <a:t>requires walletId — absent</a:t>
            </a:r>
            <a:endParaRPr lang="en-US" sz="1350" dirty="0"/>
          </a:p>
        </p:txBody>
      </p:sp>
      <p:sp>
        <p:nvSpPr>
          <p:cNvPr id="21" name="Shape 19"/>
          <p:cNvSpPr/>
          <p:nvPr/>
        </p:nvSpPr>
        <p:spPr>
          <a:xfrm>
            <a:off x="10945368" y="4389120"/>
            <a:ext cx="438912" cy="438912"/>
          </a:xfrm>
          <a:prstGeom prst="ellipse">
            <a:avLst/>
          </a:prstGeom>
          <a:solidFill>
            <a:srgbClr val="C0CCD6"/>
          </a:solidFill>
          <a:ln/>
        </p:spPr>
        <p:txBody>
          <a:bodyPr/>
          <a:lstStyle/>
          <a:p>
            <a:endParaRPr lang="en-AU"/>
          </a:p>
        </p:txBody>
      </p:sp>
      <p:sp>
        <p:nvSpPr>
          <p:cNvPr id="22" name="Text 20"/>
          <p:cNvSpPr/>
          <p:nvPr/>
        </p:nvSpPr>
        <p:spPr>
          <a:xfrm>
            <a:off x="10945368" y="43891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640080" y="5257800"/>
            <a:ext cx="10881360" cy="1097280"/>
          </a:xfrm>
          <a:prstGeom prst="roundRect">
            <a:avLst>
              <a:gd name="adj" fmla="val 6667"/>
            </a:avLst>
          </a:prstGeom>
          <a:solidFill>
            <a:srgbClr val="EAF1F5"/>
          </a:solidFill>
          <a:ln/>
        </p:spPr>
        <p:txBody>
          <a:bodyPr/>
          <a:lstStyle/>
          <a:p>
            <a:endParaRPr lang="en-AU"/>
          </a:p>
        </p:txBody>
      </p:sp>
      <p:sp>
        <p:nvSpPr>
          <p:cNvPr id="24" name="Text 22"/>
          <p:cNvSpPr/>
          <p:nvPr/>
        </p:nvSpPr>
        <p:spPr>
          <a:xfrm>
            <a:off x="914400" y="5257800"/>
            <a:ext cx="10332720" cy="1097280"/>
          </a:xfrm>
          <a:prstGeom prst="rect">
            <a:avLst/>
          </a:prstGeom>
          <a:noFill/>
          <a:ln/>
        </p:spPr>
        <p:txBody>
          <a:bodyPr wrap="square" lIns="0" tIns="0" rIns="0" bIns="0" rtlCol="0" anchor="ctr"/>
          <a:lstStyle/>
          <a:p>
            <a:pPr marL="0" indent="0">
              <a:lnSpc>
                <a:spcPct val="112000"/>
              </a:lnSpc>
              <a:buNone/>
            </a:pPr>
            <a:r>
              <a:rPr lang="en-US" sz="1500" b="1" dirty="0">
                <a:solidFill>
                  <a:srgbClr val="21295C"/>
                </a:solidFill>
                <a:latin typeface="Calibri" pitchFamily="34" charset="0"/>
                <a:ea typeface="Calibri" pitchFamily="34" charset="-122"/>
                <a:cs typeface="Calibri" pitchFamily="34" charset="-120"/>
              </a:rPr>
              <a:t>Exactly one match  →  </a:t>
            </a:r>
            <a:r>
              <a:rPr lang="en-US" sz="1500" dirty="0">
                <a:solidFill>
                  <a:srgbClr val="1F2A33"/>
                </a:solidFill>
                <a:latin typeface="Calibri" pitchFamily="34" charset="0"/>
                <a:ea typeface="Calibri" pitchFamily="34" charset="-122"/>
                <a:cs typeface="Calibri" pitchFamily="34" charset="-120"/>
              </a:rPr>
              <a:t>the body binds to CardForm.   </a:t>
            </a:r>
            <a:r>
              <a:rPr lang="en-US" sz="1500" i="1" dirty="0">
                <a:solidFill>
                  <a:srgbClr val="9A6A00"/>
                </a:solidFill>
                <a:latin typeface="Calibri" pitchFamily="34" charset="0"/>
                <a:ea typeface="Calibri" pitchFamily="34" charset="-122"/>
                <a:cs typeface="Calibri" pitchFamily="34" charset="-120"/>
              </a:rPr>
              <a:t>Zero or two matches is a validation error — an ambiguous “overload.” An absent optional field never rules a form out.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85800"/>
          </a:xfrm>
          <a:prstGeom prst="rect">
            <a:avLst/>
          </a:prstGeom>
          <a:noFill/>
          <a:ln/>
        </p:spPr>
        <p:txBody>
          <a:bodyPr wrap="square" lIns="0" tIns="0" rIns="0" bIns="0" rtlCol="0" anchor="ctr"/>
          <a:lstStyle/>
          <a:p>
            <a:pPr marL="0" indent="0">
              <a:buNone/>
            </a:pPr>
            <a:r>
              <a:rPr lang="en-US" sz="3400" b="1" dirty="0">
                <a:solidFill>
                  <a:srgbClr val="21295C"/>
                </a:solidFill>
                <a:latin typeface="Cambria" pitchFamily="34" charset="0"/>
                <a:ea typeface="Cambria" pitchFamily="34" charset="-122"/>
                <a:cs typeface="Cambria" pitchFamily="34" charset="-120"/>
              </a:rPr>
              <a:t>Tag-driven vs shape-driven — the C++ parallel</a:t>
            </a:r>
            <a:endParaRPr lang="en-US" sz="3400" dirty="0"/>
          </a:p>
        </p:txBody>
      </p:sp>
      <p:sp>
        <p:nvSpPr>
          <p:cNvPr id="3" name="Text 1"/>
          <p:cNvSpPr/>
          <p:nvPr/>
        </p:nvSpPr>
        <p:spPr>
          <a:xfrm>
            <a:off x="640080" y="1078992"/>
            <a:ext cx="10972800" cy="41148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Two ways to resolve the concrete type, each mirroring a different C++ mechanism.</a:t>
            </a:r>
            <a:endParaRPr lang="en-US" sz="1500" dirty="0"/>
          </a:p>
        </p:txBody>
      </p:sp>
      <p:sp>
        <p:nvSpPr>
          <p:cNvPr id="4" name="Shape 2"/>
          <p:cNvSpPr/>
          <p:nvPr/>
        </p:nvSpPr>
        <p:spPr>
          <a:xfrm>
            <a:off x="640080" y="1645920"/>
            <a:ext cx="5257800" cy="3383280"/>
          </a:xfrm>
          <a:prstGeom prst="roundRect">
            <a:avLst>
              <a:gd name="adj" fmla="val 2703"/>
            </a:avLst>
          </a:prstGeom>
          <a:solidFill>
            <a:srgbClr val="EAF1F5"/>
          </a:solidFill>
          <a:ln/>
          <a:effectLst>
            <a:outerShdw blurRad="76200" dist="25400" dir="5400000" algn="bl" rotWithShape="0">
              <a:srgbClr val="9FB3C8">
                <a:alpha val="30000"/>
              </a:srgbClr>
            </a:outerShdw>
          </a:effectLst>
        </p:spPr>
        <p:txBody>
          <a:bodyPr/>
          <a:lstStyle/>
          <a:p>
            <a:endParaRPr lang="en-AU"/>
          </a:p>
        </p:txBody>
      </p:sp>
      <p:sp>
        <p:nvSpPr>
          <p:cNvPr id="5" name="Shape 3"/>
          <p:cNvSpPr/>
          <p:nvPr/>
        </p:nvSpPr>
        <p:spPr>
          <a:xfrm>
            <a:off x="640080" y="1645920"/>
            <a:ext cx="5257800" cy="822960"/>
          </a:xfrm>
          <a:prstGeom prst="roundRect">
            <a:avLst>
              <a:gd name="adj" fmla="val 11111"/>
            </a:avLst>
          </a:prstGeom>
          <a:solidFill>
            <a:srgbClr val="065A82"/>
          </a:solidFill>
          <a:ln/>
        </p:spPr>
        <p:txBody>
          <a:bodyPr/>
          <a:lstStyle/>
          <a:p>
            <a:endParaRPr lang="en-AU"/>
          </a:p>
        </p:txBody>
      </p:sp>
      <p:sp>
        <p:nvSpPr>
          <p:cNvPr id="6" name="Text 4"/>
          <p:cNvSpPr/>
          <p:nvPr/>
        </p:nvSpPr>
        <p:spPr>
          <a:xfrm>
            <a:off x="1005840" y="1755648"/>
            <a:ext cx="4526280" cy="274320"/>
          </a:xfrm>
          <a:prstGeom prst="rect">
            <a:avLst/>
          </a:prstGeom>
          <a:noFill/>
          <a:ln/>
        </p:spPr>
        <p:txBody>
          <a:bodyPr wrap="square" lIns="0" tIns="0" rIns="0" bIns="0" rtlCol="0" anchor="ctr"/>
          <a:lstStyle/>
          <a:p>
            <a:pPr marL="0" indent="0">
              <a:buNone/>
            </a:pPr>
            <a:r>
              <a:rPr lang="en-US" sz="1100" b="1" kern="0" spc="150" dirty="0">
                <a:solidFill>
                  <a:srgbClr val="CADCFC"/>
                </a:solidFill>
                <a:latin typeface="Calibri" pitchFamily="34" charset="0"/>
                <a:ea typeface="Calibri" pitchFamily="34" charset="-122"/>
                <a:cs typeface="Calibri" pitchFamily="34" charset="-120"/>
              </a:rPr>
              <a:t>EXPLICIT · TAG-DRIVEN</a:t>
            </a:r>
            <a:endParaRPr lang="en-US" sz="1100" dirty="0"/>
          </a:p>
        </p:txBody>
      </p:sp>
      <p:sp>
        <p:nvSpPr>
          <p:cNvPr id="7" name="Text 5"/>
          <p:cNvSpPr/>
          <p:nvPr/>
        </p:nvSpPr>
        <p:spPr>
          <a:xfrm>
            <a:off x="1005840" y="1993392"/>
            <a:ext cx="4526280" cy="457200"/>
          </a:xfrm>
          <a:prstGeom prst="rect">
            <a:avLst/>
          </a:prstGeom>
          <a:noFill/>
          <a:ln/>
        </p:spPr>
        <p:txBody>
          <a:bodyPr wrap="square" lIns="0" tIns="0" rIns="0" bIns="0" rtlCol="0" anchor="ctr"/>
          <a:lstStyle/>
          <a:p>
            <a:pPr marL="0" indent="0">
              <a:buNone/>
            </a:pPr>
            <a:r>
              <a:rPr lang="en-US" sz="1900" b="1" dirty="0">
                <a:solidFill>
                  <a:srgbClr val="FFFFFF"/>
                </a:solidFill>
                <a:latin typeface="Consolas" pitchFamily="34" charset="0"/>
                <a:ea typeface="Consolas" pitchFamily="34" charset="-122"/>
                <a:cs typeface="Consolas" pitchFamily="34" charset="-120"/>
              </a:rPr>
              <a:t>discriminator</a:t>
            </a:r>
            <a:endParaRPr lang="en-US" sz="1900" dirty="0"/>
          </a:p>
        </p:txBody>
      </p:sp>
      <p:sp>
        <p:nvSpPr>
          <p:cNvPr id="8" name="Shape 6"/>
          <p:cNvSpPr/>
          <p:nvPr/>
        </p:nvSpPr>
        <p:spPr>
          <a:xfrm>
            <a:off x="1024128" y="2688336"/>
            <a:ext cx="118872" cy="118872"/>
          </a:xfrm>
          <a:prstGeom prst="ellipse">
            <a:avLst/>
          </a:prstGeom>
          <a:solidFill>
            <a:srgbClr val="065A82"/>
          </a:solidFill>
          <a:ln/>
        </p:spPr>
        <p:txBody>
          <a:bodyPr/>
          <a:lstStyle/>
          <a:p>
            <a:endParaRPr lang="en-AU"/>
          </a:p>
        </p:txBody>
      </p:sp>
      <p:sp>
        <p:nvSpPr>
          <p:cNvPr id="9" name="Text 7"/>
          <p:cNvSpPr/>
          <p:nvPr/>
        </p:nvSpPr>
        <p:spPr>
          <a:xfrm>
            <a:off x="1298448" y="2578608"/>
            <a:ext cx="4251960" cy="457200"/>
          </a:xfrm>
          <a:prstGeom prst="rect">
            <a:avLst/>
          </a:prstGeom>
          <a:noFill/>
          <a:ln/>
        </p:spPr>
        <p:txBody>
          <a:bodyPr wrap="square" lIns="0" tIns="0" rIns="0" bIns="0" rtlCol="0" anchor="ctr"/>
          <a:lstStyle/>
          <a:p>
            <a:pPr marL="0" indent="0">
              <a:lnSpc>
                <a:spcPct val="100000"/>
              </a:lnSpc>
              <a:buNone/>
            </a:pPr>
            <a:r>
              <a:rPr lang="en-US" sz="1400" dirty="0">
                <a:solidFill>
                  <a:srgbClr val="1F2A33"/>
                </a:solidFill>
                <a:latin typeface="Calibri" pitchFamily="34" charset="0"/>
                <a:ea typeface="Calibri" pitchFamily="34" charset="-122"/>
                <a:cs typeface="Calibri" pitchFamily="34" charset="-120"/>
              </a:rPr>
              <a:t>Payload carries a type tag (paymentType)</a:t>
            </a:r>
            <a:endParaRPr lang="en-US" sz="1400" dirty="0"/>
          </a:p>
        </p:txBody>
      </p:sp>
      <p:sp>
        <p:nvSpPr>
          <p:cNvPr id="10" name="Shape 8"/>
          <p:cNvSpPr/>
          <p:nvPr/>
        </p:nvSpPr>
        <p:spPr>
          <a:xfrm>
            <a:off x="1024128" y="3145536"/>
            <a:ext cx="118872" cy="118872"/>
          </a:xfrm>
          <a:prstGeom prst="ellipse">
            <a:avLst/>
          </a:prstGeom>
          <a:solidFill>
            <a:srgbClr val="065A82"/>
          </a:solidFill>
          <a:ln/>
        </p:spPr>
        <p:txBody>
          <a:bodyPr/>
          <a:lstStyle/>
          <a:p>
            <a:endParaRPr lang="en-AU"/>
          </a:p>
        </p:txBody>
      </p:sp>
      <p:sp>
        <p:nvSpPr>
          <p:cNvPr id="11" name="Text 9"/>
          <p:cNvSpPr/>
          <p:nvPr/>
        </p:nvSpPr>
        <p:spPr>
          <a:xfrm>
            <a:off x="1298448" y="3035808"/>
            <a:ext cx="4251960" cy="457200"/>
          </a:xfrm>
          <a:prstGeom prst="rect">
            <a:avLst/>
          </a:prstGeom>
          <a:noFill/>
          <a:ln/>
        </p:spPr>
        <p:txBody>
          <a:bodyPr wrap="square" lIns="0" tIns="0" rIns="0" bIns="0" rtlCol="0" anchor="ctr"/>
          <a:lstStyle/>
          <a:p>
            <a:pPr marL="0" indent="0">
              <a:lnSpc>
                <a:spcPct val="100000"/>
              </a:lnSpc>
              <a:buNone/>
            </a:pPr>
            <a:r>
              <a:rPr lang="en-US" sz="1400" dirty="0">
                <a:solidFill>
                  <a:srgbClr val="1F2A33"/>
                </a:solidFill>
                <a:latin typeface="Calibri" pitchFamily="34" charset="0"/>
                <a:ea typeface="Calibri" pitchFamily="34" charset="-122"/>
                <a:cs typeface="Calibri" pitchFamily="34" charset="-120"/>
              </a:rPr>
              <a:t>Server does a direct mapping lookup</a:t>
            </a:r>
            <a:endParaRPr lang="en-US" sz="1400" dirty="0"/>
          </a:p>
        </p:txBody>
      </p:sp>
      <p:sp>
        <p:nvSpPr>
          <p:cNvPr id="12" name="Shape 10"/>
          <p:cNvSpPr/>
          <p:nvPr/>
        </p:nvSpPr>
        <p:spPr>
          <a:xfrm>
            <a:off x="1024128" y="3602736"/>
            <a:ext cx="118872" cy="118872"/>
          </a:xfrm>
          <a:prstGeom prst="ellipse">
            <a:avLst/>
          </a:prstGeom>
          <a:solidFill>
            <a:srgbClr val="065A82"/>
          </a:solidFill>
          <a:ln/>
        </p:spPr>
        <p:txBody>
          <a:bodyPr/>
          <a:lstStyle/>
          <a:p>
            <a:endParaRPr lang="en-AU"/>
          </a:p>
        </p:txBody>
      </p:sp>
      <p:sp>
        <p:nvSpPr>
          <p:cNvPr id="13" name="Text 11"/>
          <p:cNvSpPr/>
          <p:nvPr/>
        </p:nvSpPr>
        <p:spPr>
          <a:xfrm>
            <a:off x="1298448" y="3493008"/>
            <a:ext cx="4251960" cy="457200"/>
          </a:xfrm>
          <a:prstGeom prst="rect">
            <a:avLst/>
          </a:prstGeom>
          <a:noFill/>
          <a:ln/>
        </p:spPr>
        <p:txBody>
          <a:bodyPr wrap="square" lIns="0" tIns="0" rIns="0" bIns="0" rtlCol="0" anchor="ctr"/>
          <a:lstStyle/>
          <a:p>
            <a:pPr marL="0" indent="0">
              <a:lnSpc>
                <a:spcPct val="100000"/>
              </a:lnSpc>
              <a:buNone/>
            </a:pPr>
            <a:r>
              <a:rPr lang="en-US" sz="1400" dirty="0">
                <a:solidFill>
                  <a:srgbClr val="1F2A33"/>
                </a:solidFill>
                <a:latin typeface="Calibri" pitchFamily="34" charset="0"/>
                <a:ea typeface="Calibri" pitchFamily="34" charset="-122"/>
                <a:cs typeface="Calibri" pitchFamily="34" charset="-120"/>
              </a:rPr>
              <a:t>Unambiguous, generator-friendly — the default</a:t>
            </a:r>
            <a:endParaRPr lang="en-US" sz="1400" dirty="0"/>
          </a:p>
        </p:txBody>
      </p:sp>
      <p:sp>
        <p:nvSpPr>
          <p:cNvPr id="14" name="Shape 12"/>
          <p:cNvSpPr/>
          <p:nvPr/>
        </p:nvSpPr>
        <p:spPr>
          <a:xfrm>
            <a:off x="1005840" y="4069080"/>
            <a:ext cx="4526280" cy="868680"/>
          </a:xfrm>
          <a:prstGeom prst="roundRect">
            <a:avLst>
              <a:gd name="adj" fmla="val 6316"/>
            </a:avLst>
          </a:prstGeom>
          <a:solidFill>
            <a:srgbClr val="21295C"/>
          </a:solidFill>
          <a:ln/>
        </p:spPr>
        <p:txBody>
          <a:bodyPr/>
          <a:lstStyle/>
          <a:p>
            <a:endParaRPr lang="en-AU"/>
          </a:p>
        </p:txBody>
      </p:sp>
      <p:sp>
        <p:nvSpPr>
          <p:cNvPr id="15" name="Text 13"/>
          <p:cNvSpPr/>
          <p:nvPr/>
        </p:nvSpPr>
        <p:spPr>
          <a:xfrm>
            <a:off x="1188720" y="4187952"/>
            <a:ext cx="4160520" cy="658368"/>
          </a:xfrm>
          <a:prstGeom prst="rect">
            <a:avLst/>
          </a:prstGeom>
          <a:noFill/>
          <a:ln/>
        </p:spPr>
        <p:txBody>
          <a:bodyPr wrap="square" lIns="0" tIns="0" rIns="0" bIns="0" rtlCol="0" anchor="ctr"/>
          <a:lstStyle/>
          <a:p>
            <a:pPr marL="0" indent="0">
              <a:lnSpc>
                <a:spcPct val="108000"/>
              </a:lnSpc>
              <a:buNone/>
            </a:pPr>
            <a:r>
              <a:rPr lang="en-US" sz="1350" b="1" dirty="0">
                <a:solidFill>
                  <a:srgbClr val="F6AE2D"/>
                </a:solidFill>
                <a:latin typeface="Calibri" pitchFamily="34" charset="0"/>
                <a:ea typeface="Calibri" pitchFamily="34" charset="-122"/>
                <a:cs typeface="Calibri" pitchFamily="34" charset="-120"/>
              </a:rPr>
              <a:t>≈ virtual dispatch  </a:t>
            </a:r>
            <a:r>
              <a:rPr lang="en-US" sz="1350" dirty="0">
                <a:solidFill>
                  <a:srgbClr val="CADCFC"/>
                </a:solidFill>
                <a:latin typeface="Calibri" pitchFamily="34" charset="0"/>
                <a:ea typeface="Calibri" pitchFamily="34" charset="-122"/>
                <a:cs typeface="Calibri" pitchFamily="34" charset="-120"/>
              </a:rPr>
              <a:t>the object’s type is known and drives the call.</a:t>
            </a:r>
            <a:endParaRPr lang="en-US" sz="1350" dirty="0"/>
          </a:p>
        </p:txBody>
      </p:sp>
      <p:sp>
        <p:nvSpPr>
          <p:cNvPr id="16" name="Shape 14"/>
          <p:cNvSpPr/>
          <p:nvPr/>
        </p:nvSpPr>
        <p:spPr>
          <a:xfrm>
            <a:off x="6291072" y="1645920"/>
            <a:ext cx="5257800" cy="3383280"/>
          </a:xfrm>
          <a:prstGeom prst="roundRect">
            <a:avLst>
              <a:gd name="adj" fmla="val 2703"/>
            </a:avLst>
          </a:prstGeom>
          <a:solidFill>
            <a:srgbClr val="EAF1F5"/>
          </a:solidFill>
          <a:ln/>
          <a:effectLst>
            <a:outerShdw blurRad="76200" dist="25400" dir="5400000" algn="bl" rotWithShape="0">
              <a:srgbClr val="9FB3C8">
                <a:alpha val="30000"/>
              </a:srgbClr>
            </a:outerShdw>
          </a:effectLst>
        </p:spPr>
        <p:txBody>
          <a:bodyPr/>
          <a:lstStyle/>
          <a:p>
            <a:endParaRPr lang="en-AU"/>
          </a:p>
        </p:txBody>
      </p:sp>
      <p:sp>
        <p:nvSpPr>
          <p:cNvPr id="17" name="Shape 15"/>
          <p:cNvSpPr/>
          <p:nvPr/>
        </p:nvSpPr>
        <p:spPr>
          <a:xfrm>
            <a:off x="6291072" y="1645920"/>
            <a:ext cx="5257800" cy="822960"/>
          </a:xfrm>
          <a:prstGeom prst="roundRect">
            <a:avLst>
              <a:gd name="adj" fmla="val 11111"/>
            </a:avLst>
          </a:prstGeom>
          <a:solidFill>
            <a:srgbClr val="1C7293"/>
          </a:solidFill>
          <a:ln/>
        </p:spPr>
        <p:txBody>
          <a:bodyPr/>
          <a:lstStyle/>
          <a:p>
            <a:endParaRPr lang="en-AU"/>
          </a:p>
        </p:txBody>
      </p:sp>
      <p:sp>
        <p:nvSpPr>
          <p:cNvPr id="18" name="Text 16"/>
          <p:cNvSpPr/>
          <p:nvPr/>
        </p:nvSpPr>
        <p:spPr>
          <a:xfrm>
            <a:off x="6656832" y="1755648"/>
            <a:ext cx="4526280" cy="274320"/>
          </a:xfrm>
          <a:prstGeom prst="rect">
            <a:avLst/>
          </a:prstGeom>
          <a:noFill/>
          <a:ln/>
        </p:spPr>
        <p:txBody>
          <a:bodyPr wrap="square" lIns="0" tIns="0" rIns="0" bIns="0" rtlCol="0" anchor="ctr"/>
          <a:lstStyle/>
          <a:p>
            <a:pPr marL="0" indent="0">
              <a:buNone/>
            </a:pPr>
            <a:r>
              <a:rPr lang="en-US" sz="1100" b="1" kern="0" spc="150" dirty="0">
                <a:solidFill>
                  <a:srgbClr val="CADCFC"/>
                </a:solidFill>
                <a:latin typeface="Calibri" pitchFamily="34" charset="0"/>
                <a:ea typeface="Calibri" pitchFamily="34" charset="-122"/>
                <a:cs typeface="Calibri" pitchFamily="34" charset="-120"/>
              </a:rPr>
              <a:t>IMPLICIT · SHAPE-DRIVEN</a:t>
            </a:r>
            <a:endParaRPr lang="en-US" sz="1100" dirty="0"/>
          </a:p>
        </p:txBody>
      </p:sp>
      <p:sp>
        <p:nvSpPr>
          <p:cNvPr id="19" name="Text 17"/>
          <p:cNvSpPr/>
          <p:nvPr/>
        </p:nvSpPr>
        <p:spPr>
          <a:xfrm>
            <a:off x="6656832" y="1993392"/>
            <a:ext cx="4526280" cy="457200"/>
          </a:xfrm>
          <a:prstGeom prst="rect">
            <a:avLst/>
          </a:prstGeom>
          <a:noFill/>
          <a:ln/>
        </p:spPr>
        <p:txBody>
          <a:bodyPr wrap="square" lIns="0" tIns="0" rIns="0" bIns="0" rtlCol="0" anchor="ctr"/>
          <a:lstStyle/>
          <a:p>
            <a:pPr marL="0" indent="0">
              <a:buNone/>
            </a:pPr>
            <a:r>
              <a:rPr lang="en-US" sz="1900" b="1" dirty="0">
                <a:solidFill>
                  <a:srgbClr val="FFFFFF"/>
                </a:solidFill>
                <a:latin typeface="Consolas" pitchFamily="34" charset="0"/>
                <a:ea typeface="Consolas" pitchFamily="34" charset="-122"/>
                <a:cs typeface="Consolas" pitchFamily="34" charset="-120"/>
              </a:rPr>
              <a:t>oneOf</a:t>
            </a:r>
            <a:endParaRPr lang="en-US" sz="1900" dirty="0"/>
          </a:p>
        </p:txBody>
      </p:sp>
      <p:sp>
        <p:nvSpPr>
          <p:cNvPr id="20" name="Shape 18"/>
          <p:cNvSpPr/>
          <p:nvPr/>
        </p:nvSpPr>
        <p:spPr>
          <a:xfrm>
            <a:off x="6675120" y="2688336"/>
            <a:ext cx="118872" cy="118872"/>
          </a:xfrm>
          <a:prstGeom prst="ellipse">
            <a:avLst/>
          </a:prstGeom>
          <a:solidFill>
            <a:srgbClr val="1C7293"/>
          </a:solidFill>
          <a:ln/>
        </p:spPr>
        <p:txBody>
          <a:bodyPr/>
          <a:lstStyle/>
          <a:p>
            <a:endParaRPr lang="en-AU"/>
          </a:p>
        </p:txBody>
      </p:sp>
      <p:sp>
        <p:nvSpPr>
          <p:cNvPr id="21" name="Text 19"/>
          <p:cNvSpPr/>
          <p:nvPr/>
        </p:nvSpPr>
        <p:spPr>
          <a:xfrm>
            <a:off x="6949440" y="2578608"/>
            <a:ext cx="4251960" cy="457200"/>
          </a:xfrm>
          <a:prstGeom prst="rect">
            <a:avLst/>
          </a:prstGeom>
          <a:noFill/>
          <a:ln/>
        </p:spPr>
        <p:txBody>
          <a:bodyPr wrap="square" lIns="0" tIns="0" rIns="0" bIns="0" rtlCol="0" anchor="ctr"/>
          <a:lstStyle/>
          <a:p>
            <a:pPr marL="0" indent="0">
              <a:lnSpc>
                <a:spcPct val="100000"/>
              </a:lnSpc>
              <a:buNone/>
            </a:pPr>
            <a:r>
              <a:rPr lang="en-US" sz="1400" dirty="0">
                <a:solidFill>
                  <a:srgbClr val="1F2A33"/>
                </a:solidFill>
                <a:latin typeface="Calibri" pitchFamily="34" charset="0"/>
                <a:ea typeface="Calibri" pitchFamily="34" charset="-122"/>
                <a:cs typeface="Calibri" pitchFamily="34" charset="-120"/>
              </a:rPr>
              <a:t>No tag — type inferred from the required fields</a:t>
            </a:r>
            <a:endParaRPr lang="en-US" sz="1400" dirty="0"/>
          </a:p>
        </p:txBody>
      </p:sp>
      <p:sp>
        <p:nvSpPr>
          <p:cNvPr id="22" name="Shape 20"/>
          <p:cNvSpPr/>
          <p:nvPr/>
        </p:nvSpPr>
        <p:spPr>
          <a:xfrm>
            <a:off x="6675120" y="3145536"/>
            <a:ext cx="118872" cy="118872"/>
          </a:xfrm>
          <a:prstGeom prst="ellipse">
            <a:avLst/>
          </a:prstGeom>
          <a:solidFill>
            <a:srgbClr val="1C7293"/>
          </a:solidFill>
          <a:ln/>
        </p:spPr>
        <p:txBody>
          <a:bodyPr/>
          <a:lstStyle/>
          <a:p>
            <a:endParaRPr lang="en-AU"/>
          </a:p>
        </p:txBody>
      </p:sp>
      <p:sp>
        <p:nvSpPr>
          <p:cNvPr id="23" name="Text 21"/>
          <p:cNvSpPr/>
          <p:nvPr/>
        </p:nvSpPr>
        <p:spPr>
          <a:xfrm>
            <a:off x="6949440" y="3035808"/>
            <a:ext cx="4251960" cy="457200"/>
          </a:xfrm>
          <a:prstGeom prst="rect">
            <a:avLst/>
          </a:prstGeom>
          <a:noFill/>
          <a:ln/>
        </p:spPr>
        <p:txBody>
          <a:bodyPr wrap="square" lIns="0" tIns="0" rIns="0" bIns="0" rtlCol="0" anchor="ctr"/>
          <a:lstStyle/>
          <a:p>
            <a:pPr marL="0" indent="0">
              <a:lnSpc>
                <a:spcPct val="100000"/>
              </a:lnSpc>
              <a:buNone/>
            </a:pPr>
            <a:r>
              <a:rPr lang="en-US" sz="1400" dirty="0">
                <a:solidFill>
                  <a:srgbClr val="1F2A33"/>
                </a:solidFill>
                <a:latin typeface="Calibri" pitchFamily="34" charset="0"/>
                <a:ea typeface="Calibri" pitchFamily="34" charset="-122"/>
                <a:cs typeface="Calibri" pitchFamily="34" charset="-120"/>
              </a:rPr>
              <a:t>Validator tries each; exactly one must match</a:t>
            </a:r>
            <a:endParaRPr lang="en-US" sz="1400" dirty="0"/>
          </a:p>
        </p:txBody>
      </p:sp>
      <p:sp>
        <p:nvSpPr>
          <p:cNvPr id="24" name="Shape 22"/>
          <p:cNvSpPr/>
          <p:nvPr/>
        </p:nvSpPr>
        <p:spPr>
          <a:xfrm>
            <a:off x="6675120" y="3602736"/>
            <a:ext cx="118872" cy="118872"/>
          </a:xfrm>
          <a:prstGeom prst="ellipse">
            <a:avLst/>
          </a:prstGeom>
          <a:solidFill>
            <a:srgbClr val="1C7293"/>
          </a:solidFill>
          <a:ln/>
        </p:spPr>
        <p:txBody>
          <a:bodyPr/>
          <a:lstStyle/>
          <a:p>
            <a:endParaRPr lang="en-AU"/>
          </a:p>
        </p:txBody>
      </p:sp>
      <p:sp>
        <p:nvSpPr>
          <p:cNvPr id="25" name="Text 23"/>
          <p:cNvSpPr/>
          <p:nvPr/>
        </p:nvSpPr>
        <p:spPr>
          <a:xfrm>
            <a:off x="6949440" y="3493008"/>
            <a:ext cx="4251960" cy="457200"/>
          </a:xfrm>
          <a:prstGeom prst="rect">
            <a:avLst/>
          </a:prstGeom>
          <a:noFill/>
          <a:ln/>
        </p:spPr>
        <p:txBody>
          <a:bodyPr wrap="square" lIns="0" tIns="0" rIns="0" bIns="0" rtlCol="0" anchor="ctr"/>
          <a:lstStyle/>
          <a:p>
            <a:pPr marL="0" indent="0">
              <a:lnSpc>
                <a:spcPct val="100000"/>
              </a:lnSpc>
              <a:buNone/>
            </a:pPr>
            <a:r>
              <a:rPr lang="en-US" sz="1400" dirty="0">
                <a:solidFill>
                  <a:srgbClr val="1F2A33"/>
                </a:solidFill>
                <a:latin typeface="Calibri" pitchFamily="34" charset="0"/>
                <a:ea typeface="Calibri" pitchFamily="34" charset="-122"/>
                <a:cs typeface="Calibri" pitchFamily="34" charset="-120"/>
              </a:rPr>
              <a:t>Every form needs required + additionalProperties: false</a:t>
            </a:r>
            <a:endParaRPr lang="en-US" sz="1400" dirty="0"/>
          </a:p>
        </p:txBody>
      </p:sp>
      <p:sp>
        <p:nvSpPr>
          <p:cNvPr id="26" name="Shape 24"/>
          <p:cNvSpPr/>
          <p:nvPr/>
        </p:nvSpPr>
        <p:spPr>
          <a:xfrm>
            <a:off x="6656832" y="4069080"/>
            <a:ext cx="4526280" cy="868680"/>
          </a:xfrm>
          <a:prstGeom prst="roundRect">
            <a:avLst>
              <a:gd name="adj" fmla="val 6316"/>
            </a:avLst>
          </a:prstGeom>
          <a:solidFill>
            <a:srgbClr val="21295C"/>
          </a:solidFill>
          <a:ln/>
        </p:spPr>
        <p:txBody>
          <a:bodyPr/>
          <a:lstStyle/>
          <a:p>
            <a:endParaRPr lang="en-AU"/>
          </a:p>
        </p:txBody>
      </p:sp>
      <p:sp>
        <p:nvSpPr>
          <p:cNvPr id="27" name="Text 25"/>
          <p:cNvSpPr/>
          <p:nvPr/>
        </p:nvSpPr>
        <p:spPr>
          <a:xfrm>
            <a:off x="6839712" y="4187952"/>
            <a:ext cx="4160520" cy="658368"/>
          </a:xfrm>
          <a:prstGeom prst="rect">
            <a:avLst/>
          </a:prstGeom>
          <a:noFill/>
          <a:ln/>
        </p:spPr>
        <p:txBody>
          <a:bodyPr wrap="square" lIns="0" tIns="0" rIns="0" bIns="0" rtlCol="0" anchor="ctr"/>
          <a:lstStyle/>
          <a:p>
            <a:pPr marL="0" indent="0">
              <a:lnSpc>
                <a:spcPct val="108000"/>
              </a:lnSpc>
              <a:buNone/>
            </a:pPr>
            <a:r>
              <a:rPr lang="en-US" sz="1350" b="1" dirty="0">
                <a:solidFill>
                  <a:srgbClr val="F6AE2D"/>
                </a:solidFill>
                <a:latin typeface="Calibri" pitchFamily="34" charset="0"/>
                <a:ea typeface="Calibri" pitchFamily="34" charset="-122"/>
                <a:cs typeface="Calibri" pitchFamily="34" charset="-120"/>
              </a:rPr>
              <a:t>≈ overload resolution  </a:t>
            </a:r>
            <a:r>
              <a:rPr lang="en-US" sz="1350" dirty="0">
                <a:solidFill>
                  <a:srgbClr val="CADCFC"/>
                </a:solidFill>
                <a:latin typeface="Calibri" pitchFamily="34" charset="0"/>
                <a:ea typeface="Calibri" pitchFamily="34" charset="-122"/>
                <a:cs typeface="Calibri" pitchFamily="34" charset="-120"/>
              </a:rPr>
              <a:t>the arguments passed select the match.</a:t>
            </a:r>
            <a:endParaRPr lang="en-US" sz="1350" dirty="0"/>
          </a:p>
        </p:txBody>
      </p:sp>
      <p:sp>
        <p:nvSpPr>
          <p:cNvPr id="28" name="Shape 26"/>
          <p:cNvSpPr/>
          <p:nvPr/>
        </p:nvSpPr>
        <p:spPr>
          <a:xfrm>
            <a:off x="640080" y="5257800"/>
            <a:ext cx="10908792" cy="1097280"/>
          </a:xfrm>
          <a:prstGeom prst="roundRect">
            <a:avLst>
              <a:gd name="adj" fmla="val 6667"/>
            </a:avLst>
          </a:prstGeom>
          <a:solidFill>
            <a:srgbClr val="21295C"/>
          </a:solidFill>
          <a:ln/>
        </p:spPr>
        <p:txBody>
          <a:bodyPr/>
          <a:lstStyle/>
          <a:p>
            <a:endParaRPr lang="en-AU"/>
          </a:p>
        </p:txBody>
      </p:sp>
      <p:sp>
        <p:nvSpPr>
          <p:cNvPr id="29" name="Text 27"/>
          <p:cNvSpPr/>
          <p:nvPr/>
        </p:nvSpPr>
        <p:spPr>
          <a:xfrm>
            <a:off x="914400" y="5257800"/>
            <a:ext cx="10332720" cy="1097280"/>
          </a:xfrm>
          <a:prstGeom prst="rect">
            <a:avLst/>
          </a:prstGeom>
          <a:noFill/>
          <a:ln/>
        </p:spPr>
        <p:txBody>
          <a:bodyPr wrap="square" lIns="0" tIns="0" rIns="0" bIns="0" rtlCol="0" anchor="ctr"/>
          <a:lstStyle/>
          <a:p>
            <a:pPr marL="0" indent="0">
              <a:lnSpc>
                <a:spcPct val="110000"/>
              </a:lnSpc>
              <a:buNone/>
            </a:pPr>
            <a:r>
              <a:rPr lang="en-US" sz="1380" b="1" dirty="0">
                <a:solidFill>
                  <a:srgbClr val="F6AE2D"/>
                </a:solidFill>
                <a:latin typeface="Calibri" pitchFamily="34" charset="0"/>
                <a:ea typeface="Calibri" pitchFamily="34" charset="-122"/>
                <a:cs typeface="Calibri" pitchFamily="34" charset="-120"/>
              </a:rPr>
              <a:t>The limit:  </a:t>
            </a:r>
            <a:r>
              <a:rPr lang="en-US" sz="1380" dirty="0">
                <a:solidFill>
                  <a:srgbClr val="E6EDF3"/>
                </a:solidFill>
                <a:latin typeface="Calibri" pitchFamily="34" charset="0"/>
                <a:ea typeface="Calibri" pitchFamily="34" charset="-122"/>
                <a:cs typeface="Calibri" pitchFamily="34" charset="-120"/>
              </a:rPr>
              <a:t>true C++ overloading resolves on static types (int vs double vs a class) at compile time. JSON has only string, number, boolean, object, array, null — so shape-matching can’t separate types with the same fields. Prefer </a:t>
            </a:r>
            <a:r>
              <a:rPr lang="en-US" sz="1380" b="1" dirty="0">
                <a:solidFill>
                  <a:srgbClr val="9CDCFE"/>
                </a:solidFill>
                <a:latin typeface="Consolas" pitchFamily="34" charset="0"/>
                <a:ea typeface="Consolas" pitchFamily="34" charset="-122"/>
                <a:cs typeface="Consolas" pitchFamily="34" charset="-120"/>
              </a:rPr>
              <a:t>discriminator</a:t>
            </a:r>
            <a:r>
              <a:rPr lang="en-US" sz="1380" dirty="0">
                <a:solidFill>
                  <a:srgbClr val="E6EDF3"/>
                </a:solidFill>
                <a:latin typeface="Calibri" pitchFamily="34" charset="0"/>
                <a:ea typeface="Calibri" pitchFamily="34" charset="-122"/>
                <a:cs typeface="Calibri" pitchFamily="34" charset="-120"/>
              </a:rPr>
              <a:t>.</a:t>
            </a:r>
            <a:endParaRPr lang="en-US" sz="13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85800"/>
          </a:xfrm>
          <a:prstGeom prst="rect">
            <a:avLst/>
          </a:prstGeom>
          <a:noFill/>
          <a:ln/>
        </p:spPr>
        <p:txBody>
          <a:bodyPr wrap="square" lIns="0" tIns="0" rIns="0" bIns="0" rtlCol="0" anchor="ctr"/>
          <a:lstStyle/>
          <a:p>
            <a:pPr marL="0" indent="0">
              <a:buNone/>
            </a:pPr>
            <a:r>
              <a:rPr lang="en-US" sz="3400" b="1" dirty="0">
                <a:solidFill>
                  <a:srgbClr val="21295C"/>
                </a:solidFill>
                <a:latin typeface="Cambria" pitchFamily="34" charset="0"/>
                <a:ea typeface="Cambria" pitchFamily="34" charset="-122"/>
                <a:cs typeface="Cambria" pitchFamily="34" charset="-120"/>
              </a:rPr>
              <a:t>Worked example — Cheque Processing, one swagger</a:t>
            </a:r>
            <a:endParaRPr lang="en-US" sz="3400" dirty="0"/>
          </a:p>
        </p:txBody>
      </p:sp>
      <p:sp>
        <p:nvSpPr>
          <p:cNvPr id="3" name="Text 1"/>
          <p:cNvSpPr/>
          <p:nvPr/>
        </p:nvSpPr>
        <p:spPr>
          <a:xfrm>
            <a:off x="640080" y="1078992"/>
            <a:ext cx="10972800" cy="41148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Cheque_Enquiry (GET) and Cheque_Submission (POST) share the ChequeProcessingResultBase object.</a:t>
            </a:r>
            <a:endParaRPr lang="en-US" sz="1500" dirty="0"/>
          </a:p>
        </p:txBody>
      </p:sp>
      <p:sp>
        <p:nvSpPr>
          <p:cNvPr id="4" name="Shape 2"/>
          <p:cNvSpPr/>
          <p:nvPr/>
        </p:nvSpPr>
        <p:spPr>
          <a:xfrm>
            <a:off x="640080" y="2148840"/>
            <a:ext cx="10908792" cy="548640"/>
          </a:xfrm>
          <a:prstGeom prst="rect">
            <a:avLst/>
          </a:prstGeom>
          <a:solidFill>
            <a:srgbClr val="21295C"/>
          </a:solidFill>
          <a:ln/>
        </p:spPr>
        <p:txBody>
          <a:bodyPr/>
          <a:lstStyle/>
          <a:p>
            <a:endParaRPr lang="en-AU"/>
          </a:p>
        </p:txBody>
      </p:sp>
      <p:sp>
        <p:nvSpPr>
          <p:cNvPr id="5" name="Text 3"/>
          <p:cNvSpPr/>
          <p:nvPr/>
        </p:nvSpPr>
        <p:spPr>
          <a:xfrm>
            <a:off x="804672" y="2148840"/>
            <a:ext cx="4050792"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Canonical element (both tabs)</a:t>
            </a:r>
            <a:endParaRPr lang="en-US" sz="1300" dirty="0"/>
          </a:p>
        </p:txBody>
      </p:sp>
      <p:sp>
        <p:nvSpPr>
          <p:cNvPr id="6" name="Text 4"/>
          <p:cNvSpPr/>
          <p:nvPr/>
        </p:nvSpPr>
        <p:spPr>
          <a:xfrm>
            <a:off x="5038344" y="2148840"/>
            <a:ext cx="315468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Cheque_Enquiry (GET)</a:t>
            </a:r>
            <a:endParaRPr lang="en-US" sz="1300" dirty="0"/>
          </a:p>
        </p:txBody>
      </p:sp>
      <p:sp>
        <p:nvSpPr>
          <p:cNvPr id="7" name="Text 5"/>
          <p:cNvSpPr/>
          <p:nvPr/>
        </p:nvSpPr>
        <p:spPr>
          <a:xfrm>
            <a:off x="8375904" y="2148840"/>
            <a:ext cx="315468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Cheque_Submission (POST)</a:t>
            </a:r>
            <a:endParaRPr lang="en-US" sz="1300" dirty="0"/>
          </a:p>
        </p:txBody>
      </p:sp>
      <p:sp>
        <p:nvSpPr>
          <p:cNvPr id="8" name="Shape 6"/>
          <p:cNvSpPr/>
          <p:nvPr/>
        </p:nvSpPr>
        <p:spPr>
          <a:xfrm>
            <a:off x="640080" y="2697480"/>
            <a:ext cx="10908792" cy="548640"/>
          </a:xfrm>
          <a:prstGeom prst="rect">
            <a:avLst/>
          </a:prstGeom>
          <a:solidFill>
            <a:srgbClr val="FFFFFF"/>
          </a:solidFill>
          <a:ln w="9525">
            <a:solidFill>
              <a:srgbClr val="E2E9EF"/>
            </a:solidFill>
            <a:prstDash val="solid"/>
          </a:ln>
        </p:spPr>
        <p:txBody>
          <a:bodyPr/>
          <a:lstStyle/>
          <a:p>
            <a:endParaRPr lang="en-AU"/>
          </a:p>
        </p:txBody>
      </p:sp>
      <p:sp>
        <p:nvSpPr>
          <p:cNvPr id="9" name="Text 7"/>
          <p:cNvSpPr/>
          <p:nvPr/>
        </p:nvSpPr>
        <p:spPr>
          <a:xfrm>
            <a:off x="804672" y="2697480"/>
            <a:ext cx="4005072" cy="548640"/>
          </a:xfrm>
          <a:prstGeom prst="rect">
            <a:avLst/>
          </a:prstGeom>
          <a:noFill/>
          <a:ln/>
        </p:spPr>
        <p:txBody>
          <a:bodyPr wrap="square" lIns="0" tIns="0" rIns="0" bIns="0" rtlCol="0" anchor="ctr"/>
          <a:lstStyle/>
          <a:p>
            <a:pPr marL="0" indent="0">
              <a:buNone/>
            </a:pPr>
            <a:r>
              <a:rPr lang="en-US" sz="1200" dirty="0">
                <a:solidFill>
                  <a:srgbClr val="1F2A33"/>
                </a:solidFill>
                <a:latin typeface="Consolas" pitchFamily="34" charset="0"/>
                <a:ea typeface="Consolas" pitchFamily="34" charset="-122"/>
                <a:cs typeface="Consolas" pitchFamily="34" charset="-120"/>
              </a:rPr>
              <a:t>channelReferenceNumber</a:t>
            </a:r>
            <a:endParaRPr lang="en-US" sz="1200" dirty="0"/>
          </a:p>
        </p:txBody>
      </p:sp>
      <p:sp>
        <p:nvSpPr>
          <p:cNvPr id="10" name="Shape 8"/>
          <p:cNvSpPr/>
          <p:nvPr/>
        </p:nvSpPr>
        <p:spPr>
          <a:xfrm>
            <a:off x="5010912" y="2880360"/>
            <a:ext cx="182880" cy="182880"/>
          </a:xfrm>
          <a:prstGeom prst="ellipse">
            <a:avLst/>
          </a:prstGeom>
          <a:solidFill>
            <a:srgbClr val="3FA45A"/>
          </a:solidFill>
          <a:ln/>
        </p:spPr>
        <p:txBody>
          <a:bodyPr/>
          <a:lstStyle/>
          <a:p>
            <a:endParaRPr lang="en-AU"/>
          </a:p>
        </p:txBody>
      </p:sp>
      <p:sp>
        <p:nvSpPr>
          <p:cNvPr id="11" name="Text 9"/>
          <p:cNvSpPr/>
          <p:nvPr/>
        </p:nvSpPr>
        <p:spPr>
          <a:xfrm>
            <a:off x="5257800" y="2697480"/>
            <a:ext cx="2880360" cy="548640"/>
          </a:xfrm>
          <a:prstGeom prst="rect">
            <a:avLst/>
          </a:prstGeom>
          <a:noFill/>
          <a:ln/>
        </p:spPr>
        <p:txBody>
          <a:bodyPr wrap="square" lIns="0" tIns="0" rIns="0" bIns="0" rtlCol="0" anchor="ctr"/>
          <a:lstStyle/>
          <a:p>
            <a:pPr marL="0" indent="0">
              <a:buNone/>
            </a:pPr>
            <a:r>
              <a:rPr lang="en-US" sz="1150" dirty="0">
                <a:solidFill>
                  <a:srgbClr val="1F2A33"/>
                </a:solidFill>
                <a:latin typeface="Consolas" pitchFamily="34" charset="0"/>
                <a:ea typeface="Consolas" pitchFamily="34" charset="-122"/>
                <a:cs typeface="Consolas" pitchFamily="34" charset="-120"/>
              </a:rPr>
              <a:t>✓ channelReferenceNumber</a:t>
            </a:r>
            <a:endParaRPr lang="en-US" sz="1150" dirty="0"/>
          </a:p>
        </p:txBody>
      </p:sp>
      <p:sp>
        <p:nvSpPr>
          <p:cNvPr id="12" name="Shape 10"/>
          <p:cNvSpPr/>
          <p:nvPr/>
        </p:nvSpPr>
        <p:spPr>
          <a:xfrm>
            <a:off x="8348472" y="2880360"/>
            <a:ext cx="182880" cy="182880"/>
          </a:xfrm>
          <a:prstGeom prst="ellipse">
            <a:avLst/>
          </a:prstGeom>
          <a:solidFill>
            <a:srgbClr val="3FA45A"/>
          </a:solidFill>
          <a:ln/>
        </p:spPr>
        <p:txBody>
          <a:bodyPr/>
          <a:lstStyle/>
          <a:p>
            <a:endParaRPr lang="en-AU"/>
          </a:p>
        </p:txBody>
      </p:sp>
      <p:sp>
        <p:nvSpPr>
          <p:cNvPr id="13" name="Text 11"/>
          <p:cNvSpPr/>
          <p:nvPr/>
        </p:nvSpPr>
        <p:spPr>
          <a:xfrm>
            <a:off x="8595360" y="2697480"/>
            <a:ext cx="2880360" cy="548640"/>
          </a:xfrm>
          <a:prstGeom prst="rect">
            <a:avLst/>
          </a:prstGeom>
          <a:noFill/>
          <a:ln/>
        </p:spPr>
        <p:txBody>
          <a:bodyPr wrap="square" lIns="0" tIns="0" rIns="0" bIns="0" rtlCol="0" anchor="ctr"/>
          <a:lstStyle/>
          <a:p>
            <a:pPr marL="0" indent="0">
              <a:buNone/>
            </a:pPr>
            <a:r>
              <a:rPr lang="en-US" sz="1150" dirty="0">
                <a:solidFill>
                  <a:srgbClr val="1F2A33"/>
                </a:solidFill>
                <a:latin typeface="Consolas" pitchFamily="34" charset="0"/>
                <a:ea typeface="Consolas" pitchFamily="34" charset="-122"/>
                <a:cs typeface="Consolas" pitchFamily="34" charset="-120"/>
              </a:rPr>
              <a:t>✓ channelReferenceNumber</a:t>
            </a:r>
            <a:endParaRPr lang="en-US" sz="1150" dirty="0"/>
          </a:p>
        </p:txBody>
      </p:sp>
      <p:sp>
        <p:nvSpPr>
          <p:cNvPr id="14" name="Shape 12"/>
          <p:cNvSpPr/>
          <p:nvPr/>
        </p:nvSpPr>
        <p:spPr>
          <a:xfrm>
            <a:off x="640080" y="3246120"/>
            <a:ext cx="10908792" cy="548640"/>
          </a:xfrm>
          <a:prstGeom prst="rect">
            <a:avLst/>
          </a:prstGeom>
          <a:solidFill>
            <a:srgbClr val="F4F8FB"/>
          </a:solidFill>
          <a:ln w="9525">
            <a:solidFill>
              <a:srgbClr val="E2E9EF"/>
            </a:solidFill>
            <a:prstDash val="solid"/>
          </a:ln>
        </p:spPr>
        <p:txBody>
          <a:bodyPr/>
          <a:lstStyle/>
          <a:p>
            <a:endParaRPr lang="en-AU"/>
          </a:p>
        </p:txBody>
      </p:sp>
      <p:sp>
        <p:nvSpPr>
          <p:cNvPr id="15" name="Text 13"/>
          <p:cNvSpPr/>
          <p:nvPr/>
        </p:nvSpPr>
        <p:spPr>
          <a:xfrm>
            <a:off x="804672" y="3246120"/>
            <a:ext cx="4005072" cy="548640"/>
          </a:xfrm>
          <a:prstGeom prst="rect">
            <a:avLst/>
          </a:prstGeom>
          <a:noFill/>
          <a:ln/>
        </p:spPr>
        <p:txBody>
          <a:bodyPr wrap="square" lIns="0" tIns="0" rIns="0" bIns="0" rtlCol="0" anchor="ctr"/>
          <a:lstStyle/>
          <a:p>
            <a:pPr marL="0" indent="0">
              <a:buNone/>
            </a:pPr>
            <a:r>
              <a:rPr lang="en-US" sz="1200" dirty="0">
                <a:solidFill>
                  <a:srgbClr val="1F2A33"/>
                </a:solidFill>
                <a:latin typeface="Consolas" pitchFamily="34" charset="0"/>
                <a:ea typeface="Consolas" pitchFamily="34" charset="-122"/>
                <a:cs typeface="Consolas" pitchFamily="34" charset="-120"/>
              </a:rPr>
              <a:t>financialInstrumentReference</a:t>
            </a:r>
            <a:endParaRPr lang="en-US" sz="1200" dirty="0"/>
          </a:p>
        </p:txBody>
      </p:sp>
      <p:sp>
        <p:nvSpPr>
          <p:cNvPr id="16" name="Shape 14"/>
          <p:cNvSpPr/>
          <p:nvPr/>
        </p:nvSpPr>
        <p:spPr>
          <a:xfrm>
            <a:off x="5010912" y="3429000"/>
            <a:ext cx="182880" cy="182880"/>
          </a:xfrm>
          <a:prstGeom prst="ellipse">
            <a:avLst/>
          </a:prstGeom>
          <a:solidFill>
            <a:srgbClr val="3FA45A"/>
          </a:solidFill>
          <a:ln/>
        </p:spPr>
        <p:txBody>
          <a:bodyPr/>
          <a:lstStyle/>
          <a:p>
            <a:endParaRPr lang="en-AU"/>
          </a:p>
        </p:txBody>
      </p:sp>
      <p:sp>
        <p:nvSpPr>
          <p:cNvPr id="17" name="Text 15"/>
          <p:cNvSpPr/>
          <p:nvPr/>
        </p:nvSpPr>
        <p:spPr>
          <a:xfrm>
            <a:off x="5257800" y="3246120"/>
            <a:ext cx="2880360" cy="548640"/>
          </a:xfrm>
          <a:prstGeom prst="rect">
            <a:avLst/>
          </a:prstGeom>
          <a:noFill/>
          <a:ln/>
        </p:spPr>
        <p:txBody>
          <a:bodyPr wrap="square" lIns="0" tIns="0" rIns="0" bIns="0" rtlCol="0" anchor="ctr"/>
          <a:lstStyle/>
          <a:p>
            <a:pPr marL="0" indent="0">
              <a:buNone/>
            </a:pPr>
            <a:r>
              <a:rPr lang="en-US" sz="1150" dirty="0">
                <a:solidFill>
                  <a:srgbClr val="1F2A33"/>
                </a:solidFill>
                <a:latin typeface="Consolas" pitchFamily="34" charset="0"/>
                <a:ea typeface="Consolas" pitchFamily="34" charset="-122"/>
                <a:cs typeface="Consolas" pitchFamily="34" charset="-120"/>
              </a:rPr>
              <a:t>✓ instrumentId</a:t>
            </a:r>
            <a:endParaRPr lang="en-US" sz="1150" dirty="0"/>
          </a:p>
        </p:txBody>
      </p:sp>
      <p:sp>
        <p:nvSpPr>
          <p:cNvPr id="18" name="Shape 16"/>
          <p:cNvSpPr/>
          <p:nvPr/>
        </p:nvSpPr>
        <p:spPr>
          <a:xfrm>
            <a:off x="8348472" y="3429000"/>
            <a:ext cx="182880" cy="182880"/>
          </a:xfrm>
          <a:prstGeom prst="ellipse">
            <a:avLst/>
          </a:prstGeom>
          <a:solidFill>
            <a:srgbClr val="3FA45A"/>
          </a:solidFill>
          <a:ln/>
        </p:spPr>
        <p:txBody>
          <a:bodyPr/>
          <a:lstStyle/>
          <a:p>
            <a:endParaRPr lang="en-AU"/>
          </a:p>
        </p:txBody>
      </p:sp>
      <p:sp>
        <p:nvSpPr>
          <p:cNvPr id="19" name="Text 17"/>
          <p:cNvSpPr/>
          <p:nvPr/>
        </p:nvSpPr>
        <p:spPr>
          <a:xfrm>
            <a:off x="8595360" y="3246120"/>
            <a:ext cx="2880360" cy="548640"/>
          </a:xfrm>
          <a:prstGeom prst="rect">
            <a:avLst/>
          </a:prstGeom>
          <a:noFill/>
          <a:ln/>
        </p:spPr>
        <p:txBody>
          <a:bodyPr wrap="square" lIns="0" tIns="0" rIns="0" bIns="0" rtlCol="0" anchor="ctr"/>
          <a:lstStyle/>
          <a:p>
            <a:pPr marL="0" indent="0">
              <a:buNone/>
            </a:pPr>
            <a:r>
              <a:rPr lang="en-US" sz="1150" dirty="0">
                <a:solidFill>
                  <a:srgbClr val="1F2A33"/>
                </a:solidFill>
                <a:latin typeface="Consolas" pitchFamily="34" charset="0"/>
                <a:ea typeface="Consolas" pitchFamily="34" charset="-122"/>
                <a:cs typeface="Consolas" pitchFamily="34" charset="-120"/>
              </a:rPr>
              <a:t>✓ instrumentId</a:t>
            </a:r>
            <a:endParaRPr lang="en-US" sz="1150" dirty="0"/>
          </a:p>
        </p:txBody>
      </p:sp>
      <p:sp>
        <p:nvSpPr>
          <p:cNvPr id="20" name="Shape 18"/>
          <p:cNvSpPr/>
          <p:nvPr/>
        </p:nvSpPr>
        <p:spPr>
          <a:xfrm>
            <a:off x="640080" y="3794760"/>
            <a:ext cx="10908792" cy="548640"/>
          </a:xfrm>
          <a:prstGeom prst="rect">
            <a:avLst/>
          </a:prstGeom>
          <a:solidFill>
            <a:srgbClr val="FFFFFF"/>
          </a:solidFill>
          <a:ln w="9525">
            <a:solidFill>
              <a:srgbClr val="E2E9EF"/>
            </a:solidFill>
            <a:prstDash val="solid"/>
          </a:ln>
        </p:spPr>
        <p:txBody>
          <a:bodyPr/>
          <a:lstStyle/>
          <a:p>
            <a:endParaRPr lang="en-AU"/>
          </a:p>
        </p:txBody>
      </p:sp>
      <p:sp>
        <p:nvSpPr>
          <p:cNvPr id="21" name="Text 19"/>
          <p:cNvSpPr/>
          <p:nvPr/>
        </p:nvSpPr>
        <p:spPr>
          <a:xfrm>
            <a:off x="804672" y="3794760"/>
            <a:ext cx="4005072" cy="548640"/>
          </a:xfrm>
          <a:prstGeom prst="rect">
            <a:avLst/>
          </a:prstGeom>
          <a:noFill/>
          <a:ln/>
        </p:spPr>
        <p:txBody>
          <a:bodyPr wrap="square" lIns="0" tIns="0" rIns="0" bIns="0" rtlCol="0" anchor="ctr"/>
          <a:lstStyle/>
          <a:p>
            <a:pPr marL="0" indent="0">
              <a:buNone/>
            </a:pPr>
            <a:r>
              <a:rPr lang="en-US" sz="1200" i="1" dirty="0">
                <a:solidFill>
                  <a:srgbClr val="1F2A33"/>
                </a:solidFill>
                <a:latin typeface="Consolas" pitchFamily="34" charset="0"/>
                <a:ea typeface="Consolas" pitchFamily="34" charset="-122"/>
                <a:cs typeface="Consolas" pitchFamily="34" charset="-120"/>
              </a:rPr>
              <a:t>ChequeLifestyleStatus  (object)</a:t>
            </a:r>
            <a:endParaRPr lang="en-US" sz="1200" dirty="0"/>
          </a:p>
        </p:txBody>
      </p:sp>
      <p:sp>
        <p:nvSpPr>
          <p:cNvPr id="22" name="Shape 20"/>
          <p:cNvSpPr/>
          <p:nvPr/>
        </p:nvSpPr>
        <p:spPr>
          <a:xfrm>
            <a:off x="5010912" y="3977640"/>
            <a:ext cx="182880" cy="182880"/>
          </a:xfrm>
          <a:prstGeom prst="ellipse">
            <a:avLst/>
          </a:prstGeom>
          <a:solidFill>
            <a:srgbClr val="3FA45A"/>
          </a:solidFill>
          <a:ln/>
        </p:spPr>
        <p:txBody>
          <a:bodyPr/>
          <a:lstStyle/>
          <a:p>
            <a:endParaRPr lang="en-AU"/>
          </a:p>
        </p:txBody>
      </p:sp>
      <p:sp>
        <p:nvSpPr>
          <p:cNvPr id="23" name="Text 21"/>
          <p:cNvSpPr/>
          <p:nvPr/>
        </p:nvSpPr>
        <p:spPr>
          <a:xfrm>
            <a:off x="5257800" y="3794760"/>
            <a:ext cx="2880360" cy="548640"/>
          </a:xfrm>
          <a:prstGeom prst="rect">
            <a:avLst/>
          </a:prstGeom>
          <a:noFill/>
          <a:ln/>
        </p:spPr>
        <p:txBody>
          <a:bodyPr wrap="square" lIns="0" tIns="0" rIns="0" bIns="0" rtlCol="0" anchor="ctr"/>
          <a:lstStyle/>
          <a:p>
            <a:pPr marL="0" indent="0">
              <a:buNone/>
            </a:pPr>
            <a:r>
              <a:rPr lang="en-US" sz="1150" dirty="0">
                <a:solidFill>
                  <a:srgbClr val="1F2A33"/>
                </a:solidFill>
                <a:latin typeface="Consolas" pitchFamily="34" charset="0"/>
                <a:ea typeface="Consolas" pitchFamily="34" charset="-122"/>
                <a:cs typeface="Consolas" pitchFamily="34" charset="-120"/>
              </a:rPr>
              <a:t>✓ mapped</a:t>
            </a:r>
            <a:endParaRPr lang="en-US" sz="1150" dirty="0"/>
          </a:p>
        </p:txBody>
      </p:sp>
      <p:sp>
        <p:nvSpPr>
          <p:cNvPr id="24" name="Shape 22"/>
          <p:cNvSpPr/>
          <p:nvPr/>
        </p:nvSpPr>
        <p:spPr>
          <a:xfrm>
            <a:off x="8348472" y="3977640"/>
            <a:ext cx="182880" cy="182880"/>
          </a:xfrm>
          <a:prstGeom prst="ellipse">
            <a:avLst/>
          </a:prstGeom>
          <a:solidFill>
            <a:srgbClr val="C0492F"/>
          </a:solidFill>
          <a:ln/>
        </p:spPr>
        <p:txBody>
          <a:bodyPr/>
          <a:lstStyle/>
          <a:p>
            <a:endParaRPr lang="en-AU"/>
          </a:p>
        </p:txBody>
      </p:sp>
      <p:sp>
        <p:nvSpPr>
          <p:cNvPr id="25" name="Text 23"/>
          <p:cNvSpPr/>
          <p:nvPr/>
        </p:nvSpPr>
        <p:spPr>
          <a:xfrm>
            <a:off x="8595360" y="3794760"/>
            <a:ext cx="2880360" cy="548640"/>
          </a:xfrm>
          <a:prstGeom prst="rect">
            <a:avLst/>
          </a:prstGeom>
          <a:noFill/>
          <a:ln/>
        </p:spPr>
        <p:txBody>
          <a:bodyPr wrap="square" lIns="0" tIns="0" rIns="0" bIns="0" rtlCol="0" anchor="ctr"/>
          <a:lstStyle/>
          <a:p>
            <a:pPr marL="0" indent="0">
              <a:buNone/>
            </a:pPr>
            <a:r>
              <a:rPr lang="en-US" sz="1150" dirty="0">
                <a:solidFill>
                  <a:srgbClr val="9A3B2A"/>
                </a:solidFill>
                <a:latin typeface="Consolas" pitchFamily="34" charset="0"/>
                <a:ea typeface="Consolas" pitchFamily="34" charset="-122"/>
                <a:cs typeface="Consolas" pitchFamily="34" charset="-120"/>
              </a:rPr>
              <a:t>✗ Not Used In SOR</a:t>
            </a:r>
            <a:endParaRPr lang="en-US" sz="1150" dirty="0"/>
          </a:p>
        </p:txBody>
      </p:sp>
      <p:sp>
        <p:nvSpPr>
          <p:cNvPr id="26" name="Shape 24"/>
          <p:cNvSpPr/>
          <p:nvPr/>
        </p:nvSpPr>
        <p:spPr>
          <a:xfrm>
            <a:off x="640080" y="4343400"/>
            <a:ext cx="10908792" cy="548640"/>
          </a:xfrm>
          <a:prstGeom prst="rect">
            <a:avLst/>
          </a:prstGeom>
          <a:solidFill>
            <a:srgbClr val="F4F8FB"/>
          </a:solidFill>
          <a:ln w="9525">
            <a:solidFill>
              <a:srgbClr val="E2E9EF"/>
            </a:solidFill>
            <a:prstDash val="solid"/>
          </a:ln>
        </p:spPr>
        <p:txBody>
          <a:bodyPr/>
          <a:lstStyle/>
          <a:p>
            <a:endParaRPr lang="en-AU"/>
          </a:p>
        </p:txBody>
      </p:sp>
      <p:sp>
        <p:nvSpPr>
          <p:cNvPr id="27" name="Text 25"/>
          <p:cNvSpPr/>
          <p:nvPr/>
        </p:nvSpPr>
        <p:spPr>
          <a:xfrm>
            <a:off x="804672" y="4343400"/>
            <a:ext cx="4005072" cy="548640"/>
          </a:xfrm>
          <a:prstGeom prst="rect">
            <a:avLst/>
          </a:prstGeom>
          <a:noFill/>
          <a:ln/>
        </p:spPr>
        <p:txBody>
          <a:bodyPr wrap="square" lIns="0" tIns="0" rIns="0" bIns="0" rtlCol="0" anchor="ctr"/>
          <a:lstStyle/>
          <a:p>
            <a:pPr marL="0" indent="0">
              <a:buNone/>
            </a:pPr>
            <a:r>
              <a:rPr lang="en-US" sz="1200" dirty="0">
                <a:solidFill>
                  <a:srgbClr val="1F2A33"/>
                </a:solidFill>
                <a:latin typeface="Consolas" pitchFamily="34" charset="0"/>
                <a:ea typeface="Consolas" pitchFamily="34" charset="-122"/>
                <a:cs typeface="Consolas" pitchFamily="34" charset="-120"/>
              </a:rPr>
              <a:t>   › chequeLifecycleStatusCode</a:t>
            </a:r>
            <a:endParaRPr lang="en-US" sz="1200" dirty="0"/>
          </a:p>
        </p:txBody>
      </p:sp>
      <p:sp>
        <p:nvSpPr>
          <p:cNvPr id="28" name="Shape 26"/>
          <p:cNvSpPr/>
          <p:nvPr/>
        </p:nvSpPr>
        <p:spPr>
          <a:xfrm>
            <a:off x="5010912" y="4526280"/>
            <a:ext cx="182880" cy="182880"/>
          </a:xfrm>
          <a:prstGeom prst="ellipse">
            <a:avLst/>
          </a:prstGeom>
          <a:solidFill>
            <a:srgbClr val="3FA45A"/>
          </a:solidFill>
          <a:ln/>
        </p:spPr>
        <p:txBody>
          <a:bodyPr/>
          <a:lstStyle/>
          <a:p>
            <a:endParaRPr lang="en-AU"/>
          </a:p>
        </p:txBody>
      </p:sp>
      <p:sp>
        <p:nvSpPr>
          <p:cNvPr id="29" name="Text 27"/>
          <p:cNvSpPr/>
          <p:nvPr/>
        </p:nvSpPr>
        <p:spPr>
          <a:xfrm>
            <a:off x="5257800" y="4343400"/>
            <a:ext cx="2880360" cy="548640"/>
          </a:xfrm>
          <a:prstGeom prst="rect">
            <a:avLst/>
          </a:prstGeom>
          <a:noFill/>
          <a:ln/>
        </p:spPr>
        <p:txBody>
          <a:bodyPr wrap="square" lIns="0" tIns="0" rIns="0" bIns="0" rtlCol="0" anchor="ctr"/>
          <a:lstStyle/>
          <a:p>
            <a:pPr marL="0" indent="0">
              <a:buNone/>
            </a:pPr>
            <a:r>
              <a:rPr lang="en-US" sz="1150" dirty="0">
                <a:solidFill>
                  <a:srgbClr val="1F2A33"/>
                </a:solidFill>
                <a:latin typeface="Consolas" pitchFamily="34" charset="0"/>
                <a:ea typeface="Consolas" pitchFamily="34" charset="-122"/>
                <a:cs typeface="Consolas" pitchFamily="34" charset="-120"/>
              </a:rPr>
              <a:t>✓ rejectReasonCode</a:t>
            </a:r>
            <a:endParaRPr lang="en-US" sz="1150" dirty="0"/>
          </a:p>
        </p:txBody>
      </p:sp>
      <p:sp>
        <p:nvSpPr>
          <p:cNvPr id="30" name="Shape 28"/>
          <p:cNvSpPr/>
          <p:nvPr/>
        </p:nvSpPr>
        <p:spPr>
          <a:xfrm>
            <a:off x="8348472" y="4526280"/>
            <a:ext cx="182880" cy="182880"/>
          </a:xfrm>
          <a:prstGeom prst="ellipse">
            <a:avLst/>
          </a:prstGeom>
          <a:solidFill>
            <a:srgbClr val="C0492F"/>
          </a:solidFill>
          <a:ln/>
        </p:spPr>
        <p:txBody>
          <a:bodyPr/>
          <a:lstStyle/>
          <a:p>
            <a:endParaRPr lang="en-AU"/>
          </a:p>
        </p:txBody>
      </p:sp>
      <p:sp>
        <p:nvSpPr>
          <p:cNvPr id="31" name="Text 29"/>
          <p:cNvSpPr/>
          <p:nvPr/>
        </p:nvSpPr>
        <p:spPr>
          <a:xfrm>
            <a:off x="8595360" y="4343400"/>
            <a:ext cx="2880360" cy="548640"/>
          </a:xfrm>
          <a:prstGeom prst="rect">
            <a:avLst/>
          </a:prstGeom>
          <a:noFill/>
          <a:ln/>
        </p:spPr>
        <p:txBody>
          <a:bodyPr wrap="square" lIns="0" tIns="0" rIns="0" bIns="0" rtlCol="0" anchor="ctr"/>
          <a:lstStyle/>
          <a:p>
            <a:pPr marL="0" indent="0">
              <a:buNone/>
            </a:pPr>
            <a:r>
              <a:rPr lang="en-US" sz="1150" dirty="0">
                <a:solidFill>
                  <a:srgbClr val="9A3B2A"/>
                </a:solidFill>
                <a:latin typeface="Consolas" pitchFamily="34" charset="0"/>
                <a:ea typeface="Consolas" pitchFamily="34" charset="-122"/>
                <a:cs typeface="Consolas" pitchFamily="34" charset="-120"/>
              </a:rPr>
              <a:t>✗ Not Used In SOR</a:t>
            </a:r>
            <a:endParaRPr lang="en-US" sz="1150" dirty="0"/>
          </a:p>
        </p:txBody>
      </p:sp>
      <p:sp>
        <p:nvSpPr>
          <p:cNvPr id="32" name="Shape 30"/>
          <p:cNvSpPr/>
          <p:nvPr/>
        </p:nvSpPr>
        <p:spPr>
          <a:xfrm>
            <a:off x="640080" y="4892040"/>
            <a:ext cx="10908792" cy="548640"/>
          </a:xfrm>
          <a:prstGeom prst="rect">
            <a:avLst/>
          </a:prstGeom>
          <a:solidFill>
            <a:srgbClr val="FFFFFF"/>
          </a:solidFill>
          <a:ln w="9525">
            <a:solidFill>
              <a:srgbClr val="E2E9EF"/>
            </a:solidFill>
            <a:prstDash val="solid"/>
          </a:ln>
        </p:spPr>
        <p:txBody>
          <a:bodyPr/>
          <a:lstStyle/>
          <a:p>
            <a:endParaRPr lang="en-AU"/>
          </a:p>
        </p:txBody>
      </p:sp>
      <p:sp>
        <p:nvSpPr>
          <p:cNvPr id="33" name="Text 31"/>
          <p:cNvSpPr/>
          <p:nvPr/>
        </p:nvSpPr>
        <p:spPr>
          <a:xfrm>
            <a:off x="804672" y="4892040"/>
            <a:ext cx="4005072" cy="548640"/>
          </a:xfrm>
          <a:prstGeom prst="rect">
            <a:avLst/>
          </a:prstGeom>
          <a:noFill/>
          <a:ln/>
        </p:spPr>
        <p:txBody>
          <a:bodyPr wrap="square" lIns="0" tIns="0" rIns="0" bIns="0" rtlCol="0" anchor="ctr"/>
          <a:lstStyle/>
          <a:p>
            <a:pPr marL="0" indent="0">
              <a:buNone/>
            </a:pPr>
            <a:r>
              <a:rPr lang="en-US" sz="1200" dirty="0">
                <a:solidFill>
                  <a:srgbClr val="1F2A33"/>
                </a:solidFill>
                <a:latin typeface="Consolas" pitchFamily="34" charset="0"/>
                <a:ea typeface="Consolas" pitchFamily="34" charset="-122"/>
                <a:cs typeface="Consolas" pitchFamily="34" charset="-120"/>
              </a:rPr>
              <a:t>ChequeImage</a:t>
            </a:r>
            <a:endParaRPr lang="en-US" sz="1200" dirty="0"/>
          </a:p>
        </p:txBody>
      </p:sp>
      <p:sp>
        <p:nvSpPr>
          <p:cNvPr id="34" name="Shape 32"/>
          <p:cNvSpPr/>
          <p:nvPr/>
        </p:nvSpPr>
        <p:spPr>
          <a:xfrm>
            <a:off x="5010912" y="5074920"/>
            <a:ext cx="182880" cy="182880"/>
          </a:xfrm>
          <a:prstGeom prst="ellipse">
            <a:avLst/>
          </a:prstGeom>
          <a:solidFill>
            <a:srgbClr val="3FA45A"/>
          </a:solidFill>
          <a:ln/>
        </p:spPr>
        <p:txBody>
          <a:bodyPr/>
          <a:lstStyle/>
          <a:p>
            <a:endParaRPr lang="en-AU"/>
          </a:p>
        </p:txBody>
      </p:sp>
      <p:sp>
        <p:nvSpPr>
          <p:cNvPr id="35" name="Text 33"/>
          <p:cNvSpPr/>
          <p:nvPr/>
        </p:nvSpPr>
        <p:spPr>
          <a:xfrm>
            <a:off x="5257800" y="4892040"/>
            <a:ext cx="2880360" cy="548640"/>
          </a:xfrm>
          <a:prstGeom prst="rect">
            <a:avLst/>
          </a:prstGeom>
          <a:noFill/>
          <a:ln/>
        </p:spPr>
        <p:txBody>
          <a:bodyPr wrap="square" lIns="0" tIns="0" rIns="0" bIns="0" rtlCol="0" anchor="ctr"/>
          <a:lstStyle/>
          <a:p>
            <a:pPr marL="0" indent="0">
              <a:buNone/>
            </a:pPr>
            <a:r>
              <a:rPr lang="en-US" sz="1150" dirty="0">
                <a:solidFill>
                  <a:srgbClr val="1F2A33"/>
                </a:solidFill>
                <a:latin typeface="Consolas" pitchFamily="34" charset="0"/>
                <a:ea typeface="Consolas" pitchFamily="34" charset="-122"/>
                <a:cs typeface="Consolas" pitchFamily="34" charset="-120"/>
              </a:rPr>
              <a:t>✓ view3</a:t>
            </a:r>
            <a:endParaRPr lang="en-US" sz="1150" dirty="0"/>
          </a:p>
        </p:txBody>
      </p:sp>
      <p:sp>
        <p:nvSpPr>
          <p:cNvPr id="36" name="Shape 34"/>
          <p:cNvSpPr/>
          <p:nvPr/>
        </p:nvSpPr>
        <p:spPr>
          <a:xfrm>
            <a:off x="8348472" y="5074920"/>
            <a:ext cx="182880" cy="182880"/>
          </a:xfrm>
          <a:prstGeom prst="ellipse">
            <a:avLst/>
          </a:prstGeom>
          <a:solidFill>
            <a:srgbClr val="C0492F"/>
          </a:solidFill>
          <a:ln/>
        </p:spPr>
        <p:txBody>
          <a:bodyPr/>
          <a:lstStyle/>
          <a:p>
            <a:endParaRPr lang="en-AU"/>
          </a:p>
        </p:txBody>
      </p:sp>
      <p:sp>
        <p:nvSpPr>
          <p:cNvPr id="37" name="Text 35"/>
          <p:cNvSpPr/>
          <p:nvPr/>
        </p:nvSpPr>
        <p:spPr>
          <a:xfrm>
            <a:off x="8595360" y="4892040"/>
            <a:ext cx="2880360" cy="548640"/>
          </a:xfrm>
          <a:prstGeom prst="rect">
            <a:avLst/>
          </a:prstGeom>
          <a:noFill/>
          <a:ln/>
        </p:spPr>
        <p:txBody>
          <a:bodyPr wrap="square" lIns="0" tIns="0" rIns="0" bIns="0" rtlCol="0" anchor="ctr"/>
          <a:lstStyle/>
          <a:p>
            <a:pPr marL="0" indent="0">
              <a:buNone/>
            </a:pPr>
            <a:r>
              <a:rPr lang="en-US" sz="1150" dirty="0">
                <a:solidFill>
                  <a:srgbClr val="9A3B2A"/>
                </a:solidFill>
                <a:latin typeface="Consolas" pitchFamily="34" charset="0"/>
                <a:ea typeface="Consolas" pitchFamily="34" charset="-122"/>
                <a:cs typeface="Consolas" pitchFamily="34" charset="-120"/>
              </a:rPr>
              <a:t>✗ Not Used In SOR</a:t>
            </a:r>
            <a:endParaRPr lang="en-US" sz="1150" dirty="0"/>
          </a:p>
        </p:txBody>
      </p:sp>
      <p:sp>
        <p:nvSpPr>
          <p:cNvPr id="38" name="Shape 36"/>
          <p:cNvSpPr/>
          <p:nvPr/>
        </p:nvSpPr>
        <p:spPr>
          <a:xfrm>
            <a:off x="640080" y="5605272"/>
            <a:ext cx="10908792" cy="868680"/>
          </a:xfrm>
          <a:prstGeom prst="roundRect">
            <a:avLst>
              <a:gd name="adj" fmla="val 8421"/>
            </a:avLst>
          </a:prstGeom>
          <a:solidFill>
            <a:srgbClr val="EAF1F5"/>
          </a:solidFill>
          <a:ln/>
        </p:spPr>
        <p:txBody>
          <a:bodyPr/>
          <a:lstStyle/>
          <a:p>
            <a:endParaRPr lang="en-AU"/>
          </a:p>
        </p:txBody>
      </p:sp>
      <p:sp>
        <p:nvSpPr>
          <p:cNvPr id="39" name="Text 37"/>
          <p:cNvSpPr/>
          <p:nvPr/>
        </p:nvSpPr>
        <p:spPr>
          <a:xfrm>
            <a:off x="914400" y="5605272"/>
            <a:ext cx="10424160" cy="868680"/>
          </a:xfrm>
          <a:prstGeom prst="rect">
            <a:avLst/>
          </a:prstGeom>
          <a:noFill/>
          <a:ln/>
        </p:spPr>
        <p:txBody>
          <a:bodyPr wrap="square" lIns="0" tIns="0" rIns="0" bIns="0" rtlCol="0" anchor="ctr"/>
          <a:lstStyle/>
          <a:p>
            <a:pPr marL="0" indent="0">
              <a:lnSpc>
                <a:spcPct val="110000"/>
              </a:lnSpc>
              <a:buNone/>
            </a:pPr>
            <a:r>
              <a:rPr lang="en-US" sz="1400" b="1" dirty="0">
                <a:solidFill>
                  <a:srgbClr val="21295C"/>
                </a:solidFill>
                <a:latin typeface="Calibri" pitchFamily="34" charset="0"/>
                <a:ea typeface="Calibri" pitchFamily="34" charset="-122"/>
                <a:cs typeface="Calibri" pitchFamily="34" charset="-120"/>
              </a:rPr>
              <a:t>One shared object, two mapped subsets.  </a:t>
            </a:r>
            <a:r>
              <a:rPr lang="en-US" sz="1400" dirty="0">
                <a:solidFill>
                  <a:srgbClr val="1F2A33"/>
                </a:solidFill>
                <a:latin typeface="Calibri" pitchFamily="34" charset="0"/>
                <a:ea typeface="Calibri" pitchFamily="34" charset="-122"/>
                <a:cs typeface="Calibri" pitchFamily="34" charset="-120"/>
              </a:rPr>
              <a:t>On the POST side, ChequeLifestyleStatus and ChequeImage are unmapped — a single schema would emit those as </a:t>
            </a:r>
            <a:r>
              <a:rPr lang="en-US" sz="1400" b="1" dirty="0">
                <a:solidFill>
                  <a:srgbClr val="C0492F"/>
                </a:solidFill>
                <a:latin typeface="Calibri" pitchFamily="34" charset="0"/>
                <a:ea typeface="Calibri" pitchFamily="34" charset="-122"/>
                <a:cs typeface="Calibri" pitchFamily="34" charset="-120"/>
              </a:rPr>
              <a:t>empty rows.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85800"/>
          </a:xfrm>
          <a:prstGeom prst="rect">
            <a:avLst/>
          </a:prstGeom>
          <a:noFill/>
          <a:ln/>
        </p:spPr>
        <p:txBody>
          <a:bodyPr wrap="square" lIns="0" tIns="0" rIns="0" bIns="0" rtlCol="0" anchor="ctr"/>
          <a:lstStyle/>
          <a:p>
            <a:pPr marL="0" indent="0">
              <a:buNone/>
            </a:pPr>
            <a:r>
              <a:rPr lang="en-US" sz="3400" b="1" dirty="0">
                <a:solidFill>
                  <a:srgbClr val="21295C"/>
                </a:solidFill>
                <a:latin typeface="Cambria" pitchFamily="34" charset="0"/>
                <a:ea typeface="Cambria" pitchFamily="34" charset="-122"/>
                <a:cs typeface="Cambria" pitchFamily="34" charset="-120"/>
              </a:rPr>
              <a:t>One object, a profile per operation</a:t>
            </a:r>
            <a:endParaRPr lang="en-US" sz="3400" dirty="0"/>
          </a:p>
        </p:txBody>
      </p:sp>
      <p:sp>
        <p:nvSpPr>
          <p:cNvPr id="3" name="Text 1"/>
          <p:cNvSpPr/>
          <p:nvPr/>
        </p:nvSpPr>
        <p:spPr>
          <a:xfrm>
            <a:off x="640080" y="1078992"/>
            <a:ext cx="10972800" cy="41148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The shared base carries the common fields; each operation is a subtype that adds only what it maps.</a:t>
            </a:r>
            <a:endParaRPr lang="en-US" sz="1500" dirty="0"/>
          </a:p>
        </p:txBody>
      </p:sp>
      <p:sp>
        <p:nvSpPr>
          <p:cNvPr id="4" name="Shape 2"/>
          <p:cNvSpPr/>
          <p:nvPr/>
        </p:nvSpPr>
        <p:spPr>
          <a:xfrm>
            <a:off x="640080" y="1645920"/>
            <a:ext cx="5623560" cy="4572000"/>
          </a:xfrm>
          <a:prstGeom prst="roundRect">
            <a:avLst>
              <a:gd name="adj" fmla="val 1000"/>
            </a:avLst>
          </a:prstGeom>
          <a:solidFill>
            <a:srgbClr val="132235"/>
          </a:solidFill>
          <a:ln/>
          <a:effectLst>
            <a:outerShdw blurRad="88900" dist="25400" dir="5400000" algn="bl" rotWithShape="0">
              <a:srgbClr val="8496A6">
                <a:alpha val="40000"/>
              </a:srgbClr>
            </a:outerShdw>
          </a:effectLst>
        </p:spPr>
        <p:txBody>
          <a:bodyPr/>
          <a:lstStyle/>
          <a:p>
            <a:endParaRPr lang="en-AU"/>
          </a:p>
        </p:txBody>
      </p:sp>
      <p:sp>
        <p:nvSpPr>
          <p:cNvPr id="5" name="Shape 3"/>
          <p:cNvSpPr/>
          <p:nvPr/>
        </p:nvSpPr>
        <p:spPr>
          <a:xfrm>
            <a:off x="640080" y="1645920"/>
            <a:ext cx="5623560" cy="310896"/>
          </a:xfrm>
          <a:prstGeom prst="roundRect">
            <a:avLst>
              <a:gd name="adj" fmla="val 14706"/>
            </a:avLst>
          </a:prstGeom>
          <a:solidFill>
            <a:srgbClr val="0C1826"/>
          </a:solidFill>
          <a:ln/>
        </p:spPr>
        <p:txBody>
          <a:bodyPr/>
          <a:lstStyle/>
          <a:p>
            <a:endParaRPr lang="en-AU"/>
          </a:p>
        </p:txBody>
      </p:sp>
      <p:sp>
        <p:nvSpPr>
          <p:cNvPr id="6" name="Shape 4"/>
          <p:cNvSpPr/>
          <p:nvPr/>
        </p:nvSpPr>
        <p:spPr>
          <a:xfrm>
            <a:off x="640080" y="1801368"/>
            <a:ext cx="5623560" cy="155448"/>
          </a:xfrm>
          <a:prstGeom prst="rect">
            <a:avLst/>
          </a:prstGeom>
          <a:solidFill>
            <a:srgbClr val="0C1826"/>
          </a:solidFill>
          <a:ln/>
        </p:spPr>
        <p:txBody>
          <a:bodyPr/>
          <a:lstStyle/>
          <a:p>
            <a:endParaRPr lang="en-AU"/>
          </a:p>
        </p:txBody>
      </p:sp>
      <p:sp>
        <p:nvSpPr>
          <p:cNvPr id="7" name="Shape 5"/>
          <p:cNvSpPr/>
          <p:nvPr/>
        </p:nvSpPr>
        <p:spPr>
          <a:xfrm>
            <a:off x="804672" y="1746504"/>
            <a:ext cx="109728" cy="109728"/>
          </a:xfrm>
          <a:prstGeom prst="ellipse">
            <a:avLst/>
          </a:prstGeom>
          <a:solidFill>
            <a:srgbClr val="E0655F"/>
          </a:solidFill>
          <a:ln/>
        </p:spPr>
        <p:txBody>
          <a:bodyPr/>
          <a:lstStyle/>
          <a:p>
            <a:endParaRPr lang="en-AU"/>
          </a:p>
        </p:txBody>
      </p:sp>
      <p:sp>
        <p:nvSpPr>
          <p:cNvPr id="8" name="Shape 6"/>
          <p:cNvSpPr/>
          <p:nvPr/>
        </p:nvSpPr>
        <p:spPr>
          <a:xfrm>
            <a:off x="1005840" y="1746504"/>
            <a:ext cx="109728" cy="109728"/>
          </a:xfrm>
          <a:prstGeom prst="ellipse">
            <a:avLst/>
          </a:prstGeom>
          <a:solidFill>
            <a:srgbClr val="E0A93F"/>
          </a:solidFill>
          <a:ln/>
        </p:spPr>
        <p:txBody>
          <a:bodyPr/>
          <a:lstStyle/>
          <a:p>
            <a:endParaRPr lang="en-AU"/>
          </a:p>
        </p:txBody>
      </p:sp>
      <p:sp>
        <p:nvSpPr>
          <p:cNvPr id="9" name="Shape 7"/>
          <p:cNvSpPr/>
          <p:nvPr/>
        </p:nvSpPr>
        <p:spPr>
          <a:xfrm>
            <a:off x="1207008" y="1746504"/>
            <a:ext cx="109728" cy="109728"/>
          </a:xfrm>
          <a:prstGeom prst="ellipse">
            <a:avLst/>
          </a:prstGeom>
          <a:solidFill>
            <a:srgbClr val="5FB85F"/>
          </a:solidFill>
          <a:ln/>
        </p:spPr>
        <p:txBody>
          <a:bodyPr/>
          <a:lstStyle/>
          <a:p>
            <a:endParaRPr lang="en-AU"/>
          </a:p>
        </p:txBody>
      </p:sp>
      <p:sp>
        <p:nvSpPr>
          <p:cNvPr id="10" name="Text 8"/>
          <p:cNvSpPr/>
          <p:nvPr/>
        </p:nvSpPr>
        <p:spPr>
          <a:xfrm>
            <a:off x="1554480" y="1645920"/>
            <a:ext cx="4526280" cy="310896"/>
          </a:xfrm>
          <a:prstGeom prst="rect">
            <a:avLst/>
          </a:prstGeom>
          <a:noFill/>
          <a:ln/>
        </p:spPr>
        <p:txBody>
          <a:bodyPr wrap="square" lIns="0" tIns="0" rIns="0" bIns="0" rtlCol="0" anchor="ctr"/>
          <a:lstStyle/>
          <a:p>
            <a:pPr marL="0" indent="0" algn="l">
              <a:buNone/>
            </a:pPr>
            <a:r>
              <a:rPr lang="en-US" sz="1050" dirty="0">
                <a:solidFill>
                  <a:srgbClr val="8B949E"/>
                </a:solidFill>
                <a:latin typeface="Consolas" pitchFamily="34" charset="0"/>
                <a:ea typeface="Consolas" pitchFamily="34" charset="-122"/>
                <a:cs typeface="Consolas" pitchFamily="34" charset="-120"/>
              </a:rPr>
              <a:t>openapi.yaml — canonical objects</a:t>
            </a:r>
            <a:endParaRPr lang="en-US" sz="1050" dirty="0"/>
          </a:p>
        </p:txBody>
      </p:sp>
      <p:sp>
        <p:nvSpPr>
          <p:cNvPr id="11" name="Text 9"/>
          <p:cNvSpPr/>
          <p:nvPr/>
        </p:nvSpPr>
        <p:spPr>
          <a:xfrm>
            <a:off x="896112" y="2084832"/>
            <a:ext cx="5166360" cy="4005072"/>
          </a:xfrm>
          <a:prstGeom prst="rect">
            <a:avLst/>
          </a:prstGeom>
          <a:noFill/>
          <a:ln/>
        </p:spPr>
        <p:txBody>
          <a:bodyPr wrap="square" lIns="0" tIns="0" rIns="0" bIns="0" rtlCol="0" anchor="t"/>
          <a:lstStyle/>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ChequeProcessingResultBase:</a:t>
            </a:r>
            <a:r>
              <a:rPr lang="en-US" sz="1050" i="1" dirty="0">
                <a:solidFill>
                  <a:srgbClr val="8B949E"/>
                </a:solidFill>
                <a:latin typeface="Consolas" pitchFamily="34" charset="0"/>
                <a:ea typeface="Consolas" pitchFamily="34" charset="-122"/>
                <a:cs typeface="Consolas" pitchFamily="34" charset="-120"/>
              </a:rPr>
              <a:t> # base</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type</a:t>
            </a:r>
            <a:r>
              <a:rPr lang="en-US" sz="1050" dirty="0">
                <a:solidFill>
                  <a:srgbClr val="C9D1D9"/>
                </a:solidFill>
                <a:latin typeface="Consolas" pitchFamily="34" charset="0"/>
                <a:ea typeface="Consolas" pitchFamily="34" charset="-122"/>
                <a:cs typeface="Consolas" pitchFamily="34" charset="-120"/>
              </a:rPr>
              <a:t>: object</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required</a:t>
            </a: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CE9178"/>
                </a:solidFill>
                <a:latin typeface="Consolas" pitchFamily="34" charset="0"/>
                <a:ea typeface="Consolas" pitchFamily="34" charset="-122"/>
                <a:cs typeface="Consolas" pitchFamily="34" charset="-120"/>
              </a:rPr>
              <a:t>resultContext</a:t>
            </a:r>
            <a:r>
              <a:rPr lang="en-US" sz="1050" dirty="0">
                <a:solidFill>
                  <a:srgbClr val="C9D1D9"/>
                </a:solidFill>
                <a:latin typeface="Consolas" pitchFamily="34" charset="0"/>
                <a:ea typeface="Consolas" pitchFamily="34" charset="-122"/>
                <a:cs typeface="Consolas" pitchFamily="34" charset="-120"/>
              </a:rPr>
              <a:t>]</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properties</a:t>
            </a:r>
            <a:r>
              <a:rPr lang="en-US" sz="1050" dirty="0">
                <a:solidFill>
                  <a:srgbClr val="C9D1D9"/>
                </a:solidFill>
                <a:latin typeface="Consolas" pitchFamily="34" charset="0"/>
                <a:ea typeface="Consolas" pitchFamily="34" charset="-122"/>
                <a:cs typeface="Consolas" pitchFamily="34" charset="-120"/>
              </a:rPr>
              <a:t>:</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resultContext</a:t>
            </a:r>
            <a:r>
              <a:rPr lang="en-US" sz="1050" dirty="0">
                <a:solidFill>
                  <a:srgbClr val="C9D1D9"/>
                </a:solidFill>
                <a:latin typeface="Consolas" pitchFamily="34" charset="0"/>
                <a:ea typeface="Consolas" pitchFamily="34" charset="-122"/>
                <a:cs typeface="Consolas" pitchFamily="34" charset="-120"/>
              </a:rPr>
              <a:t>: { </a:t>
            </a:r>
            <a:r>
              <a:rPr lang="en-US" sz="1050" dirty="0">
                <a:solidFill>
                  <a:srgbClr val="9CDCFE"/>
                </a:solidFill>
                <a:latin typeface="Consolas" pitchFamily="34" charset="0"/>
                <a:ea typeface="Consolas" pitchFamily="34" charset="-122"/>
                <a:cs typeface="Consolas" pitchFamily="34" charset="-120"/>
              </a:rPr>
              <a:t>type</a:t>
            </a: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CE9178"/>
                </a:solidFill>
                <a:latin typeface="Consolas" pitchFamily="34" charset="0"/>
                <a:ea typeface="Consolas" pitchFamily="34" charset="-122"/>
                <a:cs typeface="Consolas" pitchFamily="34" charset="-120"/>
              </a:rPr>
              <a:t>string</a:t>
            </a:r>
            <a:r>
              <a:rPr lang="en-US" sz="1050" dirty="0">
                <a:solidFill>
                  <a:srgbClr val="C9D1D9"/>
                </a:solidFill>
                <a:latin typeface="Consolas" pitchFamily="34" charset="0"/>
                <a:ea typeface="Consolas" pitchFamily="34" charset="-122"/>
                <a:cs typeface="Consolas" pitchFamily="34" charset="-120"/>
              </a:rPr>
              <a:t> }</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channelReferenceNumber</a:t>
            </a: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CE9178"/>
                </a:solidFill>
                <a:latin typeface="Consolas" pitchFamily="34" charset="0"/>
                <a:ea typeface="Consolas" pitchFamily="34" charset="-122"/>
                <a:cs typeface="Consolas" pitchFamily="34" charset="-120"/>
              </a:rPr>
              <a:t>string</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financialInstrumentReference</a:t>
            </a: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CE9178"/>
                </a:solidFill>
                <a:latin typeface="Consolas" pitchFamily="34" charset="0"/>
                <a:ea typeface="Consolas" pitchFamily="34" charset="-122"/>
                <a:cs typeface="Consolas" pitchFamily="34" charset="-120"/>
              </a:rPr>
              <a:t>string</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F6AE2D"/>
                </a:solidFill>
                <a:latin typeface="Consolas" pitchFamily="34" charset="0"/>
                <a:ea typeface="Consolas" pitchFamily="34" charset="-122"/>
                <a:cs typeface="Consolas" pitchFamily="34" charset="-120"/>
              </a:rPr>
              <a:t>discriminator</a:t>
            </a:r>
            <a:r>
              <a:rPr lang="en-US" sz="1050" dirty="0">
                <a:solidFill>
                  <a:srgbClr val="C9D1D9"/>
                </a:solidFill>
                <a:latin typeface="Consolas" pitchFamily="34" charset="0"/>
                <a:ea typeface="Consolas" pitchFamily="34" charset="-122"/>
                <a:cs typeface="Consolas" pitchFamily="34" charset="-120"/>
              </a:rPr>
              <a:t>:</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F6AE2D"/>
                </a:solidFill>
                <a:latin typeface="Consolas" pitchFamily="34" charset="0"/>
                <a:ea typeface="Consolas" pitchFamily="34" charset="-122"/>
                <a:cs typeface="Consolas" pitchFamily="34" charset="-120"/>
              </a:rPr>
              <a:t>propertyName</a:t>
            </a: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F6AE2D"/>
                </a:solidFill>
                <a:latin typeface="Consolas" pitchFamily="34" charset="0"/>
                <a:ea typeface="Consolas" pitchFamily="34" charset="-122"/>
                <a:cs typeface="Consolas" pitchFamily="34" charset="-120"/>
              </a:rPr>
              <a:t>resultContext</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mapping</a:t>
            </a:r>
            <a:r>
              <a:rPr lang="en-US" sz="1050" dirty="0">
                <a:solidFill>
                  <a:srgbClr val="C9D1D9"/>
                </a:solidFill>
                <a:latin typeface="Consolas" pitchFamily="34" charset="0"/>
                <a:ea typeface="Consolas" pitchFamily="34" charset="-122"/>
                <a:cs typeface="Consolas" pitchFamily="34" charset="-120"/>
              </a:rPr>
              <a:t>:</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CE9178"/>
                </a:solidFill>
                <a:latin typeface="Consolas" pitchFamily="34" charset="0"/>
                <a:ea typeface="Consolas" pitchFamily="34" charset="-122"/>
                <a:cs typeface="Consolas" pitchFamily="34" charset="-120"/>
              </a:rPr>
              <a:t>enquiry</a:t>
            </a: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C9A7EB"/>
                </a:solidFill>
                <a:latin typeface="Consolas" pitchFamily="34" charset="0"/>
                <a:ea typeface="Consolas" pitchFamily="34" charset="-122"/>
                <a:cs typeface="Consolas" pitchFamily="34" charset="-120"/>
              </a:rPr>
              <a:t>'#/.../ChequeEnquiryResponse'</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CE9178"/>
                </a:solidFill>
                <a:latin typeface="Consolas" pitchFamily="34" charset="0"/>
                <a:ea typeface="Consolas" pitchFamily="34" charset="-122"/>
                <a:cs typeface="Consolas" pitchFamily="34" charset="-120"/>
              </a:rPr>
              <a:t>submission</a:t>
            </a: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C9A7EB"/>
                </a:solidFill>
                <a:latin typeface="Consolas" pitchFamily="34" charset="0"/>
                <a:ea typeface="Consolas" pitchFamily="34" charset="-122"/>
                <a:cs typeface="Consolas" pitchFamily="34" charset="-120"/>
              </a:rPr>
              <a:t>'#/.../ChequeSubmissionResponse'</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ChequeLifestyleStatus:</a:t>
            </a:r>
            <a:r>
              <a:rPr lang="en-US" sz="1050" i="1" dirty="0">
                <a:solidFill>
                  <a:srgbClr val="8B949E"/>
                </a:solidFill>
                <a:latin typeface="Consolas" pitchFamily="34" charset="0"/>
                <a:ea typeface="Consolas" pitchFamily="34" charset="-122"/>
                <a:cs typeface="Consolas" pitchFamily="34" charset="-120"/>
              </a:rPr>
              <a:t> # object = class</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type</a:t>
            </a:r>
            <a:r>
              <a:rPr lang="en-US" sz="1050" dirty="0">
                <a:solidFill>
                  <a:srgbClr val="C9D1D9"/>
                </a:solidFill>
                <a:latin typeface="Consolas" pitchFamily="34" charset="0"/>
                <a:ea typeface="Consolas" pitchFamily="34" charset="-122"/>
                <a:cs typeface="Consolas" pitchFamily="34" charset="-120"/>
              </a:rPr>
              <a:t>: object</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properties</a:t>
            </a:r>
            <a:r>
              <a:rPr lang="en-US" sz="1050" dirty="0">
                <a:solidFill>
                  <a:srgbClr val="C9D1D9"/>
                </a:solidFill>
                <a:latin typeface="Consolas" pitchFamily="34" charset="0"/>
                <a:ea typeface="Consolas" pitchFamily="34" charset="-122"/>
                <a:cs typeface="Consolas" pitchFamily="34" charset="-120"/>
              </a:rPr>
              <a:t>:</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chequeLifecycleStatus</a:t>
            </a: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CE9178"/>
                </a:solidFill>
                <a:latin typeface="Consolas" pitchFamily="34" charset="0"/>
                <a:ea typeface="Consolas" pitchFamily="34" charset="-122"/>
                <a:cs typeface="Consolas" pitchFamily="34" charset="-120"/>
              </a:rPr>
              <a:t>string</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chequeLifecycleStatusCode</a:t>
            </a: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CE9178"/>
                </a:solidFill>
                <a:latin typeface="Consolas" pitchFamily="34" charset="0"/>
                <a:ea typeface="Consolas" pitchFamily="34" charset="-122"/>
                <a:cs typeface="Consolas" pitchFamily="34" charset="-120"/>
              </a:rPr>
              <a:t>string</a:t>
            </a:r>
            <a:endParaRPr lang="en-US" sz="1050" dirty="0"/>
          </a:p>
        </p:txBody>
      </p:sp>
      <p:sp>
        <p:nvSpPr>
          <p:cNvPr id="12" name="Shape 10"/>
          <p:cNvSpPr/>
          <p:nvPr/>
        </p:nvSpPr>
        <p:spPr>
          <a:xfrm>
            <a:off x="6492240" y="1645920"/>
            <a:ext cx="5074920" cy="4572000"/>
          </a:xfrm>
          <a:prstGeom prst="roundRect">
            <a:avLst>
              <a:gd name="adj" fmla="val 1000"/>
            </a:avLst>
          </a:prstGeom>
          <a:solidFill>
            <a:srgbClr val="132235"/>
          </a:solidFill>
          <a:ln/>
          <a:effectLst>
            <a:outerShdw blurRad="88900" dist="25400" dir="5400000" algn="bl" rotWithShape="0">
              <a:srgbClr val="8496A6">
                <a:alpha val="40000"/>
              </a:srgbClr>
            </a:outerShdw>
          </a:effectLst>
        </p:spPr>
        <p:txBody>
          <a:bodyPr/>
          <a:lstStyle/>
          <a:p>
            <a:endParaRPr lang="en-AU"/>
          </a:p>
        </p:txBody>
      </p:sp>
      <p:sp>
        <p:nvSpPr>
          <p:cNvPr id="13" name="Shape 11"/>
          <p:cNvSpPr/>
          <p:nvPr/>
        </p:nvSpPr>
        <p:spPr>
          <a:xfrm>
            <a:off x="6492240" y="1645920"/>
            <a:ext cx="5074920" cy="310896"/>
          </a:xfrm>
          <a:prstGeom prst="roundRect">
            <a:avLst>
              <a:gd name="adj" fmla="val 14706"/>
            </a:avLst>
          </a:prstGeom>
          <a:solidFill>
            <a:srgbClr val="0C1826"/>
          </a:solidFill>
          <a:ln/>
        </p:spPr>
        <p:txBody>
          <a:bodyPr/>
          <a:lstStyle/>
          <a:p>
            <a:endParaRPr lang="en-AU"/>
          </a:p>
        </p:txBody>
      </p:sp>
      <p:sp>
        <p:nvSpPr>
          <p:cNvPr id="14" name="Shape 12"/>
          <p:cNvSpPr/>
          <p:nvPr/>
        </p:nvSpPr>
        <p:spPr>
          <a:xfrm>
            <a:off x="6492240" y="1801368"/>
            <a:ext cx="5074920" cy="155448"/>
          </a:xfrm>
          <a:prstGeom prst="rect">
            <a:avLst/>
          </a:prstGeom>
          <a:solidFill>
            <a:srgbClr val="0C1826"/>
          </a:solidFill>
          <a:ln/>
        </p:spPr>
        <p:txBody>
          <a:bodyPr/>
          <a:lstStyle/>
          <a:p>
            <a:endParaRPr lang="en-AU"/>
          </a:p>
        </p:txBody>
      </p:sp>
      <p:sp>
        <p:nvSpPr>
          <p:cNvPr id="15" name="Shape 13"/>
          <p:cNvSpPr/>
          <p:nvPr/>
        </p:nvSpPr>
        <p:spPr>
          <a:xfrm>
            <a:off x="6656832" y="1746504"/>
            <a:ext cx="109728" cy="109728"/>
          </a:xfrm>
          <a:prstGeom prst="ellipse">
            <a:avLst/>
          </a:prstGeom>
          <a:solidFill>
            <a:srgbClr val="E0655F"/>
          </a:solidFill>
          <a:ln/>
        </p:spPr>
        <p:txBody>
          <a:bodyPr/>
          <a:lstStyle/>
          <a:p>
            <a:endParaRPr lang="en-AU"/>
          </a:p>
        </p:txBody>
      </p:sp>
      <p:sp>
        <p:nvSpPr>
          <p:cNvPr id="16" name="Shape 14"/>
          <p:cNvSpPr/>
          <p:nvPr/>
        </p:nvSpPr>
        <p:spPr>
          <a:xfrm>
            <a:off x="6858000" y="1746504"/>
            <a:ext cx="109728" cy="109728"/>
          </a:xfrm>
          <a:prstGeom prst="ellipse">
            <a:avLst/>
          </a:prstGeom>
          <a:solidFill>
            <a:srgbClr val="E0A93F"/>
          </a:solidFill>
          <a:ln/>
        </p:spPr>
        <p:txBody>
          <a:bodyPr/>
          <a:lstStyle/>
          <a:p>
            <a:endParaRPr lang="en-AU"/>
          </a:p>
        </p:txBody>
      </p:sp>
      <p:sp>
        <p:nvSpPr>
          <p:cNvPr id="17" name="Shape 15"/>
          <p:cNvSpPr/>
          <p:nvPr/>
        </p:nvSpPr>
        <p:spPr>
          <a:xfrm>
            <a:off x="7059168" y="1746504"/>
            <a:ext cx="109728" cy="109728"/>
          </a:xfrm>
          <a:prstGeom prst="ellipse">
            <a:avLst/>
          </a:prstGeom>
          <a:solidFill>
            <a:srgbClr val="5FB85F"/>
          </a:solidFill>
          <a:ln/>
        </p:spPr>
        <p:txBody>
          <a:bodyPr/>
          <a:lstStyle/>
          <a:p>
            <a:endParaRPr lang="en-AU"/>
          </a:p>
        </p:txBody>
      </p:sp>
      <p:sp>
        <p:nvSpPr>
          <p:cNvPr id="18" name="Text 16"/>
          <p:cNvSpPr/>
          <p:nvPr/>
        </p:nvSpPr>
        <p:spPr>
          <a:xfrm>
            <a:off x="7406640" y="1645920"/>
            <a:ext cx="3977640" cy="310896"/>
          </a:xfrm>
          <a:prstGeom prst="rect">
            <a:avLst/>
          </a:prstGeom>
          <a:noFill/>
          <a:ln/>
        </p:spPr>
        <p:txBody>
          <a:bodyPr wrap="square" lIns="0" tIns="0" rIns="0" bIns="0" rtlCol="0" anchor="ctr"/>
          <a:lstStyle/>
          <a:p>
            <a:pPr marL="0" indent="0" algn="l">
              <a:buNone/>
            </a:pPr>
            <a:r>
              <a:rPr lang="en-US" sz="1050" dirty="0">
                <a:solidFill>
                  <a:srgbClr val="8B949E"/>
                </a:solidFill>
                <a:latin typeface="Consolas" pitchFamily="34" charset="0"/>
                <a:ea typeface="Consolas" pitchFamily="34" charset="-122"/>
                <a:cs typeface="Consolas" pitchFamily="34" charset="-120"/>
              </a:rPr>
              <a:t>openapi.yaml — per-operation profiles</a:t>
            </a:r>
            <a:endParaRPr lang="en-US" sz="1050" dirty="0"/>
          </a:p>
        </p:txBody>
      </p:sp>
      <p:sp>
        <p:nvSpPr>
          <p:cNvPr id="19" name="Text 17"/>
          <p:cNvSpPr/>
          <p:nvPr/>
        </p:nvSpPr>
        <p:spPr>
          <a:xfrm>
            <a:off x="6748272" y="2084832"/>
            <a:ext cx="4617720" cy="4005072"/>
          </a:xfrm>
          <a:prstGeom prst="rect">
            <a:avLst/>
          </a:prstGeom>
          <a:noFill/>
          <a:ln/>
        </p:spPr>
        <p:txBody>
          <a:bodyPr wrap="square" lIns="0" tIns="0" rIns="0" bIns="0" rtlCol="0" anchor="t"/>
          <a:lstStyle/>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ChequeEnquiryResponse:</a:t>
            </a:r>
            <a:r>
              <a:rPr lang="en-US" sz="1050" i="1" dirty="0">
                <a:solidFill>
                  <a:srgbClr val="8B949E"/>
                </a:solidFill>
                <a:latin typeface="Consolas" pitchFamily="34" charset="0"/>
                <a:ea typeface="Consolas" pitchFamily="34" charset="-122"/>
                <a:cs typeface="Consolas" pitchFamily="34" charset="-120"/>
              </a:rPr>
              <a:t> # GET</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F6AE2D"/>
                </a:solidFill>
                <a:latin typeface="Consolas" pitchFamily="34" charset="0"/>
                <a:ea typeface="Consolas" pitchFamily="34" charset="-122"/>
                <a:cs typeface="Consolas" pitchFamily="34" charset="-120"/>
              </a:rPr>
              <a:t>allOf</a:t>
            </a:r>
            <a:r>
              <a:rPr lang="en-US" sz="1050" dirty="0">
                <a:solidFill>
                  <a:srgbClr val="C9D1D9"/>
                </a:solidFill>
                <a:latin typeface="Consolas" pitchFamily="34" charset="0"/>
                <a:ea typeface="Consolas" pitchFamily="34" charset="-122"/>
                <a:cs typeface="Consolas" pitchFamily="34" charset="-120"/>
              </a:rPr>
              <a:t>:</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 </a:t>
            </a:r>
            <a:r>
              <a:rPr lang="en-US" sz="1050" dirty="0">
                <a:solidFill>
                  <a:srgbClr val="C9A7EB"/>
                </a:solidFill>
                <a:latin typeface="Consolas" pitchFamily="34" charset="0"/>
                <a:ea typeface="Consolas" pitchFamily="34" charset="-122"/>
                <a:cs typeface="Consolas" pitchFamily="34" charset="-120"/>
              </a:rPr>
              <a:t>$ref</a:t>
            </a: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C9A7EB"/>
                </a:solidFill>
                <a:latin typeface="Consolas" pitchFamily="34" charset="0"/>
                <a:ea typeface="Consolas" pitchFamily="34" charset="-122"/>
                <a:cs typeface="Consolas" pitchFamily="34" charset="-120"/>
              </a:rPr>
              <a:t>'#/.../ChequeProcessingResultBase'</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 </a:t>
            </a:r>
            <a:r>
              <a:rPr lang="en-US" sz="1050" dirty="0">
                <a:solidFill>
                  <a:srgbClr val="9CDCFE"/>
                </a:solidFill>
                <a:latin typeface="Consolas" pitchFamily="34" charset="0"/>
                <a:ea typeface="Consolas" pitchFamily="34" charset="-122"/>
                <a:cs typeface="Consolas" pitchFamily="34" charset="-120"/>
              </a:rPr>
              <a:t>type</a:t>
            </a:r>
            <a:r>
              <a:rPr lang="en-US" sz="1050" dirty="0">
                <a:solidFill>
                  <a:srgbClr val="C9D1D9"/>
                </a:solidFill>
                <a:latin typeface="Consolas" pitchFamily="34" charset="0"/>
                <a:ea typeface="Consolas" pitchFamily="34" charset="-122"/>
                <a:cs typeface="Consolas" pitchFamily="34" charset="-120"/>
              </a:rPr>
              <a:t>: object</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properties</a:t>
            </a:r>
            <a:r>
              <a:rPr lang="en-US" sz="1050" dirty="0">
                <a:solidFill>
                  <a:srgbClr val="C9D1D9"/>
                </a:solidFill>
                <a:latin typeface="Consolas" pitchFamily="34" charset="0"/>
                <a:ea typeface="Consolas" pitchFamily="34" charset="-122"/>
                <a:cs typeface="Consolas" pitchFamily="34" charset="-120"/>
              </a:rPr>
              <a:t>:</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chequeLifestyleStatus</a:t>
            </a:r>
            <a:r>
              <a:rPr lang="en-US" sz="1050" dirty="0">
                <a:solidFill>
                  <a:srgbClr val="C9D1D9"/>
                </a:solidFill>
                <a:latin typeface="Consolas" pitchFamily="34" charset="0"/>
                <a:ea typeface="Consolas" pitchFamily="34" charset="-122"/>
                <a:cs typeface="Consolas" pitchFamily="34" charset="-120"/>
              </a:rPr>
              <a:t>:</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C9A7EB"/>
                </a:solidFill>
                <a:latin typeface="Consolas" pitchFamily="34" charset="0"/>
                <a:ea typeface="Consolas" pitchFamily="34" charset="-122"/>
                <a:cs typeface="Consolas" pitchFamily="34" charset="-120"/>
              </a:rPr>
              <a:t>$ref</a:t>
            </a: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C9A7EB"/>
                </a:solidFill>
                <a:latin typeface="Consolas" pitchFamily="34" charset="0"/>
                <a:ea typeface="Consolas" pitchFamily="34" charset="-122"/>
                <a:cs typeface="Consolas" pitchFamily="34" charset="-120"/>
              </a:rPr>
              <a:t>'#/.../ChequeLifestyleStatus'</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chequeImage</a:t>
            </a: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CE9178"/>
                </a:solidFill>
                <a:latin typeface="Consolas" pitchFamily="34" charset="0"/>
                <a:ea typeface="Consolas" pitchFamily="34" charset="-122"/>
                <a:cs typeface="Consolas" pitchFamily="34" charset="-120"/>
              </a:rPr>
              <a:t>string</a:t>
            </a:r>
            <a:r>
              <a:rPr lang="en-US" sz="1050" i="1" dirty="0">
                <a:solidFill>
                  <a:srgbClr val="8B949E"/>
                </a:solidFill>
                <a:latin typeface="Consolas" pitchFamily="34" charset="0"/>
                <a:ea typeface="Consolas" pitchFamily="34" charset="-122"/>
                <a:cs typeface="Consolas" pitchFamily="34" charset="-120"/>
              </a:rPr>
              <a:t> # view3</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ChequeSubmissionResponse:</a:t>
            </a:r>
            <a:r>
              <a:rPr lang="en-US" sz="1050" i="1" dirty="0">
                <a:solidFill>
                  <a:srgbClr val="8B949E"/>
                </a:solidFill>
                <a:latin typeface="Consolas" pitchFamily="34" charset="0"/>
                <a:ea typeface="Consolas" pitchFamily="34" charset="-122"/>
                <a:cs typeface="Consolas" pitchFamily="34" charset="-120"/>
              </a:rPr>
              <a:t> # POST</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F6AE2D"/>
                </a:solidFill>
                <a:latin typeface="Consolas" pitchFamily="34" charset="0"/>
                <a:ea typeface="Consolas" pitchFamily="34" charset="-122"/>
                <a:cs typeface="Consolas" pitchFamily="34" charset="-120"/>
              </a:rPr>
              <a:t>allOf</a:t>
            </a:r>
            <a:r>
              <a:rPr lang="en-US" sz="1050" dirty="0">
                <a:solidFill>
                  <a:srgbClr val="C9D1D9"/>
                </a:solidFill>
                <a:latin typeface="Consolas" pitchFamily="34" charset="0"/>
                <a:ea typeface="Consolas" pitchFamily="34" charset="-122"/>
                <a:cs typeface="Consolas" pitchFamily="34" charset="-120"/>
              </a:rPr>
              <a:t>:</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 </a:t>
            </a:r>
            <a:r>
              <a:rPr lang="en-US" sz="1050" dirty="0">
                <a:solidFill>
                  <a:srgbClr val="C9A7EB"/>
                </a:solidFill>
                <a:latin typeface="Consolas" pitchFamily="34" charset="0"/>
                <a:ea typeface="Consolas" pitchFamily="34" charset="-122"/>
                <a:cs typeface="Consolas" pitchFamily="34" charset="-120"/>
              </a:rPr>
              <a:t>$ref</a:t>
            </a:r>
            <a:r>
              <a:rPr lang="en-US" sz="1050" dirty="0">
                <a:solidFill>
                  <a:srgbClr val="C9D1D9"/>
                </a:solidFill>
                <a:latin typeface="Consolas" pitchFamily="34" charset="0"/>
                <a:ea typeface="Consolas" pitchFamily="34" charset="-122"/>
                <a:cs typeface="Consolas" pitchFamily="34" charset="-120"/>
              </a:rPr>
              <a:t>: </a:t>
            </a:r>
            <a:r>
              <a:rPr lang="en-US" sz="1050" dirty="0">
                <a:solidFill>
                  <a:srgbClr val="C9A7EB"/>
                </a:solidFill>
                <a:latin typeface="Consolas" pitchFamily="34" charset="0"/>
                <a:ea typeface="Consolas" pitchFamily="34" charset="-122"/>
                <a:cs typeface="Consolas" pitchFamily="34" charset="-120"/>
              </a:rPr>
              <a:t>'#/.../ChequeProcessingResultBase'</a:t>
            </a:r>
            <a:endParaRPr lang="en-US" sz="1050" dirty="0"/>
          </a:p>
          <a:p>
            <a:pPr marL="0" indent="0">
              <a:lnSpc>
                <a:spcPct val="114000"/>
              </a:lnSpc>
              <a:buNone/>
            </a:pPr>
            <a:r>
              <a:rPr lang="en-US" sz="1050" dirty="0">
                <a:solidFill>
                  <a:srgbClr val="C9D1D9"/>
                </a:solidFill>
                <a:latin typeface="Consolas" pitchFamily="34" charset="0"/>
                <a:ea typeface="Consolas" pitchFamily="34" charset="-122"/>
                <a:cs typeface="Consolas" pitchFamily="34" charset="-120"/>
              </a:rPr>
              <a:t> </a:t>
            </a:r>
            <a:endParaRPr lang="en-US" sz="1050" dirty="0"/>
          </a:p>
          <a:p>
            <a:pPr marL="0" indent="0">
              <a:lnSpc>
                <a:spcPct val="114000"/>
              </a:lnSpc>
              <a:buNone/>
            </a:pPr>
            <a:r>
              <a:rPr lang="en-US" sz="1050" i="1" dirty="0">
                <a:solidFill>
                  <a:srgbClr val="8B949E"/>
                </a:solidFill>
                <a:latin typeface="Consolas" pitchFamily="34" charset="0"/>
                <a:ea typeface="Consolas" pitchFamily="34" charset="-122"/>
                <a:cs typeface="Consolas" pitchFamily="34" charset="-120"/>
              </a:rPr>
              <a:t>  # lifecycle + image are unmapped —</a:t>
            </a:r>
            <a:endParaRPr lang="en-US" sz="1050" dirty="0"/>
          </a:p>
          <a:p>
            <a:pPr marL="0" indent="0">
              <a:lnSpc>
                <a:spcPct val="114000"/>
              </a:lnSpc>
              <a:buNone/>
            </a:pPr>
            <a:r>
              <a:rPr lang="en-US" sz="1050" i="1" dirty="0">
                <a:solidFill>
                  <a:srgbClr val="8B949E"/>
                </a:solidFill>
                <a:latin typeface="Consolas" pitchFamily="34" charset="0"/>
                <a:ea typeface="Consolas" pitchFamily="34" charset="-122"/>
                <a:cs typeface="Consolas" pitchFamily="34" charset="-120"/>
              </a:rPr>
              <a:t>  # not added, so no empty rows.</a:t>
            </a:r>
            <a:endParaRPr lang="en-US" sz="1050" dirty="0"/>
          </a:p>
        </p:txBody>
      </p:sp>
      <p:sp>
        <p:nvSpPr>
          <p:cNvPr id="20" name="Text 18"/>
          <p:cNvSpPr/>
          <p:nvPr/>
        </p:nvSpPr>
        <p:spPr>
          <a:xfrm>
            <a:off x="640080" y="6309360"/>
            <a:ext cx="11155680" cy="411480"/>
          </a:xfrm>
          <a:prstGeom prst="rect">
            <a:avLst/>
          </a:prstGeom>
          <a:noFill/>
          <a:ln/>
        </p:spPr>
        <p:txBody>
          <a:bodyPr wrap="square" lIns="0" tIns="0" rIns="0" bIns="0" rtlCol="0" anchor="ctr"/>
          <a:lstStyle/>
          <a:p>
            <a:pPr marL="0" indent="0">
              <a:buNone/>
            </a:pPr>
            <a:r>
              <a:rPr lang="en-US" sz="1400" dirty="0">
                <a:solidFill>
                  <a:srgbClr val="1F2A33"/>
                </a:solidFill>
                <a:latin typeface="Calibri" pitchFamily="34" charset="0"/>
                <a:ea typeface="Calibri" pitchFamily="34" charset="-122"/>
                <a:cs typeface="Calibri" pitchFamily="34" charset="-120"/>
              </a:rPr>
              <a:t>The POST profile inherits the shared core and stops. </a:t>
            </a:r>
            <a:r>
              <a:rPr lang="en-US" sz="1400" b="1" dirty="0">
                <a:solidFill>
                  <a:srgbClr val="065A82"/>
                </a:solidFill>
                <a:latin typeface="Calibri" pitchFamily="34" charset="0"/>
                <a:ea typeface="Calibri" pitchFamily="34" charset="-122"/>
                <a:cs typeface="Calibri" pitchFamily="34" charset="-120"/>
              </a:rPr>
              <a:t>Unmapped objects are never added, so the response emits no empty rows. The resultContext selector is optional — omit it for plain allOf inheritance.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85800"/>
          </a:xfrm>
          <a:prstGeom prst="rect">
            <a:avLst/>
          </a:prstGeom>
          <a:noFill/>
          <a:ln/>
        </p:spPr>
        <p:txBody>
          <a:bodyPr wrap="square" lIns="0" tIns="0" rIns="0" bIns="0" rtlCol="0" anchor="ctr"/>
          <a:lstStyle/>
          <a:p>
            <a:pPr marL="0" indent="0">
              <a:buNone/>
            </a:pPr>
            <a:r>
              <a:rPr lang="en-US" sz="3400" b="1" dirty="0">
                <a:solidFill>
                  <a:srgbClr val="21295C"/>
                </a:solidFill>
                <a:latin typeface="Cambria" pitchFamily="34" charset="0"/>
                <a:ea typeface="Cambria" pitchFamily="34" charset="-122"/>
                <a:cs typeface="Cambria" pitchFamily="34" charset="-120"/>
              </a:rPr>
              <a:t>Result — no empty rows in either response</a:t>
            </a:r>
            <a:endParaRPr lang="en-US" sz="3400" dirty="0"/>
          </a:p>
        </p:txBody>
      </p:sp>
      <p:sp>
        <p:nvSpPr>
          <p:cNvPr id="3" name="Text 1"/>
          <p:cNvSpPr/>
          <p:nvPr/>
        </p:nvSpPr>
        <p:spPr>
          <a:xfrm>
            <a:off x="640080" y="1078992"/>
            <a:ext cx="10972800" cy="41148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The discriminator picks the profile; each response carries only its mapped fields.</a:t>
            </a:r>
            <a:endParaRPr lang="en-US" sz="1500" dirty="0"/>
          </a:p>
        </p:txBody>
      </p:sp>
      <p:sp>
        <p:nvSpPr>
          <p:cNvPr id="4" name="Shape 2"/>
          <p:cNvSpPr/>
          <p:nvPr/>
        </p:nvSpPr>
        <p:spPr>
          <a:xfrm>
            <a:off x="4078224" y="1737360"/>
            <a:ext cx="4023360" cy="1234440"/>
          </a:xfrm>
          <a:prstGeom prst="rect">
            <a:avLst/>
          </a:prstGeom>
          <a:solidFill>
            <a:srgbClr val="FFFFFF"/>
          </a:solidFill>
          <a:ln w="19050">
            <a:solidFill>
              <a:srgbClr val="21295C"/>
            </a:solidFill>
            <a:prstDash val="solid"/>
          </a:ln>
        </p:spPr>
        <p:txBody>
          <a:bodyPr/>
          <a:lstStyle/>
          <a:p>
            <a:endParaRPr lang="en-AU"/>
          </a:p>
        </p:txBody>
      </p:sp>
      <p:sp>
        <p:nvSpPr>
          <p:cNvPr id="5" name="Shape 3"/>
          <p:cNvSpPr/>
          <p:nvPr/>
        </p:nvSpPr>
        <p:spPr>
          <a:xfrm>
            <a:off x="4078224" y="1737360"/>
            <a:ext cx="4023360" cy="502920"/>
          </a:xfrm>
          <a:prstGeom prst="rect">
            <a:avLst/>
          </a:prstGeom>
          <a:solidFill>
            <a:srgbClr val="21295C"/>
          </a:solidFill>
          <a:ln w="19050">
            <a:solidFill>
              <a:srgbClr val="21295C"/>
            </a:solidFill>
            <a:prstDash val="solid"/>
          </a:ln>
        </p:spPr>
        <p:txBody>
          <a:bodyPr/>
          <a:lstStyle/>
          <a:p>
            <a:endParaRPr lang="en-AU"/>
          </a:p>
        </p:txBody>
      </p:sp>
      <p:sp>
        <p:nvSpPr>
          <p:cNvPr id="6" name="Text 4"/>
          <p:cNvSpPr/>
          <p:nvPr/>
        </p:nvSpPr>
        <p:spPr>
          <a:xfrm>
            <a:off x="4078224" y="1737360"/>
            <a:ext cx="40233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ChequeProcessingResultBase</a:t>
            </a:r>
            <a:endParaRPr lang="en-US" sz="1400" dirty="0"/>
          </a:p>
        </p:txBody>
      </p:sp>
      <p:sp>
        <p:nvSpPr>
          <p:cNvPr id="7" name="Text 5"/>
          <p:cNvSpPr/>
          <p:nvPr/>
        </p:nvSpPr>
        <p:spPr>
          <a:xfrm>
            <a:off x="4206240" y="2304288"/>
            <a:ext cx="3767328" cy="594360"/>
          </a:xfrm>
          <a:prstGeom prst="rect">
            <a:avLst/>
          </a:prstGeom>
          <a:noFill/>
          <a:ln/>
        </p:spPr>
        <p:txBody>
          <a:bodyPr wrap="square" lIns="0" tIns="0" rIns="0" bIns="0" rtlCol="0" anchor="t"/>
          <a:lstStyle/>
          <a:p>
            <a:pPr marL="0" indent="0">
              <a:lnSpc>
                <a:spcPct val="105000"/>
              </a:lnSpc>
              <a:buNone/>
            </a:pPr>
            <a:r>
              <a:rPr lang="en-US" sz="1100" dirty="0">
                <a:solidFill>
                  <a:srgbClr val="1F2A33"/>
                </a:solidFill>
                <a:latin typeface="Consolas" pitchFamily="34" charset="0"/>
                <a:ea typeface="Consolas" pitchFamily="34" charset="-122"/>
                <a:cs typeface="Consolas" pitchFamily="34" charset="-120"/>
              </a:rPr>
              <a:t>channelReferenceNumber</a:t>
            </a:r>
            <a:endParaRPr lang="en-US" sz="1100" dirty="0"/>
          </a:p>
          <a:p>
            <a:pPr marL="0" indent="0">
              <a:lnSpc>
                <a:spcPct val="105000"/>
              </a:lnSpc>
              <a:buNone/>
            </a:pPr>
            <a:r>
              <a:rPr lang="en-US" sz="1100" dirty="0">
                <a:solidFill>
                  <a:srgbClr val="1F2A33"/>
                </a:solidFill>
                <a:latin typeface="Consolas" pitchFamily="34" charset="0"/>
                <a:ea typeface="Consolas" pitchFamily="34" charset="-122"/>
                <a:cs typeface="Consolas" pitchFamily="34" charset="-120"/>
              </a:rPr>
              <a:t>financialInstrumentReference  ·  shared base</a:t>
            </a:r>
            <a:endParaRPr lang="en-US" sz="1100" dirty="0"/>
          </a:p>
        </p:txBody>
      </p:sp>
      <p:sp>
        <p:nvSpPr>
          <p:cNvPr id="8" name="Shape 6"/>
          <p:cNvSpPr/>
          <p:nvPr/>
        </p:nvSpPr>
        <p:spPr>
          <a:xfrm>
            <a:off x="822960" y="4069080"/>
            <a:ext cx="4297680" cy="1965960"/>
          </a:xfrm>
          <a:prstGeom prst="rect">
            <a:avLst/>
          </a:prstGeom>
          <a:solidFill>
            <a:srgbClr val="FFFFFF"/>
          </a:solidFill>
          <a:ln w="19050">
            <a:solidFill>
              <a:srgbClr val="F6AE2D"/>
            </a:solidFill>
            <a:prstDash val="solid"/>
          </a:ln>
        </p:spPr>
        <p:txBody>
          <a:bodyPr/>
          <a:lstStyle/>
          <a:p>
            <a:endParaRPr lang="en-AU"/>
          </a:p>
        </p:txBody>
      </p:sp>
      <p:sp>
        <p:nvSpPr>
          <p:cNvPr id="9" name="Shape 7"/>
          <p:cNvSpPr/>
          <p:nvPr/>
        </p:nvSpPr>
        <p:spPr>
          <a:xfrm>
            <a:off x="822960" y="4069080"/>
            <a:ext cx="4297680" cy="585216"/>
          </a:xfrm>
          <a:prstGeom prst="rect">
            <a:avLst/>
          </a:prstGeom>
          <a:solidFill>
            <a:srgbClr val="F6AE2D"/>
          </a:solidFill>
          <a:ln w="19050">
            <a:solidFill>
              <a:srgbClr val="F6AE2D"/>
            </a:solidFill>
            <a:prstDash val="solid"/>
          </a:ln>
        </p:spPr>
        <p:txBody>
          <a:bodyPr/>
          <a:lstStyle/>
          <a:p>
            <a:endParaRPr lang="en-AU"/>
          </a:p>
        </p:txBody>
      </p:sp>
      <p:sp>
        <p:nvSpPr>
          <p:cNvPr id="10" name="Text 8"/>
          <p:cNvSpPr/>
          <p:nvPr/>
        </p:nvSpPr>
        <p:spPr>
          <a:xfrm>
            <a:off x="1005840" y="4114800"/>
            <a:ext cx="3931920" cy="530352"/>
          </a:xfrm>
          <a:prstGeom prst="rect">
            <a:avLst/>
          </a:prstGeom>
          <a:noFill/>
          <a:ln/>
        </p:spPr>
        <p:txBody>
          <a:bodyPr wrap="square" lIns="0" tIns="0" rIns="0" bIns="0" rtlCol="0" anchor="ctr"/>
          <a:lstStyle/>
          <a:p>
            <a:pPr marL="0" indent="0">
              <a:lnSpc>
                <a:spcPts val="1400"/>
              </a:lnSpc>
              <a:buNone/>
            </a:pPr>
            <a:r>
              <a:rPr lang="en-US" sz="1250" b="1" dirty="0">
                <a:solidFill>
                  <a:srgbClr val="FFFFFF"/>
                </a:solidFill>
                <a:latin typeface="Consolas" pitchFamily="34" charset="0"/>
                <a:ea typeface="Consolas" pitchFamily="34" charset="-122"/>
                <a:cs typeface="Consolas" pitchFamily="34" charset="-120"/>
              </a:rPr>
              <a:t>ChequeEnquiryResponse</a:t>
            </a:r>
            <a:endParaRPr lang="en-US" sz="1250" dirty="0"/>
          </a:p>
          <a:p>
            <a:pPr marL="0" indent="0">
              <a:lnSpc>
                <a:spcPts val="1400"/>
              </a:lnSpc>
              <a:buNone/>
            </a:pPr>
            <a:r>
              <a:rPr lang="en-US" sz="1250" i="1" dirty="0">
                <a:solidFill>
                  <a:srgbClr val="5A3D00"/>
                </a:solidFill>
                <a:latin typeface="Consolas" pitchFamily="34" charset="0"/>
                <a:ea typeface="Consolas" pitchFamily="34" charset="-122"/>
                <a:cs typeface="Consolas" pitchFamily="34" charset="-120"/>
              </a:rPr>
              <a:t>GET profile</a:t>
            </a:r>
            <a:endParaRPr lang="en-US" sz="1250" dirty="0"/>
          </a:p>
        </p:txBody>
      </p:sp>
      <p:sp>
        <p:nvSpPr>
          <p:cNvPr id="11" name="Text 9"/>
          <p:cNvSpPr/>
          <p:nvPr/>
        </p:nvSpPr>
        <p:spPr>
          <a:xfrm>
            <a:off x="1051560" y="4782312"/>
            <a:ext cx="3840480" cy="731520"/>
          </a:xfrm>
          <a:prstGeom prst="rect">
            <a:avLst/>
          </a:prstGeom>
          <a:noFill/>
          <a:ln/>
        </p:spPr>
        <p:txBody>
          <a:bodyPr wrap="square" lIns="0" tIns="0" rIns="0" bIns="0" rtlCol="0" anchor="t"/>
          <a:lstStyle/>
          <a:p>
            <a:pPr marL="0" indent="0">
              <a:lnSpc>
                <a:spcPct val="115000"/>
              </a:lnSpc>
              <a:buNone/>
            </a:pPr>
            <a:r>
              <a:rPr lang="en-US" sz="1200" dirty="0">
                <a:solidFill>
                  <a:srgbClr val="1F2A33"/>
                </a:solidFill>
                <a:latin typeface="Consolas" pitchFamily="34" charset="0"/>
                <a:ea typeface="Consolas" pitchFamily="34" charset="-122"/>
                <a:cs typeface="Consolas" pitchFamily="34" charset="-120"/>
              </a:rPr>
              <a:t>+ chequeLifestyleStatus  (object)</a:t>
            </a:r>
            <a:endParaRPr lang="en-US" sz="1200" dirty="0"/>
          </a:p>
          <a:p>
            <a:pPr marL="0" indent="0">
              <a:lnSpc>
                <a:spcPct val="115000"/>
              </a:lnSpc>
              <a:buNone/>
            </a:pPr>
            <a:r>
              <a:rPr lang="en-US" sz="1200" dirty="0">
                <a:solidFill>
                  <a:srgbClr val="1F2A33"/>
                </a:solidFill>
                <a:latin typeface="Consolas" pitchFamily="34" charset="0"/>
                <a:ea typeface="Consolas" pitchFamily="34" charset="-122"/>
                <a:cs typeface="Consolas" pitchFamily="34" charset="-120"/>
              </a:rPr>
              <a:t>+ chequeImage  → view3</a:t>
            </a:r>
            <a:endParaRPr lang="en-US" sz="1200" dirty="0"/>
          </a:p>
        </p:txBody>
      </p:sp>
      <p:sp>
        <p:nvSpPr>
          <p:cNvPr id="12" name="Shape 10"/>
          <p:cNvSpPr/>
          <p:nvPr/>
        </p:nvSpPr>
        <p:spPr>
          <a:xfrm>
            <a:off x="7040880" y="4069080"/>
            <a:ext cx="4297680" cy="1965960"/>
          </a:xfrm>
          <a:prstGeom prst="rect">
            <a:avLst/>
          </a:prstGeom>
          <a:solidFill>
            <a:srgbClr val="FFFFFF"/>
          </a:solidFill>
          <a:ln w="19050">
            <a:solidFill>
              <a:srgbClr val="1C7293"/>
            </a:solidFill>
            <a:prstDash val="solid"/>
          </a:ln>
        </p:spPr>
        <p:txBody>
          <a:bodyPr/>
          <a:lstStyle/>
          <a:p>
            <a:endParaRPr lang="en-AU"/>
          </a:p>
        </p:txBody>
      </p:sp>
      <p:sp>
        <p:nvSpPr>
          <p:cNvPr id="13" name="Shape 11"/>
          <p:cNvSpPr/>
          <p:nvPr/>
        </p:nvSpPr>
        <p:spPr>
          <a:xfrm>
            <a:off x="7040880" y="4069080"/>
            <a:ext cx="4297680" cy="585216"/>
          </a:xfrm>
          <a:prstGeom prst="rect">
            <a:avLst/>
          </a:prstGeom>
          <a:solidFill>
            <a:srgbClr val="1C7293"/>
          </a:solidFill>
          <a:ln w="19050">
            <a:solidFill>
              <a:srgbClr val="1C7293"/>
            </a:solidFill>
            <a:prstDash val="solid"/>
          </a:ln>
        </p:spPr>
        <p:txBody>
          <a:bodyPr/>
          <a:lstStyle/>
          <a:p>
            <a:endParaRPr lang="en-AU"/>
          </a:p>
        </p:txBody>
      </p:sp>
      <p:sp>
        <p:nvSpPr>
          <p:cNvPr id="14" name="Text 12"/>
          <p:cNvSpPr/>
          <p:nvPr/>
        </p:nvSpPr>
        <p:spPr>
          <a:xfrm>
            <a:off x="7223760" y="4114800"/>
            <a:ext cx="3931920" cy="530352"/>
          </a:xfrm>
          <a:prstGeom prst="rect">
            <a:avLst/>
          </a:prstGeom>
          <a:noFill/>
          <a:ln/>
        </p:spPr>
        <p:txBody>
          <a:bodyPr wrap="square" lIns="0" tIns="0" rIns="0" bIns="0" rtlCol="0" anchor="ctr"/>
          <a:lstStyle/>
          <a:p>
            <a:pPr marL="0" indent="0">
              <a:lnSpc>
                <a:spcPts val="1400"/>
              </a:lnSpc>
              <a:buNone/>
            </a:pPr>
            <a:r>
              <a:rPr lang="en-US" sz="1250" b="1" dirty="0">
                <a:solidFill>
                  <a:srgbClr val="FFFFFF"/>
                </a:solidFill>
                <a:latin typeface="Consolas" pitchFamily="34" charset="0"/>
                <a:ea typeface="Consolas" pitchFamily="34" charset="-122"/>
                <a:cs typeface="Consolas" pitchFamily="34" charset="-120"/>
              </a:rPr>
              <a:t>ChequeSubmissionResponse</a:t>
            </a:r>
            <a:endParaRPr lang="en-US" sz="1250" dirty="0"/>
          </a:p>
          <a:p>
            <a:pPr marL="0" indent="0">
              <a:lnSpc>
                <a:spcPts val="1400"/>
              </a:lnSpc>
              <a:buNone/>
            </a:pPr>
            <a:r>
              <a:rPr lang="en-US" sz="1250" i="1" dirty="0">
                <a:solidFill>
                  <a:srgbClr val="CADCFC"/>
                </a:solidFill>
                <a:latin typeface="Consolas" pitchFamily="34" charset="0"/>
                <a:ea typeface="Consolas" pitchFamily="34" charset="-122"/>
                <a:cs typeface="Consolas" pitchFamily="34" charset="-120"/>
              </a:rPr>
              <a:t>POST profile</a:t>
            </a:r>
            <a:endParaRPr lang="en-US" sz="1250" dirty="0"/>
          </a:p>
        </p:txBody>
      </p:sp>
      <p:sp>
        <p:nvSpPr>
          <p:cNvPr id="15" name="Text 13"/>
          <p:cNvSpPr/>
          <p:nvPr/>
        </p:nvSpPr>
        <p:spPr>
          <a:xfrm>
            <a:off x="7269480" y="4782312"/>
            <a:ext cx="3840480" cy="731520"/>
          </a:xfrm>
          <a:prstGeom prst="rect">
            <a:avLst/>
          </a:prstGeom>
          <a:noFill/>
          <a:ln/>
        </p:spPr>
        <p:txBody>
          <a:bodyPr wrap="square" lIns="0" tIns="0" rIns="0" bIns="0" rtlCol="0" anchor="t"/>
          <a:lstStyle/>
          <a:p>
            <a:pPr marL="0" indent="0">
              <a:lnSpc>
                <a:spcPct val="115000"/>
              </a:lnSpc>
              <a:buNone/>
            </a:pPr>
            <a:r>
              <a:rPr lang="en-US" sz="1200" dirty="0">
                <a:solidFill>
                  <a:srgbClr val="1F2A33"/>
                </a:solidFill>
                <a:latin typeface="Consolas" pitchFamily="34" charset="0"/>
                <a:ea typeface="Consolas" pitchFamily="34" charset="-122"/>
                <a:cs typeface="Consolas" pitchFamily="34" charset="-120"/>
              </a:rPr>
              <a:t>(no extra fields added)</a:t>
            </a:r>
            <a:endParaRPr lang="en-US" sz="1200" dirty="0"/>
          </a:p>
          <a:p>
            <a:pPr marL="0" indent="0">
              <a:lnSpc>
                <a:spcPct val="115000"/>
              </a:lnSpc>
              <a:buNone/>
            </a:pPr>
            <a:r>
              <a:rPr lang="en-US" sz="1200" dirty="0">
                <a:solidFill>
                  <a:srgbClr val="1F2A33"/>
                </a:solidFill>
                <a:latin typeface="Consolas" pitchFamily="34" charset="0"/>
                <a:ea typeface="Consolas" pitchFamily="34" charset="-122"/>
                <a:cs typeface="Consolas" pitchFamily="34" charset="-120"/>
              </a:rPr>
              <a:t>lifecycle + image omitted</a:t>
            </a:r>
            <a:endParaRPr lang="en-US" sz="1200" dirty="0"/>
          </a:p>
        </p:txBody>
      </p:sp>
      <p:sp>
        <p:nvSpPr>
          <p:cNvPr id="16" name="Shape 14"/>
          <p:cNvSpPr/>
          <p:nvPr/>
        </p:nvSpPr>
        <p:spPr>
          <a:xfrm>
            <a:off x="7269480" y="5577840"/>
            <a:ext cx="3840480" cy="329184"/>
          </a:xfrm>
          <a:prstGeom prst="roundRect">
            <a:avLst>
              <a:gd name="adj" fmla="val 22222"/>
            </a:avLst>
          </a:prstGeom>
          <a:solidFill>
            <a:srgbClr val="3FA45A"/>
          </a:solidFill>
          <a:ln/>
        </p:spPr>
        <p:txBody>
          <a:bodyPr/>
          <a:lstStyle/>
          <a:p>
            <a:endParaRPr lang="en-AU"/>
          </a:p>
        </p:txBody>
      </p:sp>
      <p:sp>
        <p:nvSpPr>
          <p:cNvPr id="17" name="Text 15"/>
          <p:cNvSpPr/>
          <p:nvPr/>
        </p:nvSpPr>
        <p:spPr>
          <a:xfrm>
            <a:off x="7269480" y="5577840"/>
            <a:ext cx="384048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no empty rows</a:t>
            </a:r>
            <a:endParaRPr lang="en-US" sz="1200" dirty="0"/>
          </a:p>
        </p:txBody>
      </p:sp>
      <p:sp>
        <p:nvSpPr>
          <p:cNvPr id="18" name="Shape 16"/>
          <p:cNvSpPr/>
          <p:nvPr/>
        </p:nvSpPr>
        <p:spPr>
          <a:xfrm>
            <a:off x="6089904" y="2971800"/>
            <a:ext cx="91" cy="548640"/>
          </a:xfrm>
          <a:prstGeom prst="line">
            <a:avLst/>
          </a:prstGeom>
          <a:noFill/>
          <a:ln w="19050">
            <a:solidFill>
              <a:srgbClr val="5A6B78"/>
            </a:solidFill>
            <a:prstDash val="solid"/>
          </a:ln>
        </p:spPr>
        <p:txBody>
          <a:bodyPr/>
          <a:lstStyle/>
          <a:p>
            <a:endParaRPr lang="en-AU"/>
          </a:p>
        </p:txBody>
      </p:sp>
      <p:sp>
        <p:nvSpPr>
          <p:cNvPr id="19" name="Shape 17"/>
          <p:cNvSpPr/>
          <p:nvPr/>
        </p:nvSpPr>
        <p:spPr>
          <a:xfrm>
            <a:off x="5943600" y="2953512"/>
            <a:ext cx="292608" cy="237744"/>
          </a:xfrm>
          <a:prstGeom prst="triangle">
            <a:avLst/>
          </a:prstGeom>
          <a:solidFill>
            <a:srgbClr val="FFFFFF"/>
          </a:solidFill>
          <a:ln w="19050">
            <a:solidFill>
              <a:srgbClr val="5A6B78"/>
            </a:solidFill>
            <a:prstDash val="solid"/>
          </a:ln>
        </p:spPr>
        <p:txBody>
          <a:bodyPr/>
          <a:lstStyle/>
          <a:p>
            <a:endParaRPr lang="en-AU"/>
          </a:p>
        </p:txBody>
      </p:sp>
      <p:sp>
        <p:nvSpPr>
          <p:cNvPr id="20" name="Shape 18"/>
          <p:cNvSpPr/>
          <p:nvPr/>
        </p:nvSpPr>
        <p:spPr>
          <a:xfrm>
            <a:off x="2971800" y="3520440"/>
            <a:ext cx="6217920" cy="91"/>
          </a:xfrm>
          <a:prstGeom prst="line">
            <a:avLst/>
          </a:prstGeom>
          <a:noFill/>
          <a:ln w="19050">
            <a:solidFill>
              <a:srgbClr val="5A6B78"/>
            </a:solidFill>
            <a:prstDash val="solid"/>
          </a:ln>
        </p:spPr>
        <p:txBody>
          <a:bodyPr/>
          <a:lstStyle/>
          <a:p>
            <a:endParaRPr lang="en-AU"/>
          </a:p>
        </p:txBody>
      </p:sp>
      <p:sp>
        <p:nvSpPr>
          <p:cNvPr id="21" name="Shape 19"/>
          <p:cNvSpPr/>
          <p:nvPr/>
        </p:nvSpPr>
        <p:spPr>
          <a:xfrm>
            <a:off x="2971800" y="3520440"/>
            <a:ext cx="91" cy="548640"/>
          </a:xfrm>
          <a:prstGeom prst="line">
            <a:avLst/>
          </a:prstGeom>
          <a:noFill/>
          <a:ln w="19050">
            <a:solidFill>
              <a:srgbClr val="5A6B78"/>
            </a:solidFill>
            <a:prstDash val="solid"/>
          </a:ln>
        </p:spPr>
        <p:txBody>
          <a:bodyPr/>
          <a:lstStyle/>
          <a:p>
            <a:endParaRPr lang="en-AU"/>
          </a:p>
        </p:txBody>
      </p:sp>
      <p:sp>
        <p:nvSpPr>
          <p:cNvPr id="22" name="Shape 20"/>
          <p:cNvSpPr/>
          <p:nvPr/>
        </p:nvSpPr>
        <p:spPr>
          <a:xfrm>
            <a:off x="2313432" y="3602736"/>
            <a:ext cx="1316736" cy="384048"/>
          </a:xfrm>
          <a:prstGeom prst="roundRect">
            <a:avLst>
              <a:gd name="adj" fmla="val 23810"/>
            </a:avLst>
          </a:prstGeom>
          <a:solidFill>
            <a:srgbClr val="FFFFFF"/>
          </a:solidFill>
          <a:ln w="15875">
            <a:solidFill>
              <a:srgbClr val="F6AE2D"/>
            </a:solidFill>
            <a:prstDash val="solid"/>
          </a:ln>
        </p:spPr>
        <p:txBody>
          <a:bodyPr/>
          <a:lstStyle/>
          <a:p>
            <a:endParaRPr lang="en-AU"/>
          </a:p>
        </p:txBody>
      </p:sp>
      <p:sp>
        <p:nvSpPr>
          <p:cNvPr id="23" name="Text 21"/>
          <p:cNvSpPr/>
          <p:nvPr/>
        </p:nvSpPr>
        <p:spPr>
          <a:xfrm>
            <a:off x="2313432" y="3602736"/>
            <a:ext cx="1316736" cy="384048"/>
          </a:xfrm>
          <a:prstGeom prst="rect">
            <a:avLst/>
          </a:prstGeom>
          <a:noFill/>
          <a:ln/>
        </p:spPr>
        <p:txBody>
          <a:bodyPr wrap="square" lIns="0" tIns="0" rIns="0" bIns="0" rtlCol="0" anchor="ctr"/>
          <a:lstStyle/>
          <a:p>
            <a:pPr marL="0" indent="0" algn="ctr">
              <a:buNone/>
            </a:pPr>
            <a:r>
              <a:rPr lang="en-US" sz="1150" b="1" dirty="0">
                <a:solidFill>
                  <a:srgbClr val="F6AE2D"/>
                </a:solidFill>
                <a:latin typeface="Consolas" pitchFamily="34" charset="0"/>
                <a:ea typeface="Consolas" pitchFamily="34" charset="-122"/>
                <a:cs typeface="Consolas" pitchFamily="34" charset="-120"/>
              </a:rPr>
              <a:t>"enquiry"</a:t>
            </a:r>
            <a:endParaRPr lang="en-US" sz="1150" dirty="0"/>
          </a:p>
        </p:txBody>
      </p:sp>
      <p:sp>
        <p:nvSpPr>
          <p:cNvPr id="24" name="Shape 22"/>
          <p:cNvSpPr/>
          <p:nvPr/>
        </p:nvSpPr>
        <p:spPr>
          <a:xfrm>
            <a:off x="9189720" y="3520440"/>
            <a:ext cx="91" cy="548640"/>
          </a:xfrm>
          <a:prstGeom prst="line">
            <a:avLst/>
          </a:prstGeom>
          <a:noFill/>
          <a:ln w="19050">
            <a:solidFill>
              <a:srgbClr val="5A6B78"/>
            </a:solidFill>
            <a:prstDash val="solid"/>
          </a:ln>
        </p:spPr>
        <p:txBody>
          <a:bodyPr/>
          <a:lstStyle/>
          <a:p>
            <a:endParaRPr lang="en-AU"/>
          </a:p>
        </p:txBody>
      </p:sp>
      <p:sp>
        <p:nvSpPr>
          <p:cNvPr id="25" name="Shape 23"/>
          <p:cNvSpPr/>
          <p:nvPr/>
        </p:nvSpPr>
        <p:spPr>
          <a:xfrm>
            <a:off x="8531352" y="3602736"/>
            <a:ext cx="1316736" cy="384048"/>
          </a:xfrm>
          <a:prstGeom prst="roundRect">
            <a:avLst>
              <a:gd name="adj" fmla="val 23810"/>
            </a:avLst>
          </a:prstGeom>
          <a:solidFill>
            <a:srgbClr val="FFFFFF"/>
          </a:solidFill>
          <a:ln w="15875">
            <a:solidFill>
              <a:srgbClr val="1C7293"/>
            </a:solidFill>
            <a:prstDash val="solid"/>
          </a:ln>
        </p:spPr>
        <p:txBody>
          <a:bodyPr/>
          <a:lstStyle/>
          <a:p>
            <a:endParaRPr lang="en-AU"/>
          </a:p>
        </p:txBody>
      </p:sp>
      <p:sp>
        <p:nvSpPr>
          <p:cNvPr id="26" name="Text 24"/>
          <p:cNvSpPr/>
          <p:nvPr/>
        </p:nvSpPr>
        <p:spPr>
          <a:xfrm>
            <a:off x="8531352" y="3602736"/>
            <a:ext cx="1316736" cy="384048"/>
          </a:xfrm>
          <a:prstGeom prst="rect">
            <a:avLst/>
          </a:prstGeom>
          <a:noFill/>
          <a:ln/>
        </p:spPr>
        <p:txBody>
          <a:bodyPr wrap="square" lIns="0" tIns="0" rIns="0" bIns="0" rtlCol="0" anchor="ctr"/>
          <a:lstStyle/>
          <a:p>
            <a:pPr marL="0" indent="0" algn="ctr">
              <a:buNone/>
            </a:pPr>
            <a:r>
              <a:rPr lang="en-US" sz="1150" b="1" dirty="0">
                <a:solidFill>
                  <a:srgbClr val="1C7293"/>
                </a:solidFill>
                <a:latin typeface="Consolas" pitchFamily="34" charset="0"/>
                <a:ea typeface="Consolas" pitchFamily="34" charset="-122"/>
                <a:cs typeface="Consolas" pitchFamily="34" charset="-120"/>
              </a:rPr>
              <a:t>"submission"</a:t>
            </a:r>
            <a:endParaRPr lang="en-US" sz="1150" dirty="0"/>
          </a:p>
        </p:txBody>
      </p:sp>
      <p:sp>
        <p:nvSpPr>
          <p:cNvPr id="27" name="Text 25"/>
          <p:cNvSpPr/>
          <p:nvPr/>
        </p:nvSpPr>
        <p:spPr>
          <a:xfrm>
            <a:off x="640080" y="6172200"/>
            <a:ext cx="10972800" cy="411480"/>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Same shared object, two shapes on one swagger — </a:t>
            </a:r>
            <a:r>
              <a:rPr lang="en-US" sz="1350" i="1" dirty="0">
                <a:solidFill>
                  <a:srgbClr val="1F2A33"/>
                </a:solidFill>
                <a:latin typeface="Calibri" pitchFamily="34" charset="0"/>
                <a:ea typeface="Calibri" pitchFamily="34" charset="-122"/>
                <a:cs typeface="Calibri" pitchFamily="34" charset="-120"/>
              </a:rPr>
              <a:t>the POST response never carries the unmapped lifecycle or image fields.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85800"/>
          </a:xfrm>
          <a:prstGeom prst="rect">
            <a:avLst/>
          </a:prstGeom>
          <a:noFill/>
          <a:ln/>
        </p:spPr>
        <p:txBody>
          <a:bodyPr wrap="square" lIns="0" tIns="0" rIns="0" bIns="0" rtlCol="0" anchor="ctr"/>
          <a:lstStyle/>
          <a:p>
            <a:pPr marL="0" indent="0">
              <a:buNone/>
            </a:pPr>
            <a:r>
              <a:rPr lang="en-US" sz="3400" b="1" dirty="0">
                <a:solidFill>
                  <a:srgbClr val="21295C"/>
                </a:solidFill>
                <a:latin typeface="Cambria" pitchFamily="34" charset="0"/>
                <a:ea typeface="Cambria" pitchFamily="34" charset="-122"/>
                <a:cs typeface="Cambria" pitchFamily="34" charset="-120"/>
              </a:rPr>
              <a:t>One class, reused in request and response</a:t>
            </a:r>
            <a:endParaRPr lang="en-US" sz="3400" dirty="0"/>
          </a:p>
        </p:txBody>
      </p:sp>
      <p:sp>
        <p:nvSpPr>
          <p:cNvPr id="3" name="Text 1"/>
          <p:cNvSpPr/>
          <p:nvPr/>
        </p:nvSpPr>
        <p:spPr>
          <a:xfrm>
            <a:off x="640080" y="1078992"/>
            <a:ext cx="10972800" cy="411480"/>
          </a:xfrm>
          <a:prstGeom prst="rect">
            <a:avLst/>
          </a:prstGeom>
          <a:noFill/>
          <a:ln/>
        </p:spPr>
        <p:txBody>
          <a:bodyPr wrap="square" lIns="0" tIns="0" rIns="0" bIns="0" rtlCol="0" anchor="ctr"/>
          <a:lstStyle/>
          <a:p>
            <a:pPr marL="0" indent="0">
              <a:buNone/>
            </a:pPr>
            <a:r>
              <a:rPr lang="en-US" sz="1500" dirty="0">
                <a:solidFill>
                  <a:srgbClr val="5A6B78"/>
                </a:solidFill>
                <a:latin typeface="Calibri" pitchFamily="34" charset="0"/>
                <a:ea typeface="Calibri" pitchFamily="34" charset="-122"/>
                <a:cs typeface="Calibri" pitchFamily="34" charset="-120"/>
              </a:rPr>
              <a:t>A class defined in components/schemas is direction-agnostic — a request body and a response can both $ref it.</a:t>
            </a:r>
            <a:endParaRPr lang="en-US" sz="1500" dirty="0"/>
          </a:p>
        </p:txBody>
      </p:sp>
      <p:sp>
        <p:nvSpPr>
          <p:cNvPr id="4" name="Shape 2"/>
          <p:cNvSpPr/>
          <p:nvPr/>
        </p:nvSpPr>
        <p:spPr>
          <a:xfrm>
            <a:off x="3986784" y="1783080"/>
            <a:ext cx="4206240" cy="1645920"/>
          </a:xfrm>
          <a:prstGeom prst="rect">
            <a:avLst/>
          </a:prstGeom>
          <a:solidFill>
            <a:srgbClr val="FFFFFF"/>
          </a:solidFill>
          <a:ln w="19050">
            <a:solidFill>
              <a:srgbClr val="21295C"/>
            </a:solidFill>
            <a:prstDash val="solid"/>
          </a:ln>
        </p:spPr>
        <p:txBody>
          <a:bodyPr/>
          <a:lstStyle/>
          <a:p>
            <a:endParaRPr lang="en-AU"/>
          </a:p>
        </p:txBody>
      </p:sp>
      <p:sp>
        <p:nvSpPr>
          <p:cNvPr id="5" name="Shape 3"/>
          <p:cNvSpPr/>
          <p:nvPr/>
        </p:nvSpPr>
        <p:spPr>
          <a:xfrm>
            <a:off x="3986784" y="1783080"/>
            <a:ext cx="4206240" cy="822960"/>
          </a:xfrm>
          <a:prstGeom prst="rect">
            <a:avLst/>
          </a:prstGeom>
          <a:solidFill>
            <a:srgbClr val="21295C"/>
          </a:solidFill>
          <a:ln w="19050">
            <a:solidFill>
              <a:srgbClr val="21295C"/>
            </a:solidFill>
            <a:prstDash val="solid"/>
          </a:ln>
        </p:spPr>
        <p:txBody>
          <a:bodyPr/>
          <a:lstStyle/>
          <a:p>
            <a:endParaRPr lang="en-AU"/>
          </a:p>
        </p:txBody>
      </p:sp>
      <p:sp>
        <p:nvSpPr>
          <p:cNvPr id="6" name="Text 4"/>
          <p:cNvSpPr/>
          <p:nvPr/>
        </p:nvSpPr>
        <p:spPr>
          <a:xfrm>
            <a:off x="4169664" y="1874520"/>
            <a:ext cx="3840480" cy="640080"/>
          </a:xfrm>
          <a:prstGeom prst="rect">
            <a:avLst/>
          </a:prstGeom>
          <a:noFill/>
          <a:ln/>
        </p:spPr>
        <p:txBody>
          <a:bodyPr wrap="square" lIns="0" tIns="0" rIns="0" bIns="0" rtlCol="0" anchor="ctr"/>
          <a:lstStyle/>
          <a:p>
            <a:pPr marL="0" indent="0">
              <a:lnSpc>
                <a:spcPts val="1500"/>
              </a:lnSpc>
              <a:buNone/>
            </a:pPr>
            <a:r>
              <a:rPr lang="en-US" sz="1350" b="1" dirty="0">
                <a:solidFill>
                  <a:srgbClr val="FFFFFF"/>
                </a:solidFill>
                <a:latin typeface="Consolas" pitchFamily="34" charset="0"/>
                <a:ea typeface="Consolas" pitchFamily="34" charset="-122"/>
                <a:cs typeface="Consolas" pitchFamily="34" charset="-120"/>
              </a:rPr>
              <a:t>ChequeReference</a:t>
            </a:r>
            <a:endParaRPr lang="en-US" sz="1350" dirty="0"/>
          </a:p>
          <a:p>
            <a:pPr marL="0" indent="0">
              <a:lnSpc>
                <a:spcPts val="1500"/>
              </a:lnSpc>
              <a:buNone/>
            </a:pPr>
            <a:r>
              <a:rPr lang="en-US" sz="1350" i="1" dirty="0">
                <a:solidFill>
                  <a:srgbClr val="CADCFC"/>
                </a:solidFill>
                <a:latin typeface="Consolas" pitchFamily="34" charset="0"/>
                <a:ea typeface="Consolas" pitchFamily="34" charset="-122"/>
                <a:cs typeface="Consolas" pitchFamily="34" charset="-120"/>
              </a:rPr>
              <a:t>components/schemas · define once</a:t>
            </a:r>
            <a:endParaRPr lang="en-US" sz="1350" dirty="0"/>
          </a:p>
        </p:txBody>
      </p:sp>
      <p:sp>
        <p:nvSpPr>
          <p:cNvPr id="7" name="Text 5"/>
          <p:cNvSpPr/>
          <p:nvPr/>
        </p:nvSpPr>
        <p:spPr>
          <a:xfrm>
            <a:off x="4215384" y="2697480"/>
            <a:ext cx="3749040" cy="640080"/>
          </a:xfrm>
          <a:prstGeom prst="rect">
            <a:avLst/>
          </a:prstGeom>
          <a:noFill/>
          <a:ln/>
        </p:spPr>
        <p:txBody>
          <a:bodyPr wrap="square" lIns="0" tIns="0" rIns="0" bIns="0" rtlCol="0" anchor="t"/>
          <a:lstStyle/>
          <a:p>
            <a:pPr marL="0" indent="0">
              <a:lnSpc>
                <a:spcPct val="110000"/>
              </a:lnSpc>
              <a:buNone/>
            </a:pPr>
            <a:r>
              <a:rPr lang="en-US" sz="1200" dirty="0">
                <a:solidFill>
                  <a:srgbClr val="1F2A33"/>
                </a:solidFill>
                <a:latin typeface="Consolas" pitchFamily="34" charset="0"/>
                <a:ea typeface="Consolas" pitchFamily="34" charset="-122"/>
                <a:cs typeface="Consolas" pitchFamily="34" charset="-120"/>
              </a:rPr>
              <a:t>channelReferenceNumber</a:t>
            </a:r>
            <a:endParaRPr lang="en-US" sz="1200" dirty="0"/>
          </a:p>
          <a:p>
            <a:pPr marL="0" indent="0">
              <a:lnSpc>
                <a:spcPct val="110000"/>
              </a:lnSpc>
              <a:buNone/>
            </a:pPr>
            <a:r>
              <a:rPr lang="en-US" sz="1200" dirty="0">
                <a:solidFill>
                  <a:srgbClr val="1F2A33"/>
                </a:solidFill>
                <a:latin typeface="Consolas" pitchFamily="34" charset="0"/>
                <a:ea typeface="Consolas" pitchFamily="34" charset="-122"/>
                <a:cs typeface="Consolas" pitchFamily="34" charset="-120"/>
              </a:rPr>
              <a:t>financialInstrumentReference</a:t>
            </a:r>
            <a:endParaRPr lang="en-US" sz="1200" dirty="0"/>
          </a:p>
        </p:txBody>
      </p:sp>
      <p:sp>
        <p:nvSpPr>
          <p:cNvPr id="8" name="Shape 6"/>
          <p:cNvSpPr/>
          <p:nvPr/>
        </p:nvSpPr>
        <p:spPr>
          <a:xfrm>
            <a:off x="960120" y="4297680"/>
            <a:ext cx="4023360" cy="1417320"/>
          </a:xfrm>
          <a:prstGeom prst="rect">
            <a:avLst/>
          </a:prstGeom>
          <a:solidFill>
            <a:srgbClr val="FFFFFF"/>
          </a:solidFill>
          <a:ln w="19050">
            <a:solidFill>
              <a:srgbClr val="065A82"/>
            </a:solidFill>
            <a:prstDash val="solid"/>
          </a:ln>
        </p:spPr>
        <p:txBody>
          <a:bodyPr/>
          <a:lstStyle/>
          <a:p>
            <a:endParaRPr lang="en-AU"/>
          </a:p>
        </p:txBody>
      </p:sp>
      <p:sp>
        <p:nvSpPr>
          <p:cNvPr id="9" name="Shape 7"/>
          <p:cNvSpPr/>
          <p:nvPr/>
        </p:nvSpPr>
        <p:spPr>
          <a:xfrm>
            <a:off x="960120" y="4297680"/>
            <a:ext cx="4023360" cy="530352"/>
          </a:xfrm>
          <a:prstGeom prst="rect">
            <a:avLst/>
          </a:prstGeom>
          <a:solidFill>
            <a:srgbClr val="065A82"/>
          </a:solidFill>
          <a:ln w="19050">
            <a:solidFill>
              <a:srgbClr val="065A82"/>
            </a:solidFill>
            <a:prstDash val="solid"/>
          </a:ln>
        </p:spPr>
        <p:txBody>
          <a:bodyPr/>
          <a:lstStyle/>
          <a:p>
            <a:endParaRPr lang="en-AU"/>
          </a:p>
        </p:txBody>
      </p:sp>
      <p:sp>
        <p:nvSpPr>
          <p:cNvPr id="10" name="Text 8"/>
          <p:cNvSpPr/>
          <p:nvPr/>
        </p:nvSpPr>
        <p:spPr>
          <a:xfrm>
            <a:off x="960120" y="4297680"/>
            <a:ext cx="4023360" cy="530352"/>
          </a:xfrm>
          <a:prstGeom prst="rect">
            <a:avLst/>
          </a:prstGeom>
          <a:noFill/>
          <a:ln/>
        </p:spPr>
        <p:txBody>
          <a:bodyPr wrap="square" lIns="0" tIns="0" rIns="0" bIns="0" rtlCol="0" anchor="ctr"/>
          <a:lstStyle/>
          <a:p>
            <a:pPr marL="0" indent="0" algn="ctr">
              <a:buNone/>
            </a:pPr>
            <a:r>
              <a:rPr lang="en-US" sz="1350" b="1" dirty="0">
                <a:solidFill>
                  <a:srgbClr val="FFFFFF"/>
                </a:solidFill>
                <a:latin typeface="Consolas" pitchFamily="34" charset="0"/>
                <a:ea typeface="Consolas" pitchFamily="34" charset="-122"/>
                <a:cs typeface="Consolas" pitchFamily="34" charset="-120"/>
              </a:rPr>
              <a:t>POST · requestBody</a:t>
            </a:r>
            <a:endParaRPr lang="en-US" sz="1350" dirty="0"/>
          </a:p>
        </p:txBody>
      </p:sp>
      <p:sp>
        <p:nvSpPr>
          <p:cNvPr id="11" name="Text 9"/>
          <p:cNvSpPr/>
          <p:nvPr/>
        </p:nvSpPr>
        <p:spPr>
          <a:xfrm>
            <a:off x="1188720" y="5010912"/>
            <a:ext cx="3657600" cy="594360"/>
          </a:xfrm>
          <a:prstGeom prst="rect">
            <a:avLst/>
          </a:prstGeom>
          <a:noFill/>
          <a:ln/>
        </p:spPr>
        <p:txBody>
          <a:bodyPr wrap="square" lIns="0" tIns="0" rIns="0" bIns="0" rtlCol="0" anchor="t"/>
          <a:lstStyle/>
          <a:p>
            <a:pPr marL="0" indent="0">
              <a:lnSpc>
                <a:spcPct val="120000"/>
              </a:lnSpc>
              <a:buNone/>
            </a:pPr>
            <a:r>
              <a:rPr lang="en-US" sz="1250" i="1" dirty="0">
                <a:solidFill>
                  <a:srgbClr val="5A6B78"/>
                </a:solidFill>
                <a:latin typeface="Consolas" pitchFamily="34" charset="0"/>
                <a:ea typeface="Consolas" pitchFamily="34" charset="-122"/>
                <a:cs typeface="Consolas" pitchFamily="34" charset="-120"/>
              </a:rPr>
              <a:t>Cheque_Submission
</a:t>
            </a:r>
            <a:endParaRPr lang="en-US" sz="1250" dirty="0"/>
          </a:p>
          <a:p>
            <a:pPr marL="0" indent="0">
              <a:lnSpc>
                <a:spcPct val="120000"/>
              </a:lnSpc>
              <a:buNone/>
            </a:pPr>
            <a:r>
              <a:rPr lang="en-US" sz="1250" dirty="0">
                <a:solidFill>
                  <a:srgbClr val="1F2A33"/>
                </a:solidFill>
                <a:latin typeface="Consolas" pitchFamily="34" charset="0"/>
                <a:ea typeface="Consolas" pitchFamily="34" charset="-122"/>
                <a:cs typeface="Consolas" pitchFamily="34" charset="-120"/>
              </a:rPr>
              <a:t>$ref → </a:t>
            </a:r>
            <a:r>
              <a:rPr lang="en-US" sz="1250" b="1" dirty="0">
                <a:solidFill>
                  <a:srgbClr val="065A82"/>
                </a:solidFill>
                <a:latin typeface="Consolas" pitchFamily="34" charset="0"/>
                <a:ea typeface="Consolas" pitchFamily="34" charset="-122"/>
                <a:cs typeface="Consolas" pitchFamily="34" charset="-120"/>
              </a:rPr>
              <a:t>ChequeReference</a:t>
            </a:r>
            <a:endParaRPr lang="en-US" sz="1250" dirty="0"/>
          </a:p>
        </p:txBody>
      </p:sp>
      <p:sp>
        <p:nvSpPr>
          <p:cNvPr id="12" name="Shape 10"/>
          <p:cNvSpPr/>
          <p:nvPr/>
        </p:nvSpPr>
        <p:spPr>
          <a:xfrm>
            <a:off x="7178040" y="4297680"/>
            <a:ext cx="4023360" cy="1417320"/>
          </a:xfrm>
          <a:prstGeom prst="rect">
            <a:avLst/>
          </a:prstGeom>
          <a:solidFill>
            <a:srgbClr val="FFFFFF"/>
          </a:solidFill>
          <a:ln w="19050">
            <a:solidFill>
              <a:srgbClr val="1C7293"/>
            </a:solidFill>
            <a:prstDash val="solid"/>
          </a:ln>
        </p:spPr>
        <p:txBody>
          <a:bodyPr/>
          <a:lstStyle/>
          <a:p>
            <a:endParaRPr lang="en-AU"/>
          </a:p>
        </p:txBody>
      </p:sp>
      <p:sp>
        <p:nvSpPr>
          <p:cNvPr id="13" name="Shape 11"/>
          <p:cNvSpPr/>
          <p:nvPr/>
        </p:nvSpPr>
        <p:spPr>
          <a:xfrm>
            <a:off x="7178040" y="4297680"/>
            <a:ext cx="4023360" cy="530352"/>
          </a:xfrm>
          <a:prstGeom prst="rect">
            <a:avLst/>
          </a:prstGeom>
          <a:solidFill>
            <a:srgbClr val="1C7293"/>
          </a:solidFill>
          <a:ln w="19050">
            <a:solidFill>
              <a:srgbClr val="1C7293"/>
            </a:solidFill>
            <a:prstDash val="solid"/>
          </a:ln>
        </p:spPr>
        <p:txBody>
          <a:bodyPr/>
          <a:lstStyle/>
          <a:p>
            <a:endParaRPr lang="en-AU"/>
          </a:p>
        </p:txBody>
      </p:sp>
      <p:sp>
        <p:nvSpPr>
          <p:cNvPr id="14" name="Text 12"/>
          <p:cNvSpPr/>
          <p:nvPr/>
        </p:nvSpPr>
        <p:spPr>
          <a:xfrm>
            <a:off x="7178040" y="4297680"/>
            <a:ext cx="4023360" cy="530352"/>
          </a:xfrm>
          <a:prstGeom prst="rect">
            <a:avLst/>
          </a:prstGeom>
          <a:noFill/>
          <a:ln/>
        </p:spPr>
        <p:txBody>
          <a:bodyPr wrap="square" lIns="0" tIns="0" rIns="0" bIns="0" rtlCol="0" anchor="ctr"/>
          <a:lstStyle/>
          <a:p>
            <a:pPr marL="0" indent="0" algn="ctr">
              <a:buNone/>
            </a:pPr>
            <a:r>
              <a:rPr lang="en-US" sz="1350" b="1" dirty="0">
                <a:solidFill>
                  <a:srgbClr val="FFFFFF"/>
                </a:solidFill>
                <a:latin typeface="Consolas" pitchFamily="34" charset="0"/>
                <a:ea typeface="Consolas" pitchFamily="34" charset="-122"/>
                <a:cs typeface="Consolas" pitchFamily="34" charset="-120"/>
              </a:rPr>
              <a:t>GET · response</a:t>
            </a:r>
            <a:endParaRPr lang="en-US" sz="1350" dirty="0"/>
          </a:p>
        </p:txBody>
      </p:sp>
      <p:sp>
        <p:nvSpPr>
          <p:cNvPr id="15" name="Text 13"/>
          <p:cNvSpPr/>
          <p:nvPr/>
        </p:nvSpPr>
        <p:spPr>
          <a:xfrm>
            <a:off x="7406640" y="5010912"/>
            <a:ext cx="3657600" cy="594360"/>
          </a:xfrm>
          <a:prstGeom prst="rect">
            <a:avLst/>
          </a:prstGeom>
          <a:noFill/>
          <a:ln/>
        </p:spPr>
        <p:txBody>
          <a:bodyPr wrap="square" lIns="0" tIns="0" rIns="0" bIns="0" rtlCol="0" anchor="t"/>
          <a:lstStyle/>
          <a:p>
            <a:pPr marL="0" indent="0">
              <a:lnSpc>
                <a:spcPct val="120000"/>
              </a:lnSpc>
              <a:buNone/>
            </a:pPr>
            <a:r>
              <a:rPr lang="en-US" sz="1250" i="1" dirty="0">
                <a:solidFill>
                  <a:srgbClr val="5A6B78"/>
                </a:solidFill>
                <a:latin typeface="Consolas" pitchFamily="34" charset="0"/>
                <a:ea typeface="Consolas" pitchFamily="34" charset="-122"/>
                <a:cs typeface="Consolas" pitchFamily="34" charset="-120"/>
              </a:rPr>
              <a:t>Cheque_Enquiry
</a:t>
            </a:r>
            <a:endParaRPr lang="en-US" sz="1250" dirty="0"/>
          </a:p>
          <a:p>
            <a:pPr marL="0" indent="0">
              <a:lnSpc>
                <a:spcPct val="120000"/>
              </a:lnSpc>
              <a:buNone/>
            </a:pPr>
            <a:r>
              <a:rPr lang="en-US" sz="1250" dirty="0">
                <a:solidFill>
                  <a:srgbClr val="1F2A33"/>
                </a:solidFill>
                <a:latin typeface="Consolas" pitchFamily="34" charset="0"/>
                <a:ea typeface="Consolas" pitchFamily="34" charset="-122"/>
                <a:cs typeface="Consolas" pitchFamily="34" charset="-120"/>
              </a:rPr>
              <a:t>$ref → </a:t>
            </a:r>
            <a:r>
              <a:rPr lang="en-US" sz="1250" b="1" dirty="0">
                <a:solidFill>
                  <a:srgbClr val="065A82"/>
                </a:solidFill>
                <a:latin typeface="Consolas" pitchFamily="34" charset="0"/>
                <a:ea typeface="Consolas" pitchFamily="34" charset="-122"/>
                <a:cs typeface="Consolas" pitchFamily="34" charset="-120"/>
              </a:rPr>
              <a:t>ChequeReference</a:t>
            </a:r>
            <a:endParaRPr lang="en-US" sz="1250" dirty="0"/>
          </a:p>
        </p:txBody>
      </p:sp>
      <p:sp>
        <p:nvSpPr>
          <p:cNvPr id="16" name="Shape 14"/>
          <p:cNvSpPr/>
          <p:nvPr/>
        </p:nvSpPr>
        <p:spPr>
          <a:xfrm>
            <a:off x="6089904" y="3429000"/>
            <a:ext cx="91" cy="457200"/>
          </a:xfrm>
          <a:prstGeom prst="line">
            <a:avLst/>
          </a:prstGeom>
          <a:noFill/>
          <a:ln w="19050">
            <a:solidFill>
              <a:srgbClr val="5A6B78"/>
            </a:solidFill>
            <a:prstDash val="solid"/>
          </a:ln>
        </p:spPr>
        <p:txBody>
          <a:bodyPr/>
          <a:lstStyle/>
          <a:p>
            <a:endParaRPr lang="en-AU"/>
          </a:p>
        </p:txBody>
      </p:sp>
      <p:sp>
        <p:nvSpPr>
          <p:cNvPr id="17" name="Shape 15"/>
          <p:cNvSpPr/>
          <p:nvPr/>
        </p:nvSpPr>
        <p:spPr>
          <a:xfrm>
            <a:off x="2971800" y="3886200"/>
            <a:ext cx="3118104" cy="91"/>
          </a:xfrm>
          <a:prstGeom prst="line">
            <a:avLst/>
          </a:prstGeom>
          <a:noFill/>
          <a:ln w="19050">
            <a:solidFill>
              <a:srgbClr val="5A6B78"/>
            </a:solidFill>
            <a:prstDash val="solid"/>
          </a:ln>
        </p:spPr>
        <p:txBody>
          <a:bodyPr/>
          <a:lstStyle/>
          <a:p>
            <a:endParaRPr lang="en-AU"/>
          </a:p>
        </p:txBody>
      </p:sp>
      <p:sp>
        <p:nvSpPr>
          <p:cNvPr id="18" name="Shape 16"/>
          <p:cNvSpPr/>
          <p:nvPr/>
        </p:nvSpPr>
        <p:spPr>
          <a:xfrm>
            <a:off x="2971800" y="3886200"/>
            <a:ext cx="91" cy="411480"/>
          </a:xfrm>
          <a:prstGeom prst="line">
            <a:avLst/>
          </a:prstGeom>
          <a:noFill/>
          <a:ln w="19050">
            <a:solidFill>
              <a:srgbClr val="5A6B78"/>
            </a:solidFill>
            <a:prstDash val="solid"/>
          </a:ln>
        </p:spPr>
        <p:txBody>
          <a:bodyPr/>
          <a:lstStyle/>
          <a:p>
            <a:endParaRPr lang="en-AU"/>
          </a:p>
        </p:txBody>
      </p:sp>
      <p:sp>
        <p:nvSpPr>
          <p:cNvPr id="19" name="Shape 17"/>
          <p:cNvSpPr/>
          <p:nvPr/>
        </p:nvSpPr>
        <p:spPr>
          <a:xfrm>
            <a:off x="2587752" y="3918204"/>
            <a:ext cx="768096" cy="347472"/>
          </a:xfrm>
          <a:prstGeom prst="roundRect">
            <a:avLst>
              <a:gd name="adj" fmla="val 23684"/>
            </a:avLst>
          </a:prstGeom>
          <a:solidFill>
            <a:srgbClr val="FFFFFF"/>
          </a:solidFill>
          <a:ln w="15875">
            <a:solidFill>
              <a:srgbClr val="065A82"/>
            </a:solidFill>
            <a:prstDash val="solid"/>
          </a:ln>
        </p:spPr>
        <p:txBody>
          <a:bodyPr/>
          <a:lstStyle/>
          <a:p>
            <a:endParaRPr lang="en-AU"/>
          </a:p>
        </p:txBody>
      </p:sp>
      <p:sp>
        <p:nvSpPr>
          <p:cNvPr id="20" name="Text 18"/>
          <p:cNvSpPr/>
          <p:nvPr/>
        </p:nvSpPr>
        <p:spPr>
          <a:xfrm>
            <a:off x="2587752" y="3918204"/>
            <a:ext cx="768096" cy="347472"/>
          </a:xfrm>
          <a:prstGeom prst="rect">
            <a:avLst/>
          </a:prstGeom>
          <a:noFill/>
          <a:ln/>
        </p:spPr>
        <p:txBody>
          <a:bodyPr wrap="square" lIns="0" tIns="0" rIns="0" bIns="0" rtlCol="0" anchor="ctr"/>
          <a:lstStyle/>
          <a:p>
            <a:pPr marL="0" indent="0" algn="ctr">
              <a:buNone/>
            </a:pPr>
            <a:r>
              <a:rPr lang="en-US" sz="1100" b="1" dirty="0">
                <a:solidFill>
                  <a:srgbClr val="065A82"/>
                </a:solidFill>
                <a:latin typeface="Consolas" pitchFamily="34" charset="0"/>
                <a:ea typeface="Consolas" pitchFamily="34" charset="-122"/>
                <a:cs typeface="Consolas" pitchFamily="34" charset="-120"/>
              </a:rPr>
              <a:t>$ref</a:t>
            </a:r>
            <a:endParaRPr lang="en-US" sz="1100" dirty="0"/>
          </a:p>
        </p:txBody>
      </p:sp>
      <p:sp>
        <p:nvSpPr>
          <p:cNvPr id="21" name="Shape 19"/>
          <p:cNvSpPr/>
          <p:nvPr/>
        </p:nvSpPr>
        <p:spPr>
          <a:xfrm>
            <a:off x="9189720" y="3886200"/>
            <a:ext cx="0" cy="91"/>
          </a:xfrm>
          <a:prstGeom prst="line">
            <a:avLst/>
          </a:prstGeom>
          <a:noFill/>
          <a:ln w="19050">
            <a:solidFill>
              <a:srgbClr val="5A6B78"/>
            </a:solidFill>
            <a:prstDash val="solid"/>
          </a:ln>
        </p:spPr>
        <p:txBody>
          <a:bodyPr/>
          <a:lstStyle/>
          <a:p>
            <a:endParaRPr lang="en-AU"/>
          </a:p>
        </p:txBody>
      </p:sp>
      <p:sp>
        <p:nvSpPr>
          <p:cNvPr id="22" name="Shape 20"/>
          <p:cNvSpPr/>
          <p:nvPr/>
        </p:nvSpPr>
        <p:spPr>
          <a:xfrm>
            <a:off x="9189720" y="3886200"/>
            <a:ext cx="91" cy="411480"/>
          </a:xfrm>
          <a:prstGeom prst="line">
            <a:avLst/>
          </a:prstGeom>
          <a:noFill/>
          <a:ln w="19050">
            <a:solidFill>
              <a:srgbClr val="5A6B78"/>
            </a:solidFill>
            <a:prstDash val="solid"/>
          </a:ln>
        </p:spPr>
        <p:txBody>
          <a:bodyPr/>
          <a:lstStyle/>
          <a:p>
            <a:endParaRPr lang="en-AU"/>
          </a:p>
        </p:txBody>
      </p:sp>
      <p:sp>
        <p:nvSpPr>
          <p:cNvPr id="23" name="Shape 21"/>
          <p:cNvSpPr/>
          <p:nvPr/>
        </p:nvSpPr>
        <p:spPr>
          <a:xfrm>
            <a:off x="8805672" y="3918204"/>
            <a:ext cx="768096" cy="347472"/>
          </a:xfrm>
          <a:prstGeom prst="roundRect">
            <a:avLst>
              <a:gd name="adj" fmla="val 23684"/>
            </a:avLst>
          </a:prstGeom>
          <a:solidFill>
            <a:srgbClr val="FFFFFF"/>
          </a:solidFill>
          <a:ln w="15875">
            <a:solidFill>
              <a:srgbClr val="1C7293"/>
            </a:solidFill>
            <a:prstDash val="solid"/>
          </a:ln>
        </p:spPr>
        <p:txBody>
          <a:bodyPr/>
          <a:lstStyle/>
          <a:p>
            <a:endParaRPr lang="en-AU"/>
          </a:p>
        </p:txBody>
      </p:sp>
      <p:sp>
        <p:nvSpPr>
          <p:cNvPr id="24" name="Text 22"/>
          <p:cNvSpPr/>
          <p:nvPr/>
        </p:nvSpPr>
        <p:spPr>
          <a:xfrm>
            <a:off x="8805672" y="3918204"/>
            <a:ext cx="768096" cy="347472"/>
          </a:xfrm>
          <a:prstGeom prst="rect">
            <a:avLst/>
          </a:prstGeom>
          <a:noFill/>
          <a:ln/>
        </p:spPr>
        <p:txBody>
          <a:bodyPr wrap="square" lIns="0" tIns="0" rIns="0" bIns="0" rtlCol="0" anchor="ctr"/>
          <a:lstStyle/>
          <a:p>
            <a:pPr marL="0" indent="0" algn="ctr">
              <a:buNone/>
            </a:pPr>
            <a:r>
              <a:rPr lang="en-US" sz="1100" b="1" dirty="0">
                <a:solidFill>
                  <a:srgbClr val="1C7293"/>
                </a:solidFill>
                <a:latin typeface="Consolas" pitchFamily="34" charset="0"/>
                <a:ea typeface="Consolas" pitchFamily="34" charset="-122"/>
                <a:cs typeface="Consolas" pitchFamily="34" charset="-120"/>
              </a:rPr>
              <a:t>$ref</a:t>
            </a:r>
            <a:endParaRPr lang="en-US" sz="1100" dirty="0"/>
          </a:p>
        </p:txBody>
      </p:sp>
      <p:sp>
        <p:nvSpPr>
          <p:cNvPr id="25" name="Text 23"/>
          <p:cNvSpPr/>
          <p:nvPr/>
        </p:nvSpPr>
        <p:spPr>
          <a:xfrm>
            <a:off x="640080" y="6080760"/>
            <a:ext cx="11155680" cy="502920"/>
          </a:xfrm>
          <a:prstGeom prst="rect">
            <a:avLst/>
          </a:prstGeom>
          <a:noFill/>
          <a:ln/>
        </p:spPr>
        <p:txBody>
          <a:bodyPr wrap="square" lIns="0" tIns="0" rIns="0" bIns="0" rtlCol="0" anchor="ctr"/>
          <a:lstStyle/>
          <a:p>
            <a:pPr marL="0" indent="0">
              <a:lnSpc>
                <a:spcPct val="105000"/>
              </a:lnSpc>
              <a:buNone/>
            </a:pPr>
            <a:r>
              <a:rPr lang="en-US" sz="1400" b="1" dirty="0">
                <a:solidFill>
                  <a:srgbClr val="21295C"/>
                </a:solidFill>
                <a:latin typeface="Calibri" pitchFamily="34" charset="0"/>
                <a:ea typeface="Calibri" pitchFamily="34" charset="-122"/>
                <a:cs typeface="Calibri" pitchFamily="34" charset="-120"/>
              </a:rPr>
              <a:t>Define once, reference either way.  </a:t>
            </a:r>
            <a:r>
              <a:rPr lang="en-US" sz="1400" dirty="0">
                <a:solidFill>
                  <a:srgbClr val="1F2A33"/>
                </a:solidFill>
                <a:latin typeface="Calibri" pitchFamily="34" charset="0"/>
                <a:ea typeface="Calibri" pitchFamily="34" charset="-122"/>
                <a:cs typeface="Calibri" pitchFamily="34" charset="-120"/>
              </a:rPr>
              <a:t>The discriminated base and its profiles reuse the same — no separate request-only and response-only copies to keep in sync.</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371600" y="3931920"/>
            <a:ext cx="4572000" cy="4572000"/>
          </a:xfrm>
          <a:prstGeom prst="ellipse">
            <a:avLst/>
          </a:prstGeom>
          <a:solidFill>
            <a:srgbClr val="065A82">
              <a:alpha val="40000"/>
            </a:srgbClr>
          </a:solidFill>
          <a:ln/>
        </p:spPr>
        <p:txBody>
          <a:bodyPr/>
          <a:lstStyle/>
          <a:p>
            <a:endParaRPr lang="en-AU"/>
          </a:p>
        </p:txBody>
      </p:sp>
      <p:sp>
        <p:nvSpPr>
          <p:cNvPr id="3" name="Shape 1"/>
          <p:cNvSpPr/>
          <p:nvPr/>
        </p:nvSpPr>
        <p:spPr>
          <a:xfrm>
            <a:off x="10332720" y="-1280160"/>
            <a:ext cx="3840480" cy="3840480"/>
          </a:xfrm>
          <a:prstGeom prst="ellipse">
            <a:avLst/>
          </a:prstGeom>
          <a:solidFill>
            <a:srgbClr val="1C7293">
              <a:alpha val="40000"/>
            </a:srgbClr>
          </a:solidFill>
          <a:ln/>
        </p:spPr>
        <p:txBody>
          <a:bodyPr/>
          <a:lstStyle/>
          <a:p>
            <a:endParaRPr lang="en-AU"/>
          </a:p>
        </p:txBody>
      </p:sp>
      <p:sp>
        <p:nvSpPr>
          <p:cNvPr id="4" name="Text 2"/>
          <p:cNvSpPr/>
          <p:nvPr/>
        </p:nvSpPr>
        <p:spPr>
          <a:xfrm>
            <a:off x="777240" y="594360"/>
            <a:ext cx="9144000" cy="73152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Key takeaways</a:t>
            </a:r>
            <a:endParaRPr lang="en-US" sz="3800" dirty="0"/>
          </a:p>
        </p:txBody>
      </p:sp>
      <p:sp>
        <p:nvSpPr>
          <p:cNvPr id="5" name="Shape 3"/>
          <p:cNvSpPr/>
          <p:nvPr/>
        </p:nvSpPr>
        <p:spPr>
          <a:xfrm>
            <a:off x="822960" y="1783080"/>
            <a:ext cx="640080" cy="640080"/>
          </a:xfrm>
          <a:prstGeom prst="ellipse">
            <a:avLst/>
          </a:prstGeom>
          <a:solidFill>
            <a:srgbClr val="F6AE2D"/>
          </a:solidFill>
          <a:ln/>
        </p:spPr>
        <p:txBody>
          <a:bodyPr/>
          <a:lstStyle/>
          <a:p>
            <a:endParaRPr lang="en-AU"/>
          </a:p>
        </p:txBody>
      </p:sp>
      <p:sp>
        <p:nvSpPr>
          <p:cNvPr id="6" name="Text 4"/>
          <p:cNvSpPr/>
          <p:nvPr/>
        </p:nvSpPr>
        <p:spPr>
          <a:xfrm>
            <a:off x="822960" y="1783080"/>
            <a:ext cx="640080" cy="640080"/>
          </a:xfrm>
          <a:prstGeom prst="rect">
            <a:avLst/>
          </a:prstGeom>
          <a:noFill/>
          <a:ln/>
        </p:spPr>
        <p:txBody>
          <a:bodyPr wrap="square" lIns="0" tIns="0" rIns="0" bIns="0" rtlCol="0" anchor="ctr"/>
          <a:lstStyle/>
          <a:p>
            <a:pPr marL="0" indent="0" algn="ctr">
              <a:buNone/>
            </a:pPr>
            <a:r>
              <a:rPr lang="en-US" sz="1800" b="1" dirty="0">
                <a:solidFill>
                  <a:srgbClr val="21295C"/>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691640" y="1728216"/>
            <a:ext cx="9692640" cy="45720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Create with three keywords</a:t>
            </a:r>
            <a:endParaRPr lang="en-US" sz="2100" dirty="0"/>
          </a:p>
        </p:txBody>
      </p:sp>
      <p:sp>
        <p:nvSpPr>
          <p:cNvPr id="8" name="Text 6"/>
          <p:cNvSpPr/>
          <p:nvPr/>
        </p:nvSpPr>
        <p:spPr>
          <a:xfrm>
            <a:off x="1691640" y="2203704"/>
            <a:ext cx="9692640" cy="640080"/>
          </a:xfrm>
          <a:prstGeom prst="rect">
            <a:avLst/>
          </a:prstGeom>
          <a:noFill/>
          <a:ln/>
        </p:spPr>
        <p:txBody>
          <a:bodyPr wrap="square" lIns="0" tIns="0" rIns="0" bIns="0" rtlCol="0" anchor="ctr"/>
          <a:lstStyle/>
          <a:p>
            <a:pPr marL="0" indent="0">
              <a:lnSpc>
                <a:spcPct val="105000"/>
              </a:lnSpc>
              <a:buNone/>
            </a:pPr>
            <a:r>
              <a:rPr lang="en-US" sz="1550" dirty="0">
                <a:solidFill>
                  <a:srgbClr val="CADCFC"/>
                </a:solidFill>
                <a:latin typeface="Calibri" pitchFamily="34" charset="0"/>
                <a:ea typeface="Calibri" pitchFamily="34" charset="-122"/>
                <a:cs typeface="Calibri" pitchFamily="34" charset="-120"/>
              </a:rPr>
              <a:t>allOf inherits the base, discriminator + mapping name and route each form.</a:t>
            </a:r>
            <a:endParaRPr lang="en-US" sz="1550" dirty="0"/>
          </a:p>
        </p:txBody>
      </p:sp>
      <p:sp>
        <p:nvSpPr>
          <p:cNvPr id="9" name="Shape 7"/>
          <p:cNvSpPr/>
          <p:nvPr/>
        </p:nvSpPr>
        <p:spPr>
          <a:xfrm>
            <a:off x="822960" y="3154680"/>
            <a:ext cx="640080" cy="640080"/>
          </a:xfrm>
          <a:prstGeom prst="ellipse">
            <a:avLst/>
          </a:prstGeom>
          <a:solidFill>
            <a:srgbClr val="F6AE2D"/>
          </a:solidFill>
          <a:ln/>
        </p:spPr>
        <p:txBody>
          <a:bodyPr/>
          <a:lstStyle/>
          <a:p>
            <a:endParaRPr lang="en-AU"/>
          </a:p>
        </p:txBody>
      </p:sp>
      <p:sp>
        <p:nvSpPr>
          <p:cNvPr id="10" name="Text 8"/>
          <p:cNvSpPr/>
          <p:nvPr/>
        </p:nvSpPr>
        <p:spPr>
          <a:xfrm>
            <a:off x="822960" y="3154680"/>
            <a:ext cx="640080" cy="640080"/>
          </a:xfrm>
          <a:prstGeom prst="rect">
            <a:avLst/>
          </a:prstGeom>
          <a:noFill/>
          <a:ln/>
        </p:spPr>
        <p:txBody>
          <a:bodyPr wrap="square" lIns="0" tIns="0" rIns="0" bIns="0" rtlCol="0" anchor="ctr"/>
          <a:lstStyle/>
          <a:p>
            <a:pPr marL="0" indent="0" algn="ctr">
              <a:buNone/>
            </a:pPr>
            <a:r>
              <a:rPr lang="en-US" sz="1800" b="1" dirty="0">
                <a:solidFill>
                  <a:srgbClr val="21295C"/>
                </a:solidFill>
                <a:latin typeface="Cambria" pitchFamily="34" charset="0"/>
                <a:ea typeface="Cambria" pitchFamily="34" charset="-122"/>
                <a:cs typeface="Cambria" pitchFamily="34" charset="-120"/>
              </a:rPr>
              <a:t>2</a:t>
            </a:r>
            <a:endParaRPr lang="en-US" sz="1800" dirty="0"/>
          </a:p>
        </p:txBody>
      </p:sp>
      <p:sp>
        <p:nvSpPr>
          <p:cNvPr id="11" name="Text 9"/>
          <p:cNvSpPr/>
          <p:nvPr/>
        </p:nvSpPr>
        <p:spPr>
          <a:xfrm>
            <a:off x="1691640" y="3099816"/>
            <a:ext cx="9692640" cy="45720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Use through one contract</a:t>
            </a:r>
            <a:endParaRPr lang="en-US" sz="2100" dirty="0"/>
          </a:p>
        </p:txBody>
      </p:sp>
      <p:sp>
        <p:nvSpPr>
          <p:cNvPr id="12" name="Text 10"/>
          <p:cNvSpPr/>
          <p:nvPr/>
        </p:nvSpPr>
        <p:spPr>
          <a:xfrm>
            <a:off x="1691640" y="3575304"/>
            <a:ext cx="9692640" cy="640080"/>
          </a:xfrm>
          <a:prstGeom prst="rect">
            <a:avLst/>
          </a:prstGeom>
          <a:noFill/>
          <a:ln/>
        </p:spPr>
        <p:txBody>
          <a:bodyPr wrap="square" lIns="0" tIns="0" rIns="0" bIns="0" rtlCol="0" anchor="ctr"/>
          <a:lstStyle/>
          <a:p>
            <a:pPr marL="0" indent="0">
              <a:lnSpc>
                <a:spcPct val="105000"/>
              </a:lnSpc>
              <a:buNone/>
            </a:pPr>
            <a:r>
              <a:rPr lang="en-US" sz="1550" dirty="0">
                <a:solidFill>
                  <a:srgbClr val="CADCFC"/>
                </a:solidFill>
                <a:latin typeface="Calibri" pitchFamily="34" charset="0"/>
                <a:ea typeface="Calibri" pitchFamily="34" charset="-122"/>
                <a:cs typeface="Calibri" pitchFamily="34" charset="-120"/>
              </a:rPr>
              <a:t>One endpoint, one field (paymentType) — the client picks the form, the server binds the type.</a:t>
            </a:r>
            <a:endParaRPr lang="en-US" sz="1550" dirty="0"/>
          </a:p>
        </p:txBody>
      </p:sp>
      <p:sp>
        <p:nvSpPr>
          <p:cNvPr id="13" name="Shape 11"/>
          <p:cNvSpPr/>
          <p:nvPr/>
        </p:nvSpPr>
        <p:spPr>
          <a:xfrm>
            <a:off x="822960" y="4526280"/>
            <a:ext cx="640080" cy="640080"/>
          </a:xfrm>
          <a:prstGeom prst="ellipse">
            <a:avLst/>
          </a:prstGeom>
          <a:solidFill>
            <a:srgbClr val="F6AE2D"/>
          </a:solidFill>
          <a:ln/>
        </p:spPr>
        <p:txBody>
          <a:bodyPr/>
          <a:lstStyle/>
          <a:p>
            <a:endParaRPr lang="en-AU"/>
          </a:p>
        </p:txBody>
      </p:sp>
      <p:sp>
        <p:nvSpPr>
          <p:cNvPr id="14" name="Text 12"/>
          <p:cNvSpPr/>
          <p:nvPr/>
        </p:nvSpPr>
        <p:spPr>
          <a:xfrm>
            <a:off x="822960" y="4526280"/>
            <a:ext cx="640080" cy="640080"/>
          </a:xfrm>
          <a:prstGeom prst="rect">
            <a:avLst/>
          </a:prstGeom>
          <a:noFill/>
          <a:ln/>
        </p:spPr>
        <p:txBody>
          <a:bodyPr wrap="square" lIns="0" tIns="0" rIns="0" bIns="0" rtlCol="0" anchor="ctr"/>
          <a:lstStyle/>
          <a:p>
            <a:pPr marL="0" indent="0" algn="ctr">
              <a:buNone/>
            </a:pPr>
            <a:r>
              <a:rPr lang="en-US" sz="1800" b="1" dirty="0">
                <a:solidFill>
                  <a:srgbClr val="21295C"/>
                </a:solidFill>
                <a:latin typeface="Cambria" pitchFamily="34" charset="0"/>
                <a:ea typeface="Cambria" pitchFamily="34" charset="-122"/>
                <a:cs typeface="Cambria" pitchFamily="34" charset="-120"/>
              </a:rPr>
              <a:t>3</a:t>
            </a:r>
            <a:endParaRPr lang="en-US" sz="1800" dirty="0"/>
          </a:p>
        </p:txBody>
      </p:sp>
      <p:sp>
        <p:nvSpPr>
          <p:cNvPr id="15" name="Text 13"/>
          <p:cNvSpPr/>
          <p:nvPr/>
        </p:nvSpPr>
        <p:spPr>
          <a:xfrm>
            <a:off x="1691640" y="4471416"/>
            <a:ext cx="9692640" cy="45720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Extend without breaking</a:t>
            </a:r>
            <a:endParaRPr lang="en-US" sz="2100" dirty="0"/>
          </a:p>
        </p:txBody>
      </p:sp>
      <p:sp>
        <p:nvSpPr>
          <p:cNvPr id="16" name="Text 14"/>
          <p:cNvSpPr/>
          <p:nvPr/>
        </p:nvSpPr>
        <p:spPr>
          <a:xfrm>
            <a:off x="1691640" y="4946904"/>
            <a:ext cx="9692640" cy="640080"/>
          </a:xfrm>
          <a:prstGeom prst="rect">
            <a:avLst/>
          </a:prstGeom>
          <a:noFill/>
          <a:ln/>
        </p:spPr>
        <p:txBody>
          <a:bodyPr wrap="square" lIns="0" tIns="0" rIns="0" bIns="0" rtlCol="0" anchor="ctr"/>
          <a:lstStyle/>
          <a:p>
            <a:pPr marL="0" indent="0">
              <a:lnSpc>
                <a:spcPct val="105000"/>
              </a:lnSpc>
              <a:buNone/>
            </a:pPr>
            <a:r>
              <a:rPr lang="en-US" sz="1550" dirty="0">
                <a:solidFill>
                  <a:srgbClr val="CADCFC"/>
                </a:solidFill>
                <a:latin typeface="Calibri" pitchFamily="34" charset="0"/>
                <a:ea typeface="Calibri" pitchFamily="34" charset="-122"/>
                <a:cs typeface="Calibri" pitchFamily="34" charset="-120"/>
              </a:rPr>
              <a:t>A new payment type is one mapping row + one subtype schema; existing consumers keep working.</a:t>
            </a:r>
            <a:endParaRPr lang="en-US" sz="1550" dirty="0"/>
          </a:p>
        </p:txBody>
      </p:sp>
      <p:sp>
        <p:nvSpPr>
          <p:cNvPr id="17" name="Text 15"/>
          <p:cNvSpPr/>
          <p:nvPr/>
        </p:nvSpPr>
        <p:spPr>
          <a:xfrm>
            <a:off x="822960" y="6126480"/>
            <a:ext cx="10607040" cy="457200"/>
          </a:xfrm>
          <a:prstGeom prst="rect">
            <a:avLst/>
          </a:prstGeom>
          <a:noFill/>
          <a:ln/>
        </p:spPr>
        <p:txBody>
          <a:bodyPr wrap="square" lIns="0" tIns="0" rIns="0" bIns="0" rtlCol="0" anchor="ctr"/>
          <a:lstStyle/>
          <a:p>
            <a:pPr marL="0" indent="0">
              <a:buNone/>
            </a:pPr>
            <a:r>
              <a:rPr lang="en-US" sz="1600" b="1" i="1" dirty="0">
                <a:solidFill>
                  <a:srgbClr val="F6AE2D"/>
                </a:solidFill>
                <a:latin typeface="Cambria" pitchFamily="34" charset="0"/>
                <a:ea typeface="Cambria" pitchFamily="34" charset="-122"/>
                <a:cs typeface="Cambria" pitchFamily="34" charset="-120"/>
              </a:rPr>
              <a:t>Same file, both jobs: the schema defines the polymorphism; the discriminator makes it usable.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2395</Words>
  <Application>Microsoft Office PowerPoint</Application>
  <PresentationFormat>Widescreen</PresentationFormat>
  <Paragraphs>310</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Polymorphism with OpenAPI / Swagger</dc:title>
  <dc:subject>PptxGenJS Presentation</dc:subject>
  <dc:creator>Claude</dc:creator>
  <cp:lastModifiedBy>Colin Beazley</cp:lastModifiedBy>
  <cp:revision>2</cp:revision>
  <dcterms:created xsi:type="dcterms:W3CDTF">2026-08-12T04:23:51Z</dcterms:created>
  <dcterms:modified xsi:type="dcterms:W3CDTF">2026-08-12T04:35:23Z</dcterms:modified>
</cp:coreProperties>
</file>